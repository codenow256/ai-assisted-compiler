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dea and architecture" id="{e57bd5f3-81d5-cb24-f59f-358970586d29}">
          <p14:sldIdLst>
            <p14:sldId id="256"/>
            <p14:sldId id="257"/>
            <p14:sldId id="258"/>
            <p14:sldId id="259"/>
            <p14:sldId id="260"/>
          </p14:sldIdLst>
        </p14:section>
        <p14:section name="The correction workflow" id="{10703c95-44ff-b478-21ce-035dbed5146d}">
          <p14:sldIdLst>
            <p14:sldId id="261"/>
            <p14:sldId id="262"/>
            <p14:sldId id="263"/>
            <p14:sldId id="264"/>
            <p14:sldId id="265"/>
            <p14:sldId id="266"/>
            <p14:sldId id="267"/>
            <p14:sldId id="268"/>
          </p14:sldIdLst>
        </p14:section>
        <p14:section name="Evidence and limits" id="{f5f61b8c-b86f-1328-8473-bb456775fac5}">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Goutam Jayasingh · about 0.5 min · demo: Browser open on the Workspace, compiler badge green.]
IntelliFix is a compiler that does not stop at "syntax error". It explains what went wrong, proposes fixes it has really checked, asks us when it cannot know what we meant, and walks us through every error until the program passes all the checks it performs.
Technical detail: A real Flex/Bison compiler front end for MiniC (C++17), a FastAPI backend and a React interface with three destinations: Workspace, AST Explorer, Research &amp; Method.
Transition: Let us start with why syntax errors are harder than they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Goutam Jayasingh · about 1 min · demo: —]
Three ideas. First, a parser reports where it got stuck, which is often after the real mistake: a missing semicolon is noticed on the next line. Second, one error hides others: after the first error the parser can only guess how to continue. Third, many different edits make code parse again, and they can mean very different programs. A good tool has to deal with all three.
Technical detail: LR parsers detect an error at the first token for which no action exists; panic-mode recovery skips to a synchronising token, so later reports may be side effects.
Transition: Our answer is a pipeline with the user inside the loop.
Likely questions:
- Why not just show the compiler message? Because it names the place of detection, not the cause, and it never says that several fixes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Goutam Jayasingh · about 1 min · demo: —]
We keep a real compiler front end, the lexer and the parser, and add a repair engine on top. The engine tries small edits and keeps only those the real parser accepts. Then the user decides. After every applied fix the whole program is analysed again. That loop is the core of the project: explain, propose, confirm, re-check.
Technical detail: Nothing in the interface is simulated: every result is a fresh run of parallaxc; every proposal is re-parsed before it can be applied.
Transition: Here is how the parts are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Goutam Jayasingh · about 1 min · demo: —]
Three layers. The browser is where you write code and follow the steps. The backend receives the code and runs the compiler safely, with a timeout and without a shell. The compiler does the real work: tokens, parse, tree, repairs, as JSON. Because every answer carries the exact text it belongs to, the screen never mixes an old result with new code.
Technical detail: React + TypeScript (Vite) · FastAPI (Python) · parallaxc (C++17, Flex, Bison with LAC). Stale responses are discarded by sequence numbers; each result stores its source text.
Transition: Inside the compiler: how text becomes structure.
Likely questions:
- Why a separate C++ compiler? Bison gives a real LALR(1) parser with exact expected-token sets; the repair engine needs to call it thousands of times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Goutam Jayasingh · about 1 min · demo: Workspace → step 2 shows the Lexer → Parser → Meaning panel.]
The lexer cuts the text into tokens: names, numbers, operators. It checks spelling, not order. The parser checks the order of tokens against the grammar and builds the abstract syntax tree. The tree has no punctuation: the shape itself says that 2 times 3 is computed before the addition. What the compiler does not check is meaning: types and behaviour are outside a syntax tool.
Technical detail: Grammar in compiler/grammar/minic.y; 26 AST node kinds; precedence encoded by the rule chain or_expr → … → mul_expr → unary.
Transition: Now the part users see: the Workspace.
Likely questions:
- Lexer or parser error? `$` is a lexer error; `x x;` is fine for the lexer but a parser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 Charumeena · about 1 min · demo: Point at the step indicator.]
The whole journey is on one page with five steps: Code, Diagnosis, Fixes, Tree, and Apply and verify. The indicator always shows where you are, what is done and what is not needed, for example Fixes is skipped for valid code. You never have to hunt through separate pages to finish one repair.
Technical detail: Step states: done / current / to do / not needed; specialist views (token table, parser state, all candidates) are linked from inside step 2.
Transition: Step 2 answers: what did the compiler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 Charumeena · about 1 min · demo: Load the several-errors example → Analyze.]
The diagnosis lists every error the parser can report for this version of the code. The first one is reliable, because everything before it parsed. Later ones are labelled as likely consequences or likely independent, with the evidence, and always as likely, not proven. And it says honestly that more errors may appear once earlier ones are fixed.
Technical detail: Roles come from a real re-parse of the best first fix; the categories (missing delimiter, ambiguous, unsupported C …) are rules over real compiler output.
Transition: Step 3: how fixes are found.
Likely questions:
- How do you know an error is a consequence? We re-parse with only the first error fixed: if the report disappears, it was likely a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 Charumeena · about 1.25 min · demo: Fixes → open Why this score on a card.]
Four ideas. Generate: try small insertions, deletions and replacements near the error, guided by what the grammar allows there and by layout, like a line ending without a semicolon. Check: run the real parser on every candidate and keep only real progress. Rank: group candidates that give the same program and score them with named, readable evidence. Decide: recommend only when one option clearly wins; otherwise ask.
Technical detail: At most two token edits per error; a budget of parser runs and time; score = sum of hand-set evidence weights, used only for ranking — not a probability.
Transition: With several errors, we go one error at a time.
Likely questions:
- Is the score a probability? No. It ranks options; the gap between the best two decides whether to recommend or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 Charumeena · about 1.25 min · demo: Use this fix → Apply &amp; verify → Apply → Fix the next error.]
With several errors we do not dump one big rewrite on the user. IntelliFix proposes a fix for the first error. You confirm it, it is applied, and the whole program is analysed again. Then you see which reports are gone, which remain, and which became visible only now, and you continue with the next error. A report whose message changed is never counted as fixed.
Technical detail: First-error options are the engine's real candidates, trimmed to edits for that error; diagnostics are compared before/after by exact message because positions shift.
Transition: Sometimes the code alone cannot tell us what was meant.
Likely questions:
- Why not fix everything at once? A combined plan can hide a destructive edit for a later error; one at a time keeps each decision visible. The complete plan is still available, with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 Charumeena · about 1.25 min · demo: price + ; → answer the question with price → Check with the parser.]
Here the plus sign has nothing after it. Delete it, or add a value? Both parse, and they mean different programs. So IntelliFix asks a short question in plain words, offers the real alternatives, lets you type your own value, and checks your answer with the real parser before you can use it. It never invents the missing value.
Technical detail: Questions are built from the shape of the real candidates (missing operand, missing operator, invalid character, missing name). Suggestions are only names already declared earlier.
Transition: Parsing is not the same as meaning what you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 Charumeena · about 1.25 min · demo: Show the complete-plan warning and the ++ rewrite.]
A repair can parse and still destroy the program: deleting the plus and the increment makes the code valid but wrong. So any edit that removes an operator, a name, a value or a statement is labelled as removing code and is never shown as recommended. For unsupported C like plus-plus, IntelliFix explains the limit and offers the supported rewrite, total equals total plus one, checked by the parser.
Technical detail: Punctuation-only fixes, such as a missing semicolon, are still recommended. Rewrites cover simple statements (x++; --x; x += e;).
Transition: Step 4 shows the effect on the structure.
Likely questions:
- Do you just reject all deletions? No. Deleting a stray semicolon is safe; deleting an operator or name changes meaning, so it needs an informed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Raguraman Govindasamy · about 1 min · demo: AST Explorer → click Binary + → click a ; in the code.]
Code with errors only has a partial tree, and we label it that way: the skipped part is an Error node, nothing is invented. After a fix we show the complete tree and exactly which part changed. In the AST Explorer, clicking a node highlights its code, clicking code finds its node, and each node shows the grammar rule that built it and, for expressions, a small diagram of how operators group.
Technical detail: Partial trees come from Bison's panic-mode recovery; before/after uses a structural diff of the two real trees.
Transition: Step 5: when is the program really done?
Likely questions:
- Is a partial tree trustworthy? It shows what was understood; it is never presented as a valid program's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Raguraman Govindasamy · about 1 min · demo: Last fix → completion summary.]
IntelliFix only says done when the latest code passes every check it really performs: the lexer, the parser and the name check. The summary lists the corrections made and also what it does not check: types, run-time behaviour and code generation. A misspelt variable name keeps the program from being called complete, even though the syntax is fine.
Technical detail: Name check: undeclared, duplicate, misused names and argument counts. Undo restores any earlier version and re-analyses it.
Transition: Briefly, what the measurements say.
Likely questions:
- Does it prove my program is correct? No — it proves it passes these syntax and name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Raguraman Govindasamy · about 1 min · demo: Research &amp; Method page (optional).]
We also asked one research question: does ranking by evidence and abstaining when unsure beat simply taking the cheapest edit? On a synthetic benchmark, yes: the top fix matched the intended program clearly more often, and asking instead of guessing cut confident mistakes sharply. The benchmark is synthetic and there is no user study yet, so we present this as supporting evidence, not as proof.
Technical detail: Held-out synthetic test set (mutations of 30 hand-written programs): top-1 71.5% vs 55.2% for least-cost repair; wrong-but-confident 28.5% → 6.1%. Details on the Research &amp; Method page.
Transition: Limits and what comes next.
Likely questions:
- Better than CPCT+? We make no general claim; it optimises a different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All three (driver, narrator, checker) · about 1 min · demo: Workspace cleared, ready for questions.]
Honest limits: MiniC is a teaching subset of C, IntelliFix checks syntax and names but not types or behaviour, and the evaluation is synthetic. Next: real student errors, a user study of the question-and-answer flow, and type checking. Thank you — you are welcome to type your own code.
Technical detail: Tested on Linux in Chromium; Windows and macOS not verified.
Transition: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9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4754880" cy="91440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ctr" indent="0" marL="0">
              <a:buNone/>
              <a:defRPr lang="en-US" sz="28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2800" dirty="0"/>
          </a:p>
        </p:txBody>
      </p:sp>
      <p:sp>
        <p:nvSpPr>
          <p:cNvPr id="3"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chemeClr val="accent6"/>
                </a:solidFill>
                <a:latin typeface="Calibri" pitchFamily="34" charset="0"/>
                <a:ea typeface="Calibri" pitchFamily="34" charset="-122"/>
                <a:cs typeface="Calibri" pitchFamily="34" charset="-120"/>
              </a:rPr>
              <a:t>IntelliFix · BCSE307P course project</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05840"/>
            <a:ext cx="4754880" cy="914400"/>
          </a:xfrm>
          <a:prstGeom prst="rect">
            <a:avLst/>
          </a:prstGeom>
          <a:noFill/>
          <a:ln/>
        </p:spPr>
        <p:txBody>
          <a:bodyPr wrap="square" lIns="0" tIns="0" rIns="0" bIns="0" rtlCol="0" anchor="t"/>
          <a:lstStyle/>
          <a:p>
            <a:pPr algn="l" indent="0" marL="0">
              <a:buNone/>
            </a:pPr>
            <a:r>
              <a:rPr lang="en-US" sz="4800" b="1" dirty="0">
                <a:solidFill>
                  <a:schemeClr val="bg1"/>
                </a:solidFill>
                <a:latin typeface="Cambria" pitchFamily="34" charset="0"/>
                <a:ea typeface="Cambria" pitchFamily="34" charset="-122"/>
                <a:cs typeface="Cambria" pitchFamily="34" charset="-120"/>
              </a:rPr>
              <a:t>IntelliFix</a:t>
            </a:r>
            <a:endParaRPr lang="en-US" sz="4800" dirty="0"/>
          </a:p>
        </p:txBody>
      </p:sp>
      <p:sp>
        <p:nvSpPr>
          <p:cNvPr id="3" name="Text 1"/>
          <p:cNvSpPr txBox="1"/>
          <p:nvPr/>
        </p:nvSpPr>
        <p:spPr>
          <a:xfrm>
            <a:off x="548640" y="1874520"/>
            <a:ext cx="4480560" cy="685800"/>
          </a:xfrm>
          <a:prstGeom prst="rect">
            <a:avLst/>
          </a:prstGeom>
          <a:noFill/>
          <a:ln/>
        </p:spPr>
        <p:txBody>
          <a:bodyPr wrap="square" lIns="0" tIns="0" rIns="0" bIns="0" rtlCol="0" anchor="t"/>
          <a:lstStyle/>
          <a:p>
            <a:pPr indent="0" marL="0">
              <a:buNone/>
            </a:pPr>
            <a:r>
              <a:rPr lang="en-US" sz="1800" dirty="0">
                <a:solidFill>
                  <a:srgbClr val="5EEAD4"/>
                </a:solidFill>
                <a:latin typeface="Cambria" pitchFamily="34" charset="0"/>
                <a:ea typeface="Cambria" pitchFamily="34" charset="-122"/>
                <a:cs typeface="Cambria" pitchFamily="34" charset="-120"/>
              </a:rPr>
              <a:t>An Intelligent Compiler for Syntax Error Analysis, Detection, and Correction</a:t>
            </a:r>
            <a:endParaRPr lang="en-US" sz="1800" dirty="0"/>
          </a:p>
        </p:txBody>
      </p:sp>
      <p:sp>
        <p:nvSpPr>
          <p:cNvPr id="4" name="Text 2"/>
          <p:cNvSpPr txBox="1"/>
          <p:nvPr/>
        </p:nvSpPr>
        <p:spPr>
          <a:xfrm>
            <a:off x="548640" y="2788920"/>
            <a:ext cx="4480560" cy="86868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alibri" pitchFamily="34" charset="0"/>
                <a:ea typeface="Calibri" pitchFamily="34" charset="-122"/>
                <a:cs typeface="Calibri" pitchFamily="34" charset="-120"/>
              </a:rPr>
              <a:t>Goutam Jayasingh  ·  24BCE2417</a:t>
            </a:r>
            <a:endParaRPr lang="en-US" sz="1400" dirty="0"/>
          </a:p>
          <a:p>
            <a:pPr indent="0" marL="0">
              <a:spcAft>
                <a:spcPts val="400"/>
              </a:spcAft>
              <a:buNone/>
            </a:pPr>
            <a:r>
              <a:rPr lang="en-US" sz="1400" dirty="0">
                <a:solidFill>
                  <a:schemeClr val="bg1"/>
                </a:solidFill>
                <a:latin typeface="Calibri" pitchFamily="34" charset="0"/>
                <a:ea typeface="Calibri" pitchFamily="34" charset="-122"/>
                <a:cs typeface="Calibri" pitchFamily="34" charset="-120"/>
              </a:rPr>
              <a:t>S Charumeena  ·  24BCI0238</a:t>
            </a:r>
            <a:endParaRPr lang="en-US" sz="1400" dirty="0"/>
          </a:p>
          <a:p>
            <a:pPr indent="0" marL="0">
              <a:spcAft>
                <a:spcPts val="400"/>
              </a:spcAft>
              <a:buNone/>
            </a:pPr>
            <a:r>
              <a:rPr lang="en-US" sz="1400" dirty="0">
                <a:solidFill>
                  <a:schemeClr val="bg1"/>
                </a:solidFill>
                <a:latin typeface="Calibri" pitchFamily="34" charset="0"/>
                <a:ea typeface="Calibri" pitchFamily="34" charset="-122"/>
                <a:cs typeface="Calibri" pitchFamily="34" charset="-120"/>
              </a:rPr>
              <a:t>Raguraman Govindasamy  ·  24BDS0409</a:t>
            </a:r>
            <a:endParaRPr lang="en-US" sz="1400" dirty="0"/>
          </a:p>
        </p:txBody>
      </p:sp>
      <p:sp>
        <p:nvSpPr>
          <p:cNvPr id="5" name="Text 3"/>
          <p:cNvSpPr txBox="1"/>
          <p:nvPr/>
        </p:nvSpPr>
        <p:spPr>
          <a:xfrm>
            <a:off x="548640" y="4160520"/>
            <a:ext cx="4480560" cy="27432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BCSE307P course project  ·  Guide: [guide name, to be added]</a:t>
            </a:r>
            <a:endParaRPr lang="en-US" sz="1100" dirty="0"/>
          </a:p>
        </p:txBody>
      </p:sp>
      <p:sp>
        <p:nvSpPr>
          <p:cNvPr id="6" name="Workspace screenshot (real run) frame"/>
          <p:cNvSpPr/>
          <p:nvPr/>
        </p:nvSpPr>
        <p:spPr>
          <a:xfrm>
            <a:off x="5358384" y="877824"/>
            <a:ext cx="3364992" cy="2335743"/>
          </a:xfrm>
          <a:prstGeom prst="roundRect">
            <a:avLst>
              <a:gd name="adj" fmla="val 3132"/>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7" name="Workspace screenshot (real run)" descr="Workspace screenshot (real run)">    </p:cNvPr>
          <p:cNvPicPr>
            <a:picLocks noChangeAspect="1"/>
          </p:cNvPicPr>
          <p:nvPr/>
        </p:nvPicPr>
        <p:blipFill>
          <a:blip r:embed="rId1"/>
          <a:stretch>
            <a:fillRect/>
          </a:stretch>
        </p:blipFill>
        <p:spPr>
          <a:xfrm>
            <a:off x="5394960" y="914400"/>
            <a:ext cx="3291840" cy="226259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Why syntax errors are hard</a:t>
            </a:r>
            <a:endParaRPr lang="en-US" sz="2800" dirty="0"/>
          </a:p>
        </p:txBody>
      </p:sp>
      <p:sp>
        <p:nvSpPr>
          <p:cNvPr id="4" name="problem card 1"/>
          <p:cNvSpPr/>
          <p:nvPr/>
        </p:nvSpPr>
        <p:spPr>
          <a:xfrm>
            <a:off x="548640" y="1234440"/>
            <a:ext cx="2514600" cy="2926080"/>
          </a:xfrm>
          <a:prstGeom prst="roundRect">
            <a:avLst>
              <a:gd name="adj" fmla="val 3636"/>
            </a:avLst>
          </a:prstGeom>
          <a:solidFill>
            <a:srgbClr val="F1F5F9"/>
          </a:solidFill>
          <a:ln w="12700">
            <a:solidFill>
              <a:srgbClr val="F1F5F9"/>
            </a:solidFill>
            <a:prstDash val="solid"/>
          </a:ln>
        </p:spPr>
      </p:sp>
      <p:sp>
        <p:nvSpPr>
          <p:cNvPr id="5" name="problem 1 circle"/>
          <p:cNvSpPr/>
          <p:nvPr/>
        </p:nvSpPr>
        <p:spPr>
          <a:xfrm>
            <a:off x="777240" y="1463040"/>
            <a:ext cx="548640" cy="548640"/>
          </a:xfrm>
          <a:prstGeom prst="ellipse">
            <a:avLst/>
          </a:prstGeom>
          <a:solidFill>
            <a:srgbClr val="B91C1C"/>
          </a:solidFill>
          <a:ln w="12700">
            <a:solidFill>
              <a:srgbClr val="B91C1C"/>
            </a:solidFill>
            <a:prstDash val="solid"/>
          </a:ln>
        </p:spPr>
      </p:sp>
      <p:pic>
        <p:nvPicPr>
          <p:cNvPr id="6" name="problem 1 icon" descr="preencoded.png">    </p:cNvPr>
          <p:cNvPicPr>
            <a:picLocks noChangeAspect="1"/>
          </p:cNvPicPr>
          <p:nvPr/>
        </p:nvPicPr>
        <p:blipFill>
          <a:blip r:embed="rId1"/>
          <a:stretch>
            <a:fillRect/>
          </a:stretch>
        </p:blipFill>
        <p:spPr>
          <a:xfrm>
            <a:off x="897941" y="1583741"/>
            <a:ext cx="307238" cy="307238"/>
          </a:xfrm>
          <a:prstGeom prst="rect">
            <a:avLst/>
          </a:prstGeom>
        </p:spPr>
      </p:pic>
      <p:sp>
        <p:nvSpPr>
          <p:cNvPr id="7" name="Text 3"/>
          <p:cNvSpPr txBox="1"/>
          <p:nvPr/>
        </p:nvSpPr>
        <p:spPr>
          <a:xfrm>
            <a:off x="777240" y="214884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Noticed late</a:t>
            </a:r>
            <a:endParaRPr lang="en-US" sz="1700" dirty="0"/>
          </a:p>
        </p:txBody>
      </p:sp>
      <p:sp>
        <p:nvSpPr>
          <p:cNvPr id="8" name="Text 4"/>
          <p:cNvSpPr txBox="1"/>
          <p:nvPr/>
        </p:nvSpPr>
        <p:spPr>
          <a:xfrm>
            <a:off x="777240" y="2606040"/>
            <a:ext cx="2103120" cy="13716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The parser reports where it got stuck, often one line after the real mistake.</a:t>
            </a:r>
            <a:endParaRPr lang="en-US" sz="1300" dirty="0"/>
          </a:p>
        </p:txBody>
      </p:sp>
      <p:sp>
        <p:nvSpPr>
          <p:cNvPr id="9" name="problem card 2"/>
          <p:cNvSpPr/>
          <p:nvPr/>
        </p:nvSpPr>
        <p:spPr>
          <a:xfrm>
            <a:off x="3291840" y="1234440"/>
            <a:ext cx="2514600" cy="2926080"/>
          </a:xfrm>
          <a:prstGeom prst="roundRect">
            <a:avLst>
              <a:gd name="adj" fmla="val 3636"/>
            </a:avLst>
          </a:prstGeom>
          <a:solidFill>
            <a:srgbClr val="F1F5F9"/>
          </a:solidFill>
          <a:ln w="12700">
            <a:solidFill>
              <a:srgbClr val="F1F5F9"/>
            </a:solidFill>
            <a:prstDash val="solid"/>
          </a:ln>
        </p:spPr>
      </p:sp>
      <p:sp>
        <p:nvSpPr>
          <p:cNvPr id="10" name="problem 2 circle"/>
          <p:cNvSpPr/>
          <p:nvPr/>
        </p:nvSpPr>
        <p:spPr>
          <a:xfrm>
            <a:off x="3520440" y="1463040"/>
            <a:ext cx="548640" cy="548640"/>
          </a:xfrm>
          <a:prstGeom prst="ellipse">
            <a:avLst/>
          </a:prstGeom>
          <a:solidFill>
            <a:srgbClr val="B45309"/>
          </a:solidFill>
          <a:ln w="12700">
            <a:solidFill>
              <a:srgbClr val="B45309"/>
            </a:solidFill>
            <a:prstDash val="solid"/>
          </a:ln>
        </p:spPr>
      </p:sp>
      <p:pic>
        <p:nvPicPr>
          <p:cNvPr id="11" name="problem 2 icon" descr="preencoded.png">    </p:cNvPr>
          <p:cNvPicPr>
            <a:picLocks noChangeAspect="1"/>
          </p:cNvPicPr>
          <p:nvPr/>
        </p:nvPicPr>
        <p:blipFill>
          <a:blip r:embed="rId2"/>
          <a:stretch>
            <a:fillRect/>
          </a:stretch>
        </p:blipFill>
        <p:spPr>
          <a:xfrm>
            <a:off x="3641141" y="1583741"/>
            <a:ext cx="307238" cy="307238"/>
          </a:xfrm>
          <a:prstGeom prst="rect">
            <a:avLst/>
          </a:prstGeom>
        </p:spPr>
      </p:pic>
      <p:sp>
        <p:nvSpPr>
          <p:cNvPr id="12" name="Text 7"/>
          <p:cNvSpPr txBox="1"/>
          <p:nvPr/>
        </p:nvSpPr>
        <p:spPr>
          <a:xfrm>
            <a:off x="3520440" y="214884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Errors hide errors</a:t>
            </a:r>
            <a:endParaRPr lang="en-US" sz="1700" dirty="0"/>
          </a:p>
        </p:txBody>
      </p:sp>
      <p:sp>
        <p:nvSpPr>
          <p:cNvPr id="13" name="Text 8"/>
          <p:cNvSpPr txBox="1"/>
          <p:nvPr/>
        </p:nvSpPr>
        <p:spPr>
          <a:xfrm>
            <a:off x="3520440" y="2606040"/>
            <a:ext cx="2103120" cy="13716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After the first error the parser has to guess how to continue; later reports may be side effects.</a:t>
            </a:r>
            <a:endParaRPr lang="en-US" sz="1300" dirty="0"/>
          </a:p>
        </p:txBody>
      </p:sp>
      <p:sp>
        <p:nvSpPr>
          <p:cNvPr id="14" name="problem card 3"/>
          <p:cNvSpPr/>
          <p:nvPr/>
        </p:nvSpPr>
        <p:spPr>
          <a:xfrm>
            <a:off x="6035040" y="1234440"/>
            <a:ext cx="2514600" cy="2926080"/>
          </a:xfrm>
          <a:prstGeom prst="roundRect">
            <a:avLst>
              <a:gd name="adj" fmla="val 3636"/>
            </a:avLst>
          </a:prstGeom>
          <a:solidFill>
            <a:srgbClr val="F1F5F9"/>
          </a:solidFill>
          <a:ln w="12700">
            <a:solidFill>
              <a:srgbClr val="F1F5F9"/>
            </a:solidFill>
            <a:prstDash val="solid"/>
          </a:ln>
        </p:spPr>
      </p:sp>
      <p:sp>
        <p:nvSpPr>
          <p:cNvPr id="15" name="problem 3 circle"/>
          <p:cNvSpPr/>
          <p:nvPr/>
        </p:nvSpPr>
        <p:spPr>
          <a:xfrm>
            <a:off x="6263640" y="1463040"/>
            <a:ext cx="548640" cy="548640"/>
          </a:xfrm>
          <a:prstGeom prst="ellipse">
            <a:avLst/>
          </a:prstGeom>
          <a:solidFill>
            <a:srgbClr val="4F46E5"/>
          </a:solidFill>
          <a:ln w="12700">
            <a:solidFill>
              <a:srgbClr val="4F46E5"/>
            </a:solidFill>
            <a:prstDash val="solid"/>
          </a:ln>
        </p:spPr>
      </p:sp>
      <p:pic>
        <p:nvPicPr>
          <p:cNvPr id="16" name="problem 3 icon" descr="preencoded.png">    </p:cNvPr>
          <p:cNvPicPr>
            <a:picLocks noChangeAspect="1"/>
          </p:cNvPicPr>
          <p:nvPr/>
        </p:nvPicPr>
        <p:blipFill>
          <a:blip r:embed="rId3"/>
          <a:stretch>
            <a:fillRect/>
          </a:stretch>
        </p:blipFill>
        <p:spPr>
          <a:xfrm>
            <a:off x="6384341" y="1583741"/>
            <a:ext cx="307238" cy="307238"/>
          </a:xfrm>
          <a:prstGeom prst="rect">
            <a:avLst/>
          </a:prstGeom>
        </p:spPr>
      </p:pic>
      <p:sp>
        <p:nvSpPr>
          <p:cNvPr id="17" name="Text 11"/>
          <p:cNvSpPr txBox="1"/>
          <p:nvPr/>
        </p:nvSpPr>
        <p:spPr>
          <a:xfrm>
            <a:off x="6263640" y="214884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Many fixes parse</a:t>
            </a:r>
            <a:endParaRPr lang="en-US" sz="1700" dirty="0"/>
          </a:p>
        </p:txBody>
      </p:sp>
      <p:sp>
        <p:nvSpPr>
          <p:cNvPr id="18" name="Text 12"/>
          <p:cNvSpPr txBox="1"/>
          <p:nvPr/>
        </p:nvSpPr>
        <p:spPr>
          <a:xfrm>
            <a:off x="6263640" y="2606040"/>
            <a:ext cx="2103120" cy="13716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Different edits make the code valid again, and they can mean very different programs.</a:t>
            </a:r>
            <a:endParaRPr lang="en-US" sz="1300" dirty="0"/>
          </a:p>
        </p:txBody>
      </p:sp>
      <p:sp>
        <p:nvSpPr>
          <p:cNvPr id="19" name="Text 13"/>
          <p:cNvSpPr txBox="1"/>
          <p:nvPr/>
        </p:nvSpPr>
        <p:spPr>
          <a:xfrm>
            <a:off x="548640" y="4297680"/>
            <a:ext cx="8046720" cy="320040"/>
          </a:xfrm>
          <a:prstGeom prst="rect">
            <a:avLst/>
          </a:prstGeom>
          <a:noFill/>
          <a:ln/>
        </p:spPr>
        <p:txBody>
          <a:bodyPr wrap="square" lIns="0" tIns="0" rIns="0" bIns="0" rtlCol="0" anchor="t"/>
          <a:lstStyle/>
          <a:p>
            <a:pPr algn="ctr" indent="0" marL="0">
              <a:buNone/>
            </a:pPr>
            <a:r>
              <a:rPr lang="en-US" sz="1300" i="1" dirty="0">
                <a:solidFill>
                  <a:schemeClr val="accent1"/>
                </a:solidFill>
                <a:latin typeface="Calibri" pitchFamily="34" charset="0"/>
                <a:ea typeface="Calibri" pitchFamily="34" charset="-122"/>
                <a:cs typeface="Calibri" pitchFamily="34" charset="-120"/>
              </a:rPr>
              <a:t>A good tool must explain the first, handle the second, and not guess on the third.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The idea: a compiler that explains and asks</a:t>
            </a:r>
            <a:endParaRPr lang="en-US" sz="2800" dirty="0"/>
          </a:p>
        </p:txBody>
      </p:sp>
      <p:sp>
        <p:nvSpPr>
          <p:cNvPr id="4" name="pipeline 1"/>
          <p:cNvSpPr/>
          <p:nvPr/>
        </p:nvSpPr>
        <p:spPr>
          <a:xfrm>
            <a:off x="457200" y="1463040"/>
            <a:ext cx="1441094" cy="960120"/>
          </a:xfrm>
          <a:prstGeom prst="roundRect">
            <a:avLst>
              <a:gd name="adj" fmla="val 7619"/>
            </a:avLst>
          </a:prstGeom>
          <a:solidFill>
            <a:srgbClr val="F1F5F9"/>
          </a:solidFill>
          <a:ln w="15875">
            <a:solidFill>
              <a:srgbClr val="0F766E"/>
            </a:solidFill>
            <a:prstDash val="solid"/>
          </a:ln>
        </p:spPr>
      </p:sp>
      <p:sp>
        <p:nvSpPr>
          <p:cNvPr id="5" name="Text 2"/>
          <p:cNvSpPr txBox="1"/>
          <p:nvPr/>
        </p:nvSpPr>
        <p:spPr>
          <a:xfrm>
            <a:off x="548640" y="1536192"/>
            <a:ext cx="1258214" cy="850392"/>
          </a:xfrm>
          <a:prstGeom prst="rect">
            <a:avLst/>
          </a:prstGeom>
          <a:noFill/>
          <a:ln/>
        </p:spPr>
        <p:txBody>
          <a:bodyPr wrap="square" lIns="0" tIns="0" rIns="0" bIns="0" rtlCol="0" anchor="t"/>
          <a:lstStyle/>
          <a:p>
            <a:pPr indent="0" marL="0">
              <a:buNone/>
            </a:pPr>
            <a:r>
              <a:rPr lang="en-US" sz="1300" b="1" dirty="0">
                <a:solidFill>
                  <a:srgbClr val="0F766E"/>
                </a:solidFill>
                <a:latin typeface="Calibri" pitchFamily="34" charset="0"/>
                <a:ea typeface="Calibri" pitchFamily="34" charset="-122"/>
                <a:cs typeface="Calibri" pitchFamily="34" charset="-120"/>
              </a:rPr>
              <a:t>Lexer</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characters → tokens</a:t>
            </a:r>
            <a:endParaRPr lang="en-US" sz="1400" dirty="0"/>
          </a:p>
        </p:txBody>
      </p:sp>
      <p:sp>
        <p:nvSpPr>
          <p:cNvPr id="6" name="pipeline arrow 1"/>
          <p:cNvSpPr/>
          <p:nvPr/>
        </p:nvSpPr>
        <p:spPr>
          <a:xfrm>
            <a:off x="1925726" y="1943100"/>
            <a:ext cx="201168" cy="0"/>
          </a:xfrm>
          <a:prstGeom prst="line">
            <a:avLst/>
          </a:prstGeom>
          <a:noFill/>
          <a:ln w="19050">
            <a:solidFill>
              <a:srgbClr val="64748B"/>
            </a:solidFill>
            <a:prstDash val="solid"/>
            <a:tailEnd type="triangle"/>
          </a:ln>
        </p:spPr>
      </p:sp>
      <p:sp>
        <p:nvSpPr>
          <p:cNvPr id="7" name="pipeline 2"/>
          <p:cNvSpPr/>
          <p:nvPr/>
        </p:nvSpPr>
        <p:spPr>
          <a:xfrm>
            <a:off x="2154326" y="1463040"/>
            <a:ext cx="1441094" cy="960120"/>
          </a:xfrm>
          <a:prstGeom prst="roundRect">
            <a:avLst>
              <a:gd name="adj" fmla="val 7619"/>
            </a:avLst>
          </a:prstGeom>
          <a:solidFill>
            <a:srgbClr val="F1F5F9"/>
          </a:solidFill>
          <a:ln w="15875">
            <a:solidFill>
              <a:srgbClr val="0F766E"/>
            </a:solidFill>
            <a:prstDash val="solid"/>
          </a:ln>
        </p:spPr>
      </p:sp>
      <p:sp>
        <p:nvSpPr>
          <p:cNvPr id="8" name="Text 5"/>
          <p:cNvSpPr txBox="1"/>
          <p:nvPr/>
        </p:nvSpPr>
        <p:spPr>
          <a:xfrm>
            <a:off x="2245766" y="1536192"/>
            <a:ext cx="1258214" cy="850392"/>
          </a:xfrm>
          <a:prstGeom prst="rect">
            <a:avLst/>
          </a:prstGeom>
          <a:noFill/>
          <a:ln/>
        </p:spPr>
        <p:txBody>
          <a:bodyPr wrap="square" lIns="0" tIns="0" rIns="0" bIns="0" rtlCol="0" anchor="t"/>
          <a:lstStyle/>
          <a:p>
            <a:pPr indent="0" marL="0">
              <a:buNone/>
            </a:pPr>
            <a:r>
              <a:rPr lang="en-US" sz="1300" b="1" dirty="0">
                <a:solidFill>
                  <a:srgbClr val="0F766E"/>
                </a:solidFill>
                <a:latin typeface="Calibri" pitchFamily="34" charset="0"/>
                <a:ea typeface="Calibri" pitchFamily="34" charset="-122"/>
                <a:cs typeface="Calibri" pitchFamily="34" charset="-120"/>
              </a:rPr>
              <a:t>Parser</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tokens → tree, or the first error</a:t>
            </a:r>
            <a:endParaRPr lang="en-US" sz="1400" dirty="0"/>
          </a:p>
        </p:txBody>
      </p:sp>
      <p:sp>
        <p:nvSpPr>
          <p:cNvPr id="9" name="pipeline arrow 2"/>
          <p:cNvSpPr/>
          <p:nvPr/>
        </p:nvSpPr>
        <p:spPr>
          <a:xfrm>
            <a:off x="3622853" y="1943100"/>
            <a:ext cx="201168" cy="0"/>
          </a:xfrm>
          <a:prstGeom prst="line">
            <a:avLst/>
          </a:prstGeom>
          <a:noFill/>
          <a:ln w="19050">
            <a:solidFill>
              <a:srgbClr val="64748B"/>
            </a:solidFill>
            <a:prstDash val="solid"/>
            <a:tailEnd type="triangle"/>
          </a:ln>
        </p:spPr>
      </p:sp>
      <p:sp>
        <p:nvSpPr>
          <p:cNvPr id="10" name="pipeline 3"/>
          <p:cNvSpPr/>
          <p:nvPr/>
        </p:nvSpPr>
        <p:spPr>
          <a:xfrm>
            <a:off x="3851453" y="1463040"/>
            <a:ext cx="1441094" cy="960120"/>
          </a:xfrm>
          <a:prstGeom prst="roundRect">
            <a:avLst>
              <a:gd name="adj" fmla="val 7619"/>
            </a:avLst>
          </a:prstGeom>
          <a:solidFill>
            <a:srgbClr val="F1F5F9"/>
          </a:solidFill>
          <a:ln w="15875">
            <a:solidFill>
              <a:srgbClr val="4F46E5"/>
            </a:solidFill>
            <a:prstDash val="solid"/>
          </a:ln>
        </p:spPr>
      </p:sp>
      <p:sp>
        <p:nvSpPr>
          <p:cNvPr id="11" name="Text 8"/>
          <p:cNvSpPr txBox="1"/>
          <p:nvPr/>
        </p:nvSpPr>
        <p:spPr>
          <a:xfrm>
            <a:off x="3942893" y="1536192"/>
            <a:ext cx="1258214" cy="850392"/>
          </a:xfrm>
          <a:prstGeom prst="rect">
            <a:avLst/>
          </a:prstGeom>
          <a:noFill/>
          <a:ln/>
        </p:spPr>
        <p:txBody>
          <a:bodyPr wrap="square" lIns="0" tIns="0" rIns="0" bIns="0" rtlCol="0" anchor="t"/>
          <a:lstStyle/>
          <a:p>
            <a:pPr indent="0" marL="0">
              <a:buNone/>
            </a:pPr>
            <a:r>
              <a:rPr lang="en-US" sz="1300" b="1" dirty="0">
                <a:solidFill>
                  <a:srgbClr val="4F46E5"/>
                </a:solidFill>
                <a:latin typeface="Calibri" pitchFamily="34" charset="0"/>
                <a:ea typeface="Calibri" pitchFamily="34" charset="-122"/>
                <a:cs typeface="Calibri" pitchFamily="34" charset="-120"/>
              </a:rPr>
              <a:t>Repair engine</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small edits, each re-checked by the parser</a:t>
            </a:r>
            <a:endParaRPr lang="en-US" sz="1400" dirty="0"/>
          </a:p>
        </p:txBody>
      </p:sp>
      <p:sp>
        <p:nvSpPr>
          <p:cNvPr id="12" name="pipeline arrow 3"/>
          <p:cNvSpPr/>
          <p:nvPr/>
        </p:nvSpPr>
        <p:spPr>
          <a:xfrm>
            <a:off x="5319979" y="1943100"/>
            <a:ext cx="201168" cy="0"/>
          </a:xfrm>
          <a:prstGeom prst="line">
            <a:avLst/>
          </a:prstGeom>
          <a:noFill/>
          <a:ln w="19050">
            <a:solidFill>
              <a:srgbClr val="64748B"/>
            </a:solidFill>
            <a:prstDash val="solid"/>
            <a:tailEnd type="triangle"/>
          </a:ln>
        </p:spPr>
      </p:sp>
      <p:sp>
        <p:nvSpPr>
          <p:cNvPr id="13" name="pipeline 4"/>
          <p:cNvSpPr/>
          <p:nvPr/>
        </p:nvSpPr>
        <p:spPr>
          <a:xfrm>
            <a:off x="5548579" y="1463040"/>
            <a:ext cx="1441094" cy="960120"/>
          </a:xfrm>
          <a:prstGeom prst="roundRect">
            <a:avLst>
              <a:gd name="adj" fmla="val 7619"/>
            </a:avLst>
          </a:prstGeom>
          <a:solidFill>
            <a:srgbClr val="F1F5F9"/>
          </a:solidFill>
          <a:ln w="15875">
            <a:solidFill>
              <a:srgbClr val="B45309"/>
            </a:solidFill>
            <a:prstDash val="solid"/>
          </a:ln>
        </p:spPr>
      </p:sp>
      <p:sp>
        <p:nvSpPr>
          <p:cNvPr id="14" name="Text 11"/>
          <p:cNvSpPr txBox="1"/>
          <p:nvPr/>
        </p:nvSpPr>
        <p:spPr>
          <a:xfrm>
            <a:off x="5640019" y="1536192"/>
            <a:ext cx="1258214" cy="850392"/>
          </a:xfrm>
          <a:prstGeom prst="rect">
            <a:avLst/>
          </a:prstGeom>
          <a:noFill/>
          <a:ln/>
        </p:spPr>
        <p:txBody>
          <a:bodyPr wrap="square" lIns="0" tIns="0" rIns="0" bIns="0" rtlCol="0" anchor="t"/>
          <a:lstStyle/>
          <a:p>
            <a:pPr indent="0" marL="0">
              <a:buNone/>
            </a:pPr>
            <a:r>
              <a:rPr lang="en-US" sz="1300" b="1" dirty="0">
                <a:solidFill>
                  <a:srgbClr val="B45309"/>
                </a:solidFill>
                <a:latin typeface="Calibri" pitchFamily="34" charset="0"/>
                <a:ea typeface="Calibri" pitchFamily="34" charset="-122"/>
                <a:cs typeface="Calibri" pitchFamily="34" charset="-120"/>
              </a:rPr>
              <a:t>You decide</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accept, answer a question, or write it yourself</a:t>
            </a:r>
            <a:endParaRPr lang="en-US" sz="1400" dirty="0"/>
          </a:p>
        </p:txBody>
      </p:sp>
      <p:sp>
        <p:nvSpPr>
          <p:cNvPr id="15" name="pipeline arrow 4"/>
          <p:cNvSpPr/>
          <p:nvPr/>
        </p:nvSpPr>
        <p:spPr>
          <a:xfrm>
            <a:off x="7017106" y="1943100"/>
            <a:ext cx="201168" cy="0"/>
          </a:xfrm>
          <a:prstGeom prst="line">
            <a:avLst/>
          </a:prstGeom>
          <a:noFill/>
          <a:ln w="19050">
            <a:solidFill>
              <a:srgbClr val="64748B"/>
            </a:solidFill>
            <a:prstDash val="solid"/>
            <a:tailEnd type="triangle"/>
          </a:ln>
        </p:spPr>
      </p:sp>
      <p:sp>
        <p:nvSpPr>
          <p:cNvPr id="16" name="pipeline 5"/>
          <p:cNvSpPr/>
          <p:nvPr/>
        </p:nvSpPr>
        <p:spPr>
          <a:xfrm>
            <a:off x="7245706" y="1463040"/>
            <a:ext cx="1441094" cy="960120"/>
          </a:xfrm>
          <a:prstGeom prst="roundRect">
            <a:avLst>
              <a:gd name="adj" fmla="val 7619"/>
            </a:avLst>
          </a:prstGeom>
          <a:solidFill>
            <a:srgbClr val="F1F5F9"/>
          </a:solidFill>
          <a:ln w="15875">
            <a:solidFill>
              <a:srgbClr val="15803D"/>
            </a:solidFill>
            <a:prstDash val="solid"/>
          </a:ln>
        </p:spPr>
      </p:sp>
      <p:sp>
        <p:nvSpPr>
          <p:cNvPr id="17" name="Text 14"/>
          <p:cNvSpPr txBox="1"/>
          <p:nvPr/>
        </p:nvSpPr>
        <p:spPr>
          <a:xfrm>
            <a:off x="7337146" y="1536192"/>
            <a:ext cx="1258214" cy="850392"/>
          </a:xfrm>
          <a:prstGeom prst="rect">
            <a:avLst/>
          </a:prstGeom>
          <a:noFill/>
          <a:ln/>
        </p:spPr>
        <p:txBody>
          <a:bodyPr wrap="square" lIns="0" tIns="0" rIns="0" bIns="0" rtlCol="0" anchor="t"/>
          <a:lstStyle/>
          <a:p>
            <a:pPr indent="0" marL="0">
              <a:buNone/>
            </a:pPr>
            <a:r>
              <a:rPr lang="en-US" sz="1300" b="1" dirty="0">
                <a:solidFill>
                  <a:srgbClr val="15803D"/>
                </a:solidFill>
                <a:latin typeface="Calibri" pitchFamily="34" charset="0"/>
                <a:ea typeface="Calibri" pitchFamily="34" charset="-122"/>
                <a:cs typeface="Calibri" pitchFamily="34" charset="-120"/>
              </a:rPr>
              <a:t>Re-check</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the whole program is analysed again</a:t>
            </a:r>
            <a:endParaRPr lang="en-US" sz="1400" dirty="0"/>
          </a:p>
        </p:txBody>
      </p:sp>
      <p:sp>
        <p:nvSpPr>
          <p:cNvPr id="18" name="loop down"/>
          <p:cNvSpPr/>
          <p:nvPr/>
        </p:nvSpPr>
        <p:spPr>
          <a:xfrm>
            <a:off x="8001000" y="2423160"/>
            <a:ext cx="0" cy="777240"/>
          </a:xfrm>
          <a:prstGeom prst="line">
            <a:avLst/>
          </a:prstGeom>
          <a:noFill/>
          <a:ln w="19050">
            <a:solidFill>
              <a:srgbClr val="64748B"/>
            </a:solidFill>
            <a:prstDash val="solid"/>
          </a:ln>
        </p:spPr>
      </p:sp>
      <p:sp>
        <p:nvSpPr>
          <p:cNvPr id="19" name="loop back"/>
          <p:cNvSpPr/>
          <p:nvPr/>
        </p:nvSpPr>
        <p:spPr>
          <a:xfrm>
            <a:off x="2148840" y="3200400"/>
            <a:ext cx="5852160" cy="0"/>
          </a:xfrm>
          <a:prstGeom prst="line">
            <a:avLst/>
          </a:prstGeom>
          <a:noFill/>
          <a:ln w="19050">
            <a:solidFill>
              <a:srgbClr val="64748B"/>
            </a:solidFill>
            <a:prstDash val="solid"/>
          </a:ln>
        </p:spPr>
      </p:sp>
      <p:sp>
        <p:nvSpPr>
          <p:cNvPr id="20" name="loop up"/>
          <p:cNvSpPr/>
          <p:nvPr/>
        </p:nvSpPr>
        <p:spPr>
          <a:xfrm>
            <a:off x="2148840" y="3200400"/>
            <a:ext cx="0" cy="-749808"/>
          </a:xfrm>
          <a:prstGeom prst="line">
            <a:avLst/>
          </a:prstGeom>
          <a:noFill/>
          <a:ln w="19050">
            <a:solidFill>
              <a:srgbClr val="64748B"/>
            </a:solidFill>
            <a:prstDash val="solid"/>
            <a:tailEnd type="triangle"/>
          </a:ln>
        </p:spPr>
      </p:sp>
      <p:sp>
        <p:nvSpPr>
          <p:cNvPr id="21" name="Text 18"/>
          <p:cNvSpPr txBox="1"/>
          <p:nvPr/>
        </p:nvSpPr>
        <p:spPr>
          <a:xfrm>
            <a:off x="3200400" y="3246120"/>
            <a:ext cx="3657600" cy="274320"/>
          </a:xfrm>
          <a:prstGeom prst="rect">
            <a:avLst/>
          </a:prstGeom>
          <a:noFill/>
          <a:ln/>
        </p:spPr>
        <p:txBody>
          <a:bodyPr wrap="square" lIns="0" tIns="0" rIns="0" bIns="0" rtlCol="0" anchor="t"/>
          <a:lstStyle/>
          <a:p>
            <a:pPr algn="ctr" indent="0" marL="0">
              <a:buNone/>
            </a:pPr>
            <a:r>
              <a:rPr lang="en-US" sz="1100" i="1" dirty="0">
                <a:solidFill>
                  <a:schemeClr val="accent6"/>
                </a:solidFill>
                <a:latin typeface="Calibri" pitchFamily="34" charset="0"/>
                <a:ea typeface="Calibri" pitchFamily="34" charset="-122"/>
                <a:cs typeface="Calibri" pitchFamily="34" charset="-120"/>
              </a:rPr>
              <a:t>until every check passes</a:t>
            </a:r>
            <a:endParaRPr lang="en-US" sz="1100" dirty="0"/>
          </a:p>
        </p:txBody>
      </p:sp>
      <p:sp>
        <p:nvSpPr>
          <p:cNvPr id="22" name="Text 19"/>
          <p:cNvSpPr txBox="1"/>
          <p:nvPr/>
        </p:nvSpPr>
        <p:spPr>
          <a:xfrm>
            <a:off x="731520" y="3840480"/>
            <a:ext cx="7680960" cy="548640"/>
          </a:xfrm>
          <a:prstGeom prst="rect">
            <a:avLst/>
          </a:prstGeom>
          <a:noFill/>
          <a:ln/>
        </p:spPr>
        <p:txBody>
          <a:bodyPr wrap="square" lIns="0" tIns="0" rIns="0" bIns="0" rtlCol="0" anchor="t"/>
          <a:lstStyle/>
          <a:p>
            <a:pPr algn="ctr" indent="0" marL="0">
              <a:buNone/>
            </a:pPr>
            <a:r>
              <a:rPr lang="en-US" sz="1300" b="1" dirty="0">
                <a:solidFill>
                  <a:schemeClr val="tx1"/>
                </a:solidFill>
                <a:latin typeface="Calibri" pitchFamily="34" charset="0"/>
                <a:ea typeface="Calibri" pitchFamily="34" charset="-122"/>
                <a:cs typeface="Calibri" pitchFamily="34" charset="-120"/>
              </a:rPr>
              <a:t>Real, not simulated: </a:t>
            </a:r>
            <a:pPr algn="ctr" indent="0" marL="0">
              <a:buNone/>
            </a:pPr>
            <a:r>
              <a:rPr lang="en-US" sz="1300" dirty="0">
                <a:solidFill>
                  <a:schemeClr val="tx1"/>
                </a:solidFill>
                <a:latin typeface="Calibri" pitchFamily="34" charset="0"/>
                <a:ea typeface="Calibri" pitchFamily="34" charset="-122"/>
                <a:cs typeface="Calibri" pitchFamily="34" charset="-120"/>
              </a:rPr>
              <a:t>every result is a fresh compiler run, and every proposal is checked by the real parser before it can be applied.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Architecture</a:t>
            </a:r>
            <a:endParaRPr lang="en-US" sz="2800" dirty="0"/>
          </a:p>
        </p:txBody>
      </p:sp>
      <p:sp>
        <p:nvSpPr>
          <p:cNvPr id="4" name="layer Browser"/>
          <p:cNvSpPr/>
          <p:nvPr/>
        </p:nvSpPr>
        <p:spPr>
          <a:xfrm>
            <a:off x="502920" y="1188720"/>
            <a:ext cx="2468880" cy="3063240"/>
          </a:xfrm>
          <a:prstGeom prst="roundRect">
            <a:avLst>
              <a:gd name="adj" fmla="val 3704"/>
            </a:avLst>
          </a:prstGeom>
          <a:solidFill>
            <a:srgbClr val="F1F5F9"/>
          </a:solidFill>
          <a:ln w="12700">
            <a:solidFill>
              <a:srgbClr val="F1F5F9"/>
            </a:solidFill>
            <a:prstDash val="solid"/>
          </a:ln>
        </p:spPr>
      </p:sp>
      <p:sp>
        <p:nvSpPr>
          <p:cNvPr id="5" name="layer 1 circle"/>
          <p:cNvSpPr/>
          <p:nvPr/>
        </p:nvSpPr>
        <p:spPr>
          <a:xfrm>
            <a:off x="685800" y="1325880"/>
            <a:ext cx="502920" cy="502920"/>
          </a:xfrm>
          <a:prstGeom prst="ellipse">
            <a:avLst/>
          </a:prstGeom>
          <a:solidFill>
            <a:srgbClr val="4F46E5"/>
          </a:solidFill>
          <a:ln w="12700">
            <a:solidFill>
              <a:srgbClr val="4F46E5"/>
            </a:solidFill>
            <a:prstDash val="solid"/>
          </a:ln>
        </p:spPr>
      </p:sp>
      <p:pic>
        <p:nvPicPr>
          <p:cNvPr id="6" name="layer 1 icon" descr="preencoded.png">    </p:cNvPr>
          <p:cNvPicPr>
            <a:picLocks noChangeAspect="1"/>
          </p:cNvPicPr>
          <p:nvPr/>
        </p:nvPicPr>
        <p:blipFill>
          <a:blip r:embed="rId1"/>
          <a:stretch>
            <a:fillRect/>
          </a:stretch>
        </p:blipFill>
        <p:spPr>
          <a:xfrm>
            <a:off x="796442" y="1436522"/>
            <a:ext cx="281635" cy="281635"/>
          </a:xfrm>
          <a:prstGeom prst="rect">
            <a:avLst/>
          </a:prstGeom>
        </p:spPr>
      </p:pic>
      <p:sp>
        <p:nvSpPr>
          <p:cNvPr id="7" name="Text 3"/>
          <p:cNvSpPr txBox="1"/>
          <p:nvPr/>
        </p:nvSpPr>
        <p:spPr>
          <a:xfrm>
            <a:off x="1325880" y="1344168"/>
            <a:ext cx="1554480" cy="292608"/>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Browser</a:t>
            </a:r>
            <a:endParaRPr lang="en-US" sz="1700" dirty="0"/>
          </a:p>
        </p:txBody>
      </p:sp>
      <p:sp>
        <p:nvSpPr>
          <p:cNvPr id="8" name="Text 4"/>
          <p:cNvSpPr txBox="1"/>
          <p:nvPr/>
        </p:nvSpPr>
        <p:spPr>
          <a:xfrm>
            <a:off x="1325880" y="1627632"/>
            <a:ext cx="1600200" cy="256032"/>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React interface</a:t>
            </a:r>
            <a:endParaRPr lang="en-US" sz="1100" dirty="0"/>
          </a:p>
        </p:txBody>
      </p:sp>
      <p:sp>
        <p:nvSpPr>
          <p:cNvPr id="9" name="Text 5"/>
          <p:cNvSpPr txBox="1"/>
          <p:nvPr/>
        </p:nvSpPr>
        <p:spPr>
          <a:xfrm>
            <a:off x="685800" y="2057400"/>
            <a:ext cx="214884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Workspace: the five-step journey</a:t>
            </a:r>
            <a:endParaRPr lang="en-US" sz="12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AST Explorer</a:t>
            </a:r>
            <a:endParaRPr lang="en-US" sz="12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Research &amp; Method</a:t>
            </a:r>
            <a:endParaRPr lang="en-US" sz="1200" dirty="0"/>
          </a:p>
        </p:txBody>
      </p:sp>
      <p:sp>
        <p:nvSpPr>
          <p:cNvPr id="10" name="layer arrow 1"/>
          <p:cNvSpPr/>
          <p:nvPr/>
        </p:nvSpPr>
        <p:spPr>
          <a:xfrm>
            <a:off x="2999232" y="2697480"/>
            <a:ext cx="265176" cy="0"/>
          </a:xfrm>
          <a:prstGeom prst="line">
            <a:avLst/>
          </a:prstGeom>
          <a:noFill/>
          <a:ln w="19050">
            <a:solidFill>
              <a:srgbClr val="64748B"/>
            </a:solidFill>
            <a:prstDash val="solid"/>
            <a:tailEnd type="triangle"/>
          </a:ln>
        </p:spPr>
      </p:sp>
      <p:sp>
        <p:nvSpPr>
          <p:cNvPr id="11" name="layer Backend"/>
          <p:cNvSpPr/>
          <p:nvPr/>
        </p:nvSpPr>
        <p:spPr>
          <a:xfrm>
            <a:off x="3291840" y="1188720"/>
            <a:ext cx="2468880" cy="3063240"/>
          </a:xfrm>
          <a:prstGeom prst="roundRect">
            <a:avLst>
              <a:gd name="adj" fmla="val 3704"/>
            </a:avLst>
          </a:prstGeom>
          <a:solidFill>
            <a:srgbClr val="F1F5F9"/>
          </a:solidFill>
          <a:ln w="12700">
            <a:solidFill>
              <a:srgbClr val="F1F5F9"/>
            </a:solidFill>
            <a:prstDash val="solid"/>
          </a:ln>
        </p:spPr>
      </p:sp>
      <p:sp>
        <p:nvSpPr>
          <p:cNvPr id="12" name="layer 2 circle"/>
          <p:cNvSpPr/>
          <p:nvPr/>
        </p:nvSpPr>
        <p:spPr>
          <a:xfrm>
            <a:off x="3474720" y="1325880"/>
            <a:ext cx="502920" cy="502920"/>
          </a:xfrm>
          <a:prstGeom prst="ellipse">
            <a:avLst/>
          </a:prstGeom>
          <a:solidFill>
            <a:srgbClr val="0F766E"/>
          </a:solidFill>
          <a:ln w="12700">
            <a:solidFill>
              <a:srgbClr val="0F766E"/>
            </a:solidFill>
            <a:prstDash val="solid"/>
          </a:ln>
        </p:spPr>
      </p:sp>
      <p:pic>
        <p:nvPicPr>
          <p:cNvPr id="13" name="layer 2 icon" descr="preencoded.png">    </p:cNvPr>
          <p:cNvPicPr>
            <a:picLocks noChangeAspect="1"/>
          </p:cNvPicPr>
          <p:nvPr/>
        </p:nvPicPr>
        <p:blipFill>
          <a:blip r:embed="rId2"/>
          <a:stretch>
            <a:fillRect/>
          </a:stretch>
        </p:blipFill>
        <p:spPr>
          <a:xfrm>
            <a:off x="3585362" y="1436522"/>
            <a:ext cx="281635" cy="281635"/>
          </a:xfrm>
          <a:prstGeom prst="rect">
            <a:avLst/>
          </a:prstGeom>
        </p:spPr>
      </p:pic>
      <p:sp>
        <p:nvSpPr>
          <p:cNvPr id="14" name="Text 9"/>
          <p:cNvSpPr txBox="1"/>
          <p:nvPr/>
        </p:nvSpPr>
        <p:spPr>
          <a:xfrm>
            <a:off x="4114800" y="1344168"/>
            <a:ext cx="1554480" cy="292608"/>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Backend</a:t>
            </a:r>
            <a:endParaRPr lang="en-US" sz="1700" dirty="0"/>
          </a:p>
        </p:txBody>
      </p:sp>
      <p:sp>
        <p:nvSpPr>
          <p:cNvPr id="15" name="Text 10"/>
          <p:cNvSpPr txBox="1"/>
          <p:nvPr/>
        </p:nvSpPr>
        <p:spPr>
          <a:xfrm>
            <a:off x="4114800" y="1627632"/>
            <a:ext cx="1600200" cy="256032"/>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Python, FastAPI</a:t>
            </a:r>
            <a:endParaRPr lang="en-US" sz="1100" dirty="0"/>
          </a:p>
        </p:txBody>
      </p:sp>
      <p:sp>
        <p:nvSpPr>
          <p:cNvPr id="16" name="Text 11"/>
          <p:cNvSpPr txBox="1"/>
          <p:nvPr/>
        </p:nvSpPr>
        <p:spPr>
          <a:xfrm>
            <a:off x="3474720" y="2057400"/>
            <a:ext cx="214884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Runs the compiler safely: no shell, timeout, size limit</a:t>
            </a:r>
            <a:endParaRPr lang="en-US" sz="12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Compares two trees</a:t>
            </a:r>
            <a:endParaRPr lang="en-US" sz="12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Typed errors, never fake output</a:t>
            </a:r>
            <a:endParaRPr lang="en-US" sz="1200" dirty="0"/>
          </a:p>
        </p:txBody>
      </p:sp>
      <p:sp>
        <p:nvSpPr>
          <p:cNvPr id="17" name="layer arrow 2"/>
          <p:cNvSpPr/>
          <p:nvPr/>
        </p:nvSpPr>
        <p:spPr>
          <a:xfrm>
            <a:off x="5788152" y="2697480"/>
            <a:ext cx="265176" cy="0"/>
          </a:xfrm>
          <a:prstGeom prst="line">
            <a:avLst/>
          </a:prstGeom>
          <a:noFill/>
          <a:ln w="19050">
            <a:solidFill>
              <a:srgbClr val="64748B"/>
            </a:solidFill>
            <a:prstDash val="solid"/>
            <a:tailEnd type="triangle"/>
          </a:ln>
        </p:spPr>
      </p:sp>
      <p:sp>
        <p:nvSpPr>
          <p:cNvPr id="18" name="layer Compiler"/>
          <p:cNvSpPr/>
          <p:nvPr/>
        </p:nvSpPr>
        <p:spPr>
          <a:xfrm>
            <a:off x="6080760" y="1188720"/>
            <a:ext cx="2468880" cy="3063240"/>
          </a:xfrm>
          <a:prstGeom prst="roundRect">
            <a:avLst>
              <a:gd name="adj" fmla="val 3704"/>
            </a:avLst>
          </a:prstGeom>
          <a:solidFill>
            <a:srgbClr val="F1F5F9"/>
          </a:solidFill>
          <a:ln w="12700">
            <a:solidFill>
              <a:srgbClr val="F1F5F9"/>
            </a:solidFill>
            <a:prstDash val="solid"/>
          </a:ln>
        </p:spPr>
      </p:sp>
      <p:sp>
        <p:nvSpPr>
          <p:cNvPr id="19" name="layer 3 circle"/>
          <p:cNvSpPr/>
          <p:nvPr/>
        </p:nvSpPr>
        <p:spPr>
          <a:xfrm>
            <a:off x="6263640" y="1325880"/>
            <a:ext cx="502920" cy="502920"/>
          </a:xfrm>
          <a:prstGeom prst="ellipse">
            <a:avLst/>
          </a:prstGeom>
          <a:solidFill>
            <a:srgbClr val="B45309"/>
          </a:solidFill>
          <a:ln w="12700">
            <a:solidFill>
              <a:srgbClr val="B45309"/>
            </a:solidFill>
            <a:prstDash val="solid"/>
          </a:ln>
        </p:spPr>
      </p:sp>
      <p:pic>
        <p:nvPicPr>
          <p:cNvPr id="20" name="layer 3 icon" descr="preencoded.png">    </p:cNvPr>
          <p:cNvPicPr>
            <a:picLocks noChangeAspect="1"/>
          </p:cNvPicPr>
          <p:nvPr/>
        </p:nvPicPr>
        <p:blipFill>
          <a:blip r:embed="rId3"/>
          <a:stretch>
            <a:fillRect/>
          </a:stretch>
        </p:blipFill>
        <p:spPr>
          <a:xfrm>
            <a:off x="6374282" y="1436522"/>
            <a:ext cx="281635" cy="281635"/>
          </a:xfrm>
          <a:prstGeom prst="rect">
            <a:avLst/>
          </a:prstGeom>
        </p:spPr>
      </p:pic>
      <p:sp>
        <p:nvSpPr>
          <p:cNvPr id="21" name="Text 15"/>
          <p:cNvSpPr txBox="1"/>
          <p:nvPr/>
        </p:nvSpPr>
        <p:spPr>
          <a:xfrm>
            <a:off x="6903720" y="1344168"/>
            <a:ext cx="1554480" cy="292608"/>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Compiler</a:t>
            </a:r>
            <a:endParaRPr lang="en-US" sz="1700" dirty="0"/>
          </a:p>
        </p:txBody>
      </p:sp>
      <p:sp>
        <p:nvSpPr>
          <p:cNvPr id="22" name="Text 16"/>
          <p:cNvSpPr txBox="1"/>
          <p:nvPr/>
        </p:nvSpPr>
        <p:spPr>
          <a:xfrm>
            <a:off x="6903720" y="1627632"/>
            <a:ext cx="1600200" cy="256032"/>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C++, Flex + Bison</a:t>
            </a:r>
            <a:endParaRPr lang="en-US" sz="1100" dirty="0"/>
          </a:p>
        </p:txBody>
      </p:sp>
      <p:sp>
        <p:nvSpPr>
          <p:cNvPr id="23" name="Text 17"/>
          <p:cNvSpPr txBox="1"/>
          <p:nvPr/>
        </p:nvSpPr>
        <p:spPr>
          <a:xfrm>
            <a:off x="6263640" y="2057400"/>
            <a:ext cx="2148840" cy="2011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Lexer, LALR(1) parser, AST</a:t>
            </a:r>
            <a:endParaRPr lang="en-US" sz="12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Name check</a:t>
            </a:r>
            <a:endParaRPr lang="en-US" sz="12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Repair engine → JSON</a:t>
            </a:r>
            <a:endParaRPr lang="en-US" sz="1200" dirty="0"/>
          </a:p>
        </p:txBody>
      </p:sp>
      <p:sp>
        <p:nvSpPr>
          <p:cNvPr id="24" name="Text 18"/>
          <p:cNvSpPr txBox="1"/>
          <p:nvPr/>
        </p:nvSpPr>
        <p:spPr>
          <a:xfrm>
            <a:off x="548640" y="4370832"/>
            <a:ext cx="8046720" cy="320040"/>
          </a:xfrm>
          <a:prstGeom prst="rect">
            <a:avLst/>
          </a:prstGeom>
          <a:noFill/>
          <a:ln/>
        </p:spPr>
        <p:txBody>
          <a:bodyPr wrap="square" lIns="0" tIns="0" rIns="0" bIns="0" rtlCol="0" anchor="t"/>
          <a:lstStyle/>
          <a:p>
            <a:pPr algn="ctr" indent="0" marL="0">
              <a:buNone/>
            </a:pPr>
            <a:r>
              <a:rPr lang="en-US" sz="1200" i="1" dirty="0">
                <a:solidFill>
                  <a:schemeClr val="accent6"/>
                </a:solidFill>
                <a:latin typeface="Calibri" pitchFamily="34" charset="0"/>
                <a:ea typeface="Calibri" pitchFamily="34" charset="-122"/>
                <a:cs typeface="Calibri" pitchFamily="34" charset="-120"/>
              </a:rPr>
              <a:t>Every answer remembers the exact text it was computed for, so the screen never mixes an old result with new code.</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From text to tokens to a tree</a:t>
            </a:r>
            <a:endParaRPr lang="en-US" sz="2800" dirty="0"/>
          </a:p>
        </p:txBody>
      </p:sp>
      <p:sp>
        <p:nvSpPr>
          <p:cNvPr id="4" name="Text 1"/>
          <p:cNvSpPr txBox="1"/>
          <p:nvPr/>
        </p:nvSpPr>
        <p:spPr>
          <a:xfrm>
            <a:off x="548640" y="1143000"/>
            <a:ext cx="3657600" cy="365760"/>
          </a:xfrm>
          <a:prstGeom prst="rect">
            <a:avLst/>
          </a:prstGeom>
          <a:noFill/>
          <a:ln/>
        </p:spPr>
        <p:txBody>
          <a:bodyPr wrap="square" lIns="0" tIns="0" rIns="0" bIns="0" rtlCol="0" anchor="t"/>
          <a:lstStyle/>
          <a:p>
            <a:pPr indent="0" marL="0">
              <a:buNone/>
            </a:pPr>
            <a:r>
              <a:rPr lang="en-US" sz="1800" b="1" dirty="0">
                <a:solidFill>
                  <a:schemeClr val="tx1"/>
                </a:solidFill>
                <a:latin typeface="Courier New" pitchFamily="34" charset="0"/>
                <a:ea typeface="Courier New" pitchFamily="34" charset="-122"/>
                <a:cs typeface="Courier New" pitchFamily="34" charset="-120"/>
              </a:rPr>
              <a:t>int x = 1 + 2 * 3;</a:t>
            </a:r>
            <a:endParaRPr lang="en-US" sz="1800" dirty="0"/>
          </a:p>
        </p:txBody>
      </p:sp>
      <p:sp>
        <p:nvSpPr>
          <p:cNvPr id="5" name="Text 2"/>
          <p:cNvSpPr txBox="1"/>
          <p:nvPr/>
        </p:nvSpPr>
        <p:spPr>
          <a:xfrm>
            <a:off x="548640" y="1645920"/>
            <a:ext cx="36576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Lexer: spelling</a:t>
            </a:r>
            <a:endParaRPr lang="en-US" sz="1200" dirty="0"/>
          </a:p>
        </p:txBody>
      </p:sp>
      <p:sp>
        <p:nvSpPr>
          <p:cNvPr id="6" name="token 1"/>
          <p:cNvSpPr/>
          <p:nvPr/>
        </p:nvSpPr>
        <p:spPr>
          <a:xfrm>
            <a:off x="548640" y="1965960"/>
            <a:ext cx="365760" cy="365760"/>
          </a:xfrm>
          <a:prstGeom prst="roundRect">
            <a:avLst>
              <a:gd name="adj" fmla="val 15000"/>
            </a:avLst>
          </a:prstGeom>
          <a:solidFill>
            <a:srgbClr val="F1F5F9"/>
          </a:solidFill>
          <a:ln w="12700">
            <a:solidFill>
              <a:srgbClr val="0F766E"/>
            </a:solidFill>
            <a:prstDash val="solid"/>
          </a:ln>
        </p:spPr>
      </p:sp>
      <p:sp>
        <p:nvSpPr>
          <p:cNvPr id="7" name="Text 4"/>
          <p:cNvSpPr txBox="1"/>
          <p:nvPr/>
        </p:nvSpPr>
        <p:spPr>
          <a:xfrm>
            <a:off x="548640"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int</a:t>
            </a:r>
            <a:endParaRPr lang="en-US" sz="1300" dirty="0"/>
          </a:p>
        </p:txBody>
      </p:sp>
      <p:sp>
        <p:nvSpPr>
          <p:cNvPr id="8" name="token 2"/>
          <p:cNvSpPr/>
          <p:nvPr/>
        </p:nvSpPr>
        <p:spPr>
          <a:xfrm>
            <a:off x="978408" y="1965960"/>
            <a:ext cx="365760" cy="365760"/>
          </a:xfrm>
          <a:prstGeom prst="roundRect">
            <a:avLst>
              <a:gd name="adj" fmla="val 15000"/>
            </a:avLst>
          </a:prstGeom>
          <a:solidFill>
            <a:srgbClr val="F1F5F9"/>
          </a:solidFill>
          <a:ln w="12700">
            <a:solidFill>
              <a:srgbClr val="0F766E"/>
            </a:solidFill>
            <a:prstDash val="solid"/>
          </a:ln>
        </p:spPr>
      </p:sp>
      <p:sp>
        <p:nvSpPr>
          <p:cNvPr id="9" name="Text 6"/>
          <p:cNvSpPr txBox="1"/>
          <p:nvPr/>
        </p:nvSpPr>
        <p:spPr>
          <a:xfrm>
            <a:off x="978408"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x</a:t>
            </a:r>
            <a:endParaRPr lang="en-US" sz="1300" dirty="0"/>
          </a:p>
        </p:txBody>
      </p:sp>
      <p:sp>
        <p:nvSpPr>
          <p:cNvPr id="10" name="token 3"/>
          <p:cNvSpPr/>
          <p:nvPr/>
        </p:nvSpPr>
        <p:spPr>
          <a:xfrm>
            <a:off x="1408176" y="1965960"/>
            <a:ext cx="365760" cy="365760"/>
          </a:xfrm>
          <a:prstGeom prst="roundRect">
            <a:avLst>
              <a:gd name="adj" fmla="val 15000"/>
            </a:avLst>
          </a:prstGeom>
          <a:solidFill>
            <a:srgbClr val="F1F5F9"/>
          </a:solidFill>
          <a:ln w="12700">
            <a:solidFill>
              <a:srgbClr val="0F766E"/>
            </a:solidFill>
            <a:prstDash val="solid"/>
          </a:ln>
        </p:spPr>
      </p:sp>
      <p:sp>
        <p:nvSpPr>
          <p:cNvPr id="11" name="Text 8"/>
          <p:cNvSpPr txBox="1"/>
          <p:nvPr/>
        </p:nvSpPr>
        <p:spPr>
          <a:xfrm>
            <a:off x="1408176"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a:t>
            </a:r>
            <a:endParaRPr lang="en-US" sz="1300" dirty="0"/>
          </a:p>
        </p:txBody>
      </p:sp>
      <p:sp>
        <p:nvSpPr>
          <p:cNvPr id="12" name="token 4"/>
          <p:cNvSpPr/>
          <p:nvPr/>
        </p:nvSpPr>
        <p:spPr>
          <a:xfrm>
            <a:off x="1837944" y="1965960"/>
            <a:ext cx="365760" cy="365760"/>
          </a:xfrm>
          <a:prstGeom prst="roundRect">
            <a:avLst>
              <a:gd name="adj" fmla="val 15000"/>
            </a:avLst>
          </a:prstGeom>
          <a:solidFill>
            <a:srgbClr val="F1F5F9"/>
          </a:solidFill>
          <a:ln w="12700">
            <a:solidFill>
              <a:srgbClr val="0F766E"/>
            </a:solidFill>
            <a:prstDash val="solid"/>
          </a:ln>
        </p:spPr>
      </p:sp>
      <p:sp>
        <p:nvSpPr>
          <p:cNvPr id="13" name="Text 10"/>
          <p:cNvSpPr txBox="1"/>
          <p:nvPr/>
        </p:nvSpPr>
        <p:spPr>
          <a:xfrm>
            <a:off x="1837944"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1</a:t>
            </a:r>
            <a:endParaRPr lang="en-US" sz="1300" dirty="0"/>
          </a:p>
        </p:txBody>
      </p:sp>
      <p:sp>
        <p:nvSpPr>
          <p:cNvPr id="14" name="token 5"/>
          <p:cNvSpPr/>
          <p:nvPr/>
        </p:nvSpPr>
        <p:spPr>
          <a:xfrm>
            <a:off x="2267712" y="1965960"/>
            <a:ext cx="365760" cy="365760"/>
          </a:xfrm>
          <a:prstGeom prst="roundRect">
            <a:avLst>
              <a:gd name="adj" fmla="val 15000"/>
            </a:avLst>
          </a:prstGeom>
          <a:solidFill>
            <a:srgbClr val="F1F5F9"/>
          </a:solidFill>
          <a:ln w="12700">
            <a:solidFill>
              <a:srgbClr val="0F766E"/>
            </a:solidFill>
            <a:prstDash val="solid"/>
          </a:ln>
        </p:spPr>
      </p:sp>
      <p:sp>
        <p:nvSpPr>
          <p:cNvPr id="15" name="Text 12"/>
          <p:cNvSpPr txBox="1"/>
          <p:nvPr/>
        </p:nvSpPr>
        <p:spPr>
          <a:xfrm>
            <a:off x="2267712"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a:t>
            </a:r>
            <a:endParaRPr lang="en-US" sz="1300" dirty="0"/>
          </a:p>
        </p:txBody>
      </p:sp>
      <p:sp>
        <p:nvSpPr>
          <p:cNvPr id="16" name="token 6"/>
          <p:cNvSpPr/>
          <p:nvPr/>
        </p:nvSpPr>
        <p:spPr>
          <a:xfrm>
            <a:off x="2697480" y="1965960"/>
            <a:ext cx="365760" cy="365760"/>
          </a:xfrm>
          <a:prstGeom prst="roundRect">
            <a:avLst>
              <a:gd name="adj" fmla="val 15000"/>
            </a:avLst>
          </a:prstGeom>
          <a:solidFill>
            <a:srgbClr val="F1F5F9"/>
          </a:solidFill>
          <a:ln w="12700">
            <a:solidFill>
              <a:srgbClr val="0F766E"/>
            </a:solidFill>
            <a:prstDash val="solid"/>
          </a:ln>
        </p:spPr>
      </p:sp>
      <p:sp>
        <p:nvSpPr>
          <p:cNvPr id="17" name="Text 14"/>
          <p:cNvSpPr txBox="1"/>
          <p:nvPr/>
        </p:nvSpPr>
        <p:spPr>
          <a:xfrm>
            <a:off x="2697480"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2</a:t>
            </a:r>
            <a:endParaRPr lang="en-US" sz="1300" dirty="0"/>
          </a:p>
        </p:txBody>
      </p:sp>
      <p:sp>
        <p:nvSpPr>
          <p:cNvPr id="18" name="token 7"/>
          <p:cNvSpPr/>
          <p:nvPr/>
        </p:nvSpPr>
        <p:spPr>
          <a:xfrm>
            <a:off x="3127248" y="1965960"/>
            <a:ext cx="365760" cy="365760"/>
          </a:xfrm>
          <a:prstGeom prst="roundRect">
            <a:avLst>
              <a:gd name="adj" fmla="val 15000"/>
            </a:avLst>
          </a:prstGeom>
          <a:solidFill>
            <a:srgbClr val="F1F5F9"/>
          </a:solidFill>
          <a:ln w="12700">
            <a:solidFill>
              <a:srgbClr val="0F766E"/>
            </a:solidFill>
            <a:prstDash val="solid"/>
          </a:ln>
        </p:spPr>
      </p:sp>
      <p:sp>
        <p:nvSpPr>
          <p:cNvPr id="19" name="Text 16"/>
          <p:cNvSpPr txBox="1"/>
          <p:nvPr/>
        </p:nvSpPr>
        <p:spPr>
          <a:xfrm>
            <a:off x="3127248"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a:t>
            </a:r>
            <a:endParaRPr lang="en-US" sz="1300" dirty="0"/>
          </a:p>
        </p:txBody>
      </p:sp>
      <p:sp>
        <p:nvSpPr>
          <p:cNvPr id="20" name="token 8"/>
          <p:cNvSpPr/>
          <p:nvPr/>
        </p:nvSpPr>
        <p:spPr>
          <a:xfrm>
            <a:off x="3557016" y="1965960"/>
            <a:ext cx="365760" cy="365760"/>
          </a:xfrm>
          <a:prstGeom prst="roundRect">
            <a:avLst>
              <a:gd name="adj" fmla="val 15000"/>
            </a:avLst>
          </a:prstGeom>
          <a:solidFill>
            <a:srgbClr val="F1F5F9"/>
          </a:solidFill>
          <a:ln w="12700">
            <a:solidFill>
              <a:srgbClr val="0F766E"/>
            </a:solidFill>
            <a:prstDash val="solid"/>
          </a:ln>
        </p:spPr>
      </p:sp>
      <p:sp>
        <p:nvSpPr>
          <p:cNvPr id="21" name="Text 18"/>
          <p:cNvSpPr txBox="1"/>
          <p:nvPr/>
        </p:nvSpPr>
        <p:spPr>
          <a:xfrm>
            <a:off x="3557016"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3</a:t>
            </a:r>
            <a:endParaRPr lang="en-US" sz="1300" dirty="0"/>
          </a:p>
        </p:txBody>
      </p:sp>
      <p:sp>
        <p:nvSpPr>
          <p:cNvPr id="22" name="token 9"/>
          <p:cNvSpPr/>
          <p:nvPr/>
        </p:nvSpPr>
        <p:spPr>
          <a:xfrm>
            <a:off x="3986784" y="1965960"/>
            <a:ext cx="365760" cy="365760"/>
          </a:xfrm>
          <a:prstGeom prst="roundRect">
            <a:avLst>
              <a:gd name="adj" fmla="val 15000"/>
            </a:avLst>
          </a:prstGeom>
          <a:solidFill>
            <a:srgbClr val="F1F5F9"/>
          </a:solidFill>
          <a:ln w="12700">
            <a:solidFill>
              <a:srgbClr val="0F766E"/>
            </a:solidFill>
            <a:prstDash val="solid"/>
          </a:ln>
        </p:spPr>
      </p:sp>
      <p:sp>
        <p:nvSpPr>
          <p:cNvPr id="23" name="Text 20"/>
          <p:cNvSpPr txBox="1"/>
          <p:nvPr/>
        </p:nvSpPr>
        <p:spPr>
          <a:xfrm>
            <a:off x="3986784" y="1965960"/>
            <a:ext cx="365760" cy="365760"/>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a:t>
            </a:r>
            <a:endParaRPr lang="en-US" sz="1300" dirty="0"/>
          </a:p>
        </p:txBody>
      </p:sp>
      <p:sp>
        <p:nvSpPr>
          <p:cNvPr id="24" name="Text 21"/>
          <p:cNvSpPr txBox="1"/>
          <p:nvPr/>
        </p:nvSpPr>
        <p:spPr>
          <a:xfrm>
            <a:off x="548640" y="2560320"/>
            <a:ext cx="36576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Parser: order and structure</a:t>
            </a:r>
            <a:endParaRPr lang="en-US" sz="1200" dirty="0"/>
          </a:p>
        </p:txBody>
      </p:sp>
      <p:sp>
        <p:nvSpPr>
          <p:cNvPr id="25" name="Text 22"/>
          <p:cNvSpPr txBox="1"/>
          <p:nvPr/>
        </p:nvSpPr>
        <p:spPr>
          <a:xfrm>
            <a:off x="548640" y="288036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Checks the token order against the grammar</a:t>
            </a:r>
            <a:endParaRPr lang="en-US" sz="1250" dirty="0"/>
          </a:p>
          <a:p>
            <a:pPr marL="342900" indent="-3429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Builds the tree; punctuation disappears</a:t>
            </a:r>
            <a:endParaRPr lang="en-US" sz="1250" dirty="0"/>
          </a:p>
          <a:p>
            <a:pPr marL="342900" indent="-342900">
              <a:spcAft>
                <a:spcPts val="600"/>
              </a:spcAft>
              <a:buSzPct val="100000"/>
              <a:buChar char="•"/>
            </a:pPr>
            <a:r>
              <a:rPr lang="en-US" sz="1250" dirty="0">
                <a:solidFill>
                  <a:schemeClr val="tx1"/>
                </a:solidFill>
                <a:latin typeface="Calibri" pitchFamily="34" charset="0"/>
                <a:ea typeface="Calibri" pitchFamily="34" charset="-122"/>
                <a:cs typeface="Calibri" pitchFamily="34" charset="-120"/>
              </a:rPr>
              <a:t>Not checked here: types and behaviour</a:t>
            </a:r>
            <a:endParaRPr lang="en-US" sz="1250" dirty="0"/>
          </a:p>
        </p:txBody>
      </p:sp>
      <p:sp>
        <p:nvSpPr>
          <p:cNvPr id="26" name="edge 0"/>
          <p:cNvSpPr/>
          <p:nvPr/>
        </p:nvSpPr>
        <p:spPr>
          <a:xfrm>
            <a:off x="6400800" y="1508760"/>
            <a:ext cx="0" cy="274320"/>
          </a:xfrm>
          <a:prstGeom prst="line">
            <a:avLst/>
          </a:prstGeom>
          <a:noFill/>
          <a:ln w="12700">
            <a:solidFill>
              <a:srgbClr val="94A3B8"/>
            </a:solidFill>
            <a:prstDash val="solid"/>
          </a:ln>
        </p:spPr>
      </p:sp>
      <p:sp>
        <p:nvSpPr>
          <p:cNvPr id="27" name="edge 1"/>
          <p:cNvSpPr/>
          <p:nvPr/>
        </p:nvSpPr>
        <p:spPr>
          <a:xfrm>
            <a:off x="6400800" y="2148840"/>
            <a:ext cx="0" cy="274320"/>
          </a:xfrm>
          <a:prstGeom prst="line">
            <a:avLst/>
          </a:prstGeom>
          <a:noFill/>
          <a:ln w="12700">
            <a:solidFill>
              <a:srgbClr val="94A3B8"/>
            </a:solidFill>
            <a:prstDash val="solid"/>
          </a:ln>
        </p:spPr>
      </p:sp>
      <p:sp>
        <p:nvSpPr>
          <p:cNvPr id="28" name="edge 2"/>
          <p:cNvSpPr/>
          <p:nvPr/>
        </p:nvSpPr>
        <p:spPr>
          <a:xfrm flipH="1">
            <a:off x="5669280" y="2788920"/>
            <a:ext cx="731520" cy="274320"/>
          </a:xfrm>
          <a:prstGeom prst="line">
            <a:avLst/>
          </a:prstGeom>
          <a:noFill/>
          <a:ln w="12700">
            <a:solidFill>
              <a:srgbClr val="94A3B8"/>
            </a:solidFill>
            <a:prstDash val="solid"/>
          </a:ln>
        </p:spPr>
      </p:sp>
      <p:sp>
        <p:nvSpPr>
          <p:cNvPr id="29" name="edge 3"/>
          <p:cNvSpPr/>
          <p:nvPr/>
        </p:nvSpPr>
        <p:spPr>
          <a:xfrm>
            <a:off x="6400800" y="2788920"/>
            <a:ext cx="731520" cy="274320"/>
          </a:xfrm>
          <a:prstGeom prst="line">
            <a:avLst/>
          </a:prstGeom>
          <a:noFill/>
          <a:ln w="12700">
            <a:solidFill>
              <a:srgbClr val="94A3B8"/>
            </a:solidFill>
            <a:prstDash val="solid"/>
          </a:ln>
        </p:spPr>
      </p:sp>
      <p:sp>
        <p:nvSpPr>
          <p:cNvPr id="30" name="edge 4"/>
          <p:cNvSpPr/>
          <p:nvPr/>
        </p:nvSpPr>
        <p:spPr>
          <a:xfrm flipH="1">
            <a:off x="6675120" y="3429000"/>
            <a:ext cx="457200" cy="274320"/>
          </a:xfrm>
          <a:prstGeom prst="line">
            <a:avLst/>
          </a:prstGeom>
          <a:noFill/>
          <a:ln w="12700">
            <a:solidFill>
              <a:srgbClr val="94A3B8"/>
            </a:solidFill>
            <a:prstDash val="solid"/>
          </a:ln>
        </p:spPr>
      </p:sp>
      <p:sp>
        <p:nvSpPr>
          <p:cNvPr id="31" name="edge 5"/>
          <p:cNvSpPr/>
          <p:nvPr/>
        </p:nvSpPr>
        <p:spPr>
          <a:xfrm>
            <a:off x="7132320" y="3429000"/>
            <a:ext cx="457200" cy="274320"/>
          </a:xfrm>
          <a:prstGeom prst="line">
            <a:avLst/>
          </a:prstGeom>
          <a:noFill/>
          <a:ln w="12700">
            <a:solidFill>
              <a:srgbClr val="94A3B8"/>
            </a:solidFill>
            <a:prstDash val="solid"/>
          </a:ln>
        </p:spPr>
      </p:sp>
      <p:sp>
        <p:nvSpPr>
          <p:cNvPr id="32" name="DeclStmt"/>
          <p:cNvSpPr/>
          <p:nvPr/>
        </p:nvSpPr>
        <p:spPr>
          <a:xfrm>
            <a:off x="6144768" y="1143000"/>
            <a:ext cx="512064" cy="365760"/>
          </a:xfrm>
          <a:prstGeom prst="ellipse">
            <a:avLst/>
          </a:prstGeom>
          <a:solidFill>
            <a:srgbClr val="FFFFFF"/>
          </a:solidFill>
          <a:ln w="19050">
            <a:solidFill>
              <a:srgbClr val="4F46E5"/>
            </a:solidFill>
            <a:prstDash val="solid"/>
          </a:ln>
        </p:spPr>
      </p:sp>
      <p:sp>
        <p:nvSpPr>
          <p:cNvPr id="33" name="Text 30"/>
          <p:cNvSpPr txBox="1"/>
          <p:nvPr/>
        </p:nvSpPr>
        <p:spPr>
          <a:xfrm>
            <a:off x="6035040" y="114300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int</a:t>
            </a:r>
            <a:endParaRPr lang="en-US" sz="1200" dirty="0"/>
          </a:p>
        </p:txBody>
      </p:sp>
      <p:sp>
        <p:nvSpPr>
          <p:cNvPr id="34" name="VarDecl"/>
          <p:cNvSpPr/>
          <p:nvPr/>
        </p:nvSpPr>
        <p:spPr>
          <a:xfrm>
            <a:off x="6144768" y="1783080"/>
            <a:ext cx="512064" cy="365760"/>
          </a:xfrm>
          <a:prstGeom prst="ellipse">
            <a:avLst/>
          </a:prstGeom>
          <a:solidFill>
            <a:srgbClr val="FFFFFF"/>
          </a:solidFill>
          <a:ln w="19050">
            <a:solidFill>
              <a:srgbClr val="4F46E5"/>
            </a:solidFill>
            <a:prstDash val="solid"/>
          </a:ln>
        </p:spPr>
      </p:sp>
      <p:sp>
        <p:nvSpPr>
          <p:cNvPr id="35" name="Text 32"/>
          <p:cNvSpPr txBox="1"/>
          <p:nvPr/>
        </p:nvSpPr>
        <p:spPr>
          <a:xfrm>
            <a:off x="6035040" y="178308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x</a:t>
            </a:r>
            <a:endParaRPr lang="en-US" sz="1200" dirty="0"/>
          </a:p>
        </p:txBody>
      </p:sp>
      <p:sp>
        <p:nvSpPr>
          <p:cNvPr id="36" name="Binary plus"/>
          <p:cNvSpPr/>
          <p:nvPr/>
        </p:nvSpPr>
        <p:spPr>
          <a:xfrm>
            <a:off x="6144768" y="2423160"/>
            <a:ext cx="512064" cy="365760"/>
          </a:xfrm>
          <a:prstGeom prst="ellipse">
            <a:avLst/>
          </a:prstGeom>
          <a:solidFill>
            <a:srgbClr val="FFFFFF"/>
          </a:solidFill>
          <a:ln w="19050">
            <a:solidFill>
              <a:srgbClr val="B45309"/>
            </a:solidFill>
            <a:prstDash val="solid"/>
          </a:ln>
        </p:spPr>
      </p:sp>
      <p:sp>
        <p:nvSpPr>
          <p:cNvPr id="37" name="Text 34"/>
          <p:cNvSpPr txBox="1"/>
          <p:nvPr/>
        </p:nvSpPr>
        <p:spPr>
          <a:xfrm>
            <a:off x="6035040" y="242316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t>
            </a:r>
            <a:endParaRPr lang="en-US" sz="1200" dirty="0"/>
          </a:p>
        </p:txBody>
      </p:sp>
      <p:sp>
        <p:nvSpPr>
          <p:cNvPr id="38" name="IntLit 1"/>
          <p:cNvSpPr/>
          <p:nvPr/>
        </p:nvSpPr>
        <p:spPr>
          <a:xfrm>
            <a:off x="5413248" y="3063240"/>
            <a:ext cx="512064" cy="365760"/>
          </a:xfrm>
          <a:prstGeom prst="ellipse">
            <a:avLst/>
          </a:prstGeom>
          <a:solidFill>
            <a:srgbClr val="FFFFFF"/>
          </a:solidFill>
          <a:ln w="19050">
            <a:solidFill>
              <a:srgbClr val="15803D"/>
            </a:solidFill>
            <a:prstDash val="solid"/>
          </a:ln>
        </p:spPr>
      </p:sp>
      <p:sp>
        <p:nvSpPr>
          <p:cNvPr id="39" name="Text 36"/>
          <p:cNvSpPr txBox="1"/>
          <p:nvPr/>
        </p:nvSpPr>
        <p:spPr>
          <a:xfrm>
            <a:off x="5303520" y="306324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1</a:t>
            </a:r>
            <a:endParaRPr lang="en-US" sz="1200" dirty="0"/>
          </a:p>
        </p:txBody>
      </p:sp>
      <p:sp>
        <p:nvSpPr>
          <p:cNvPr id="40" name="Binary times"/>
          <p:cNvSpPr/>
          <p:nvPr/>
        </p:nvSpPr>
        <p:spPr>
          <a:xfrm>
            <a:off x="6876288" y="3063240"/>
            <a:ext cx="512064" cy="365760"/>
          </a:xfrm>
          <a:prstGeom prst="ellipse">
            <a:avLst/>
          </a:prstGeom>
          <a:solidFill>
            <a:srgbClr val="FFFFFF"/>
          </a:solidFill>
          <a:ln w="19050">
            <a:solidFill>
              <a:srgbClr val="B45309"/>
            </a:solidFill>
            <a:prstDash val="solid"/>
          </a:ln>
        </p:spPr>
      </p:sp>
      <p:sp>
        <p:nvSpPr>
          <p:cNvPr id="41" name="Text 38"/>
          <p:cNvSpPr txBox="1"/>
          <p:nvPr/>
        </p:nvSpPr>
        <p:spPr>
          <a:xfrm>
            <a:off x="6766560" y="306324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t>
            </a:r>
            <a:endParaRPr lang="en-US" sz="1200" dirty="0"/>
          </a:p>
        </p:txBody>
      </p:sp>
      <p:sp>
        <p:nvSpPr>
          <p:cNvPr id="42" name="IntLit 2"/>
          <p:cNvSpPr/>
          <p:nvPr/>
        </p:nvSpPr>
        <p:spPr>
          <a:xfrm>
            <a:off x="6419088" y="3703320"/>
            <a:ext cx="512064" cy="365760"/>
          </a:xfrm>
          <a:prstGeom prst="ellipse">
            <a:avLst/>
          </a:prstGeom>
          <a:solidFill>
            <a:srgbClr val="FFFFFF"/>
          </a:solidFill>
          <a:ln w="19050">
            <a:solidFill>
              <a:srgbClr val="15803D"/>
            </a:solidFill>
            <a:prstDash val="solid"/>
          </a:ln>
        </p:spPr>
      </p:sp>
      <p:sp>
        <p:nvSpPr>
          <p:cNvPr id="43" name="Text 40"/>
          <p:cNvSpPr txBox="1"/>
          <p:nvPr/>
        </p:nvSpPr>
        <p:spPr>
          <a:xfrm>
            <a:off x="6309360" y="370332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2</a:t>
            </a:r>
            <a:endParaRPr lang="en-US" sz="1200" dirty="0"/>
          </a:p>
        </p:txBody>
      </p:sp>
      <p:sp>
        <p:nvSpPr>
          <p:cNvPr id="44" name="IntLit 3"/>
          <p:cNvSpPr/>
          <p:nvPr/>
        </p:nvSpPr>
        <p:spPr>
          <a:xfrm>
            <a:off x="7333488" y="3703320"/>
            <a:ext cx="512064" cy="365760"/>
          </a:xfrm>
          <a:prstGeom prst="ellipse">
            <a:avLst/>
          </a:prstGeom>
          <a:solidFill>
            <a:srgbClr val="FFFFFF"/>
          </a:solidFill>
          <a:ln w="19050">
            <a:solidFill>
              <a:srgbClr val="15803D"/>
            </a:solidFill>
            <a:prstDash val="solid"/>
          </a:ln>
        </p:spPr>
      </p:sp>
      <p:sp>
        <p:nvSpPr>
          <p:cNvPr id="45" name="Text 42"/>
          <p:cNvSpPr txBox="1"/>
          <p:nvPr/>
        </p:nvSpPr>
        <p:spPr>
          <a:xfrm>
            <a:off x="7223760" y="3703320"/>
            <a:ext cx="731520"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3</a:t>
            </a:r>
            <a:endParaRPr lang="en-US" sz="1200" dirty="0"/>
          </a:p>
        </p:txBody>
      </p:sp>
      <p:sp>
        <p:nvSpPr>
          <p:cNvPr id="46" name="Text 43"/>
          <p:cNvSpPr txBox="1"/>
          <p:nvPr/>
        </p:nvSpPr>
        <p:spPr>
          <a:xfrm>
            <a:off x="5120640" y="4297680"/>
            <a:ext cx="329184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The tree's shape says 2 * 3 happens first</a:t>
            </a:r>
            <a:endParaRPr lang="en-US" sz="10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The Workspace: five steps</a:t>
            </a:r>
            <a:endParaRPr lang="en-US" sz="2800" dirty="0"/>
          </a:p>
        </p:txBody>
      </p:sp>
      <p:sp>
        <p:nvSpPr>
          <p:cNvPr id="4" name="Step indicator (real run) frame"/>
          <p:cNvSpPr/>
          <p:nvPr/>
        </p:nvSpPr>
        <p:spPr>
          <a:xfrm>
            <a:off x="420624" y="1060704"/>
            <a:ext cx="8302752" cy="489473"/>
          </a:xfrm>
          <a:prstGeom prst="roundRect">
            <a:avLst>
              <a:gd name="adj" fmla="val 14945"/>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5" name="Step indicator (real run)" descr="Step indicator (real run)">    </p:cNvPr>
          <p:cNvPicPr>
            <a:picLocks noChangeAspect="1"/>
          </p:cNvPicPr>
          <p:nvPr/>
        </p:nvPicPr>
        <p:blipFill>
          <a:blip r:embed="rId1"/>
          <a:stretch>
            <a:fillRect/>
          </a:stretch>
        </p:blipFill>
        <p:spPr>
          <a:xfrm>
            <a:off x="457200" y="1097280"/>
            <a:ext cx="8229600" cy="416321"/>
          </a:xfrm>
          <a:prstGeom prst="rect">
            <a:avLst/>
          </a:prstGeom>
        </p:spPr>
      </p:pic>
      <p:sp>
        <p:nvSpPr>
          <p:cNvPr id="6" name="step card 1"/>
          <p:cNvSpPr/>
          <p:nvPr/>
        </p:nvSpPr>
        <p:spPr>
          <a:xfrm>
            <a:off x="457200" y="1920240"/>
            <a:ext cx="1572768" cy="1051560"/>
          </a:xfrm>
          <a:prstGeom prst="roundRect">
            <a:avLst>
              <a:gd name="adj" fmla="val 6957"/>
            </a:avLst>
          </a:prstGeom>
          <a:solidFill>
            <a:srgbClr val="F1F5F9"/>
          </a:solidFill>
          <a:ln w="15875">
            <a:solidFill>
              <a:srgbClr val="0F766E"/>
            </a:solidFill>
            <a:prstDash val="solid"/>
          </a:ln>
        </p:spPr>
      </p:sp>
      <p:sp>
        <p:nvSpPr>
          <p:cNvPr id="7" name="Text 3"/>
          <p:cNvSpPr txBox="1"/>
          <p:nvPr/>
        </p:nvSpPr>
        <p:spPr>
          <a:xfrm>
            <a:off x="548640" y="1993392"/>
            <a:ext cx="1389888" cy="941832"/>
          </a:xfrm>
          <a:prstGeom prst="rect">
            <a:avLst/>
          </a:prstGeom>
          <a:noFill/>
          <a:ln/>
        </p:spPr>
        <p:txBody>
          <a:bodyPr wrap="square" lIns="0" tIns="0" rIns="0" bIns="0" rtlCol="0" anchor="t"/>
          <a:lstStyle/>
          <a:p>
            <a:pPr indent="0" marL="0">
              <a:buNone/>
            </a:pPr>
            <a:r>
              <a:rPr lang="en-US" sz="1300" b="1" dirty="0">
                <a:solidFill>
                  <a:srgbClr val="0F766E"/>
                </a:solidFill>
                <a:latin typeface="Calibri" pitchFamily="34" charset="0"/>
                <a:ea typeface="Calibri" pitchFamily="34" charset="-122"/>
                <a:cs typeface="Calibri" pitchFamily="34" charset="-120"/>
              </a:rPr>
              <a:t>1  Code</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write or load MiniC, press Analyze</a:t>
            </a:r>
            <a:endParaRPr lang="en-US" sz="1400" dirty="0"/>
          </a:p>
        </p:txBody>
      </p:sp>
      <p:sp>
        <p:nvSpPr>
          <p:cNvPr id="8" name="step card 2"/>
          <p:cNvSpPr/>
          <p:nvPr/>
        </p:nvSpPr>
        <p:spPr>
          <a:xfrm>
            <a:off x="2139696" y="1920240"/>
            <a:ext cx="1572768" cy="1051560"/>
          </a:xfrm>
          <a:prstGeom prst="roundRect">
            <a:avLst>
              <a:gd name="adj" fmla="val 6957"/>
            </a:avLst>
          </a:prstGeom>
          <a:solidFill>
            <a:srgbClr val="F1F5F9"/>
          </a:solidFill>
          <a:ln w="15875">
            <a:solidFill>
              <a:srgbClr val="4F46E5"/>
            </a:solidFill>
            <a:prstDash val="solid"/>
          </a:ln>
        </p:spPr>
      </p:sp>
      <p:sp>
        <p:nvSpPr>
          <p:cNvPr id="9" name="Text 5"/>
          <p:cNvSpPr txBox="1"/>
          <p:nvPr/>
        </p:nvSpPr>
        <p:spPr>
          <a:xfrm>
            <a:off x="2231136" y="1993392"/>
            <a:ext cx="1389888" cy="941832"/>
          </a:xfrm>
          <a:prstGeom prst="rect">
            <a:avLst/>
          </a:prstGeom>
          <a:noFill/>
          <a:ln/>
        </p:spPr>
        <p:txBody>
          <a:bodyPr wrap="square" lIns="0" tIns="0" rIns="0" bIns="0" rtlCol="0" anchor="t"/>
          <a:lstStyle/>
          <a:p>
            <a:pPr indent="0" marL="0">
              <a:buNone/>
            </a:pPr>
            <a:r>
              <a:rPr lang="en-US" sz="1300" b="1" dirty="0">
                <a:solidFill>
                  <a:srgbClr val="4F46E5"/>
                </a:solidFill>
                <a:latin typeface="Calibri" pitchFamily="34" charset="0"/>
                <a:ea typeface="Calibri" pitchFamily="34" charset="-122"/>
                <a:cs typeface="Calibri" pitchFamily="34" charset="-120"/>
              </a:rPr>
              <a:t>2  Diagnosis</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what was found, where, and why</a:t>
            </a:r>
            <a:endParaRPr lang="en-US" sz="1400" dirty="0"/>
          </a:p>
        </p:txBody>
      </p:sp>
      <p:sp>
        <p:nvSpPr>
          <p:cNvPr id="10" name="step card 3"/>
          <p:cNvSpPr/>
          <p:nvPr/>
        </p:nvSpPr>
        <p:spPr>
          <a:xfrm>
            <a:off x="3822192" y="1920240"/>
            <a:ext cx="1572768" cy="1051560"/>
          </a:xfrm>
          <a:prstGeom prst="roundRect">
            <a:avLst>
              <a:gd name="adj" fmla="val 6957"/>
            </a:avLst>
          </a:prstGeom>
          <a:solidFill>
            <a:srgbClr val="F1F5F9"/>
          </a:solidFill>
          <a:ln w="15875">
            <a:solidFill>
              <a:srgbClr val="4F46E5"/>
            </a:solidFill>
            <a:prstDash val="solid"/>
          </a:ln>
        </p:spPr>
      </p:sp>
      <p:sp>
        <p:nvSpPr>
          <p:cNvPr id="11" name="Text 7"/>
          <p:cNvSpPr txBox="1"/>
          <p:nvPr/>
        </p:nvSpPr>
        <p:spPr>
          <a:xfrm>
            <a:off x="3913632" y="1993392"/>
            <a:ext cx="1389888" cy="941832"/>
          </a:xfrm>
          <a:prstGeom prst="rect">
            <a:avLst/>
          </a:prstGeom>
          <a:noFill/>
          <a:ln/>
        </p:spPr>
        <p:txBody>
          <a:bodyPr wrap="square" lIns="0" tIns="0" rIns="0" bIns="0" rtlCol="0" anchor="t"/>
          <a:lstStyle/>
          <a:p>
            <a:pPr indent="0" marL="0">
              <a:buNone/>
            </a:pPr>
            <a:r>
              <a:rPr lang="en-US" sz="1300" b="1" dirty="0">
                <a:solidFill>
                  <a:srgbClr val="4F46E5"/>
                </a:solidFill>
                <a:latin typeface="Calibri" pitchFamily="34" charset="0"/>
                <a:ea typeface="Calibri" pitchFamily="34" charset="-122"/>
                <a:cs typeface="Calibri" pitchFamily="34" charset="-120"/>
              </a:rPr>
              <a:t>3  Fixes</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checked options, or a question</a:t>
            </a:r>
            <a:endParaRPr lang="en-US" sz="1400" dirty="0"/>
          </a:p>
        </p:txBody>
      </p:sp>
      <p:sp>
        <p:nvSpPr>
          <p:cNvPr id="12" name="step card 4"/>
          <p:cNvSpPr/>
          <p:nvPr/>
        </p:nvSpPr>
        <p:spPr>
          <a:xfrm>
            <a:off x="5504688" y="1920240"/>
            <a:ext cx="1572768" cy="1051560"/>
          </a:xfrm>
          <a:prstGeom prst="roundRect">
            <a:avLst>
              <a:gd name="adj" fmla="val 6957"/>
            </a:avLst>
          </a:prstGeom>
          <a:solidFill>
            <a:srgbClr val="F1F5F9"/>
          </a:solidFill>
          <a:ln w="15875">
            <a:solidFill>
              <a:srgbClr val="B45309"/>
            </a:solidFill>
            <a:prstDash val="solid"/>
          </a:ln>
        </p:spPr>
      </p:sp>
      <p:sp>
        <p:nvSpPr>
          <p:cNvPr id="13" name="Text 9"/>
          <p:cNvSpPr txBox="1"/>
          <p:nvPr/>
        </p:nvSpPr>
        <p:spPr>
          <a:xfrm>
            <a:off x="5596128" y="1993392"/>
            <a:ext cx="1389888" cy="941832"/>
          </a:xfrm>
          <a:prstGeom prst="rect">
            <a:avLst/>
          </a:prstGeom>
          <a:noFill/>
          <a:ln/>
        </p:spPr>
        <p:txBody>
          <a:bodyPr wrap="square" lIns="0" tIns="0" rIns="0" bIns="0" rtlCol="0" anchor="t"/>
          <a:lstStyle/>
          <a:p>
            <a:pPr indent="0" marL="0">
              <a:buNone/>
            </a:pPr>
            <a:r>
              <a:rPr lang="en-US" sz="1300" b="1" dirty="0">
                <a:solidFill>
                  <a:srgbClr val="B45309"/>
                </a:solidFill>
                <a:latin typeface="Calibri" pitchFamily="34" charset="0"/>
                <a:ea typeface="Calibri" pitchFamily="34" charset="-122"/>
                <a:cs typeface="Calibri" pitchFamily="34" charset="-120"/>
              </a:rPr>
              <a:t>4  Tree</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what the fix changes in the structure</a:t>
            </a:r>
            <a:endParaRPr lang="en-US" sz="1400" dirty="0"/>
          </a:p>
        </p:txBody>
      </p:sp>
      <p:sp>
        <p:nvSpPr>
          <p:cNvPr id="14" name="step card 5"/>
          <p:cNvSpPr/>
          <p:nvPr/>
        </p:nvSpPr>
        <p:spPr>
          <a:xfrm>
            <a:off x="7187184" y="1920240"/>
            <a:ext cx="1572768" cy="1051560"/>
          </a:xfrm>
          <a:prstGeom prst="roundRect">
            <a:avLst>
              <a:gd name="adj" fmla="val 6957"/>
            </a:avLst>
          </a:prstGeom>
          <a:solidFill>
            <a:srgbClr val="F1F5F9"/>
          </a:solidFill>
          <a:ln w="15875">
            <a:solidFill>
              <a:srgbClr val="15803D"/>
            </a:solidFill>
            <a:prstDash val="solid"/>
          </a:ln>
        </p:spPr>
      </p:sp>
      <p:sp>
        <p:nvSpPr>
          <p:cNvPr id="15" name="Text 11"/>
          <p:cNvSpPr txBox="1"/>
          <p:nvPr/>
        </p:nvSpPr>
        <p:spPr>
          <a:xfrm>
            <a:off x="7278624" y="1993392"/>
            <a:ext cx="1389888" cy="941832"/>
          </a:xfrm>
          <a:prstGeom prst="rect">
            <a:avLst/>
          </a:prstGeom>
          <a:noFill/>
          <a:ln/>
        </p:spPr>
        <p:txBody>
          <a:bodyPr wrap="square" lIns="0" tIns="0" rIns="0" bIns="0" rtlCol="0" anchor="t"/>
          <a:lstStyle/>
          <a:p>
            <a:pPr indent="0" marL="0">
              <a:buNone/>
            </a:pPr>
            <a:r>
              <a:rPr lang="en-US" sz="1300" b="1" dirty="0">
                <a:solidFill>
                  <a:srgbClr val="15803D"/>
                </a:solidFill>
                <a:latin typeface="Calibri" pitchFamily="34" charset="0"/>
                <a:ea typeface="Calibri" pitchFamily="34" charset="-122"/>
                <a:cs typeface="Calibri" pitchFamily="34" charset="-120"/>
              </a:rPr>
              <a:t>5  Apply &amp; verify</a:t>
            </a:r>
            <a:endParaRPr lang="en-US" sz="1400" dirty="0"/>
          </a:p>
          <a:p>
            <a:pPr indent="0" marL="0">
              <a:buNone/>
            </a:pPr>
            <a:r>
              <a:rPr lang="en-US" sz="1050" dirty="0">
                <a:solidFill>
                  <a:srgbClr val="334155"/>
                </a:solidFill>
                <a:latin typeface="Calibri" pitchFamily="34" charset="0"/>
                <a:ea typeface="Calibri" pitchFamily="34" charset="-122"/>
                <a:cs typeface="Calibri" pitchFamily="34" charset="-120"/>
              </a:rPr>
              <a:t>re-analyse everything; next error or done</a:t>
            </a:r>
            <a:endParaRPr lang="en-US" sz="1400" dirty="0"/>
          </a:p>
        </p:txBody>
      </p:sp>
      <p:sp>
        <p:nvSpPr>
          <p:cNvPr id="16" name="Text 12"/>
          <p:cNvSpPr txBox="1"/>
          <p:nvPr/>
        </p:nvSpPr>
        <p:spPr>
          <a:xfrm>
            <a:off x="548640" y="3291840"/>
            <a:ext cx="8046720" cy="54864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One page, one journey: the indicator always shows where you are, what is done and what is not needed.</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Step 2 · Diagnosis: what was found, and why</a:t>
            </a:r>
            <a:endParaRPr lang="en-US" sz="2800" dirty="0"/>
          </a:p>
        </p:txBody>
      </p:sp>
      <p:sp>
        <p:nvSpPr>
          <p:cNvPr id="4" name="Error reports with roles (real run) frame"/>
          <p:cNvSpPr/>
          <p:nvPr/>
        </p:nvSpPr>
        <p:spPr>
          <a:xfrm>
            <a:off x="420624" y="1014984"/>
            <a:ext cx="4279392" cy="3091217"/>
          </a:xfrm>
          <a:prstGeom prst="roundRect">
            <a:avLst>
              <a:gd name="adj" fmla="val 2366"/>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5" name="Error reports with roles (real run)" descr="Error reports with roles (real run)">    </p:cNvPr>
          <p:cNvPicPr>
            <a:picLocks noChangeAspect="1"/>
          </p:cNvPicPr>
          <p:nvPr/>
        </p:nvPicPr>
        <p:blipFill>
          <a:blip r:embed="rId1"/>
          <a:stretch>
            <a:fillRect/>
          </a:stretch>
        </p:blipFill>
        <p:spPr>
          <a:xfrm>
            <a:off x="457200" y="1051560"/>
            <a:ext cx="4206240" cy="3018065"/>
          </a:xfrm>
          <a:prstGeom prst="rect">
            <a:avLst/>
          </a:prstGeom>
        </p:spPr>
      </p:pic>
      <p:sp>
        <p:nvSpPr>
          <p:cNvPr id="6" name="Text 2"/>
          <p:cNvSpPr txBox="1"/>
          <p:nvPr/>
        </p:nvSpPr>
        <p:spPr>
          <a:xfrm>
            <a:off x="4983480" y="1143000"/>
            <a:ext cx="37033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All errors the parser can report for this version</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The first is reliable: everything before it parsed</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Later ones: likely a consequence, or likely independent — with the evidence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Honest: more errors may appear once earlier ones are fixed</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Lexer, parser and meaning kept apart</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Step 3 · Fixes: generate, check, rank, decide</a:t>
            </a:r>
            <a:endParaRPr lang="en-US" sz="2800" dirty="0"/>
          </a:p>
        </p:txBody>
      </p:sp>
      <p:sp>
        <p:nvSpPr>
          <p:cNvPr id="4" name="stage Generate"/>
          <p:cNvSpPr/>
          <p:nvPr/>
        </p:nvSpPr>
        <p:spPr>
          <a:xfrm>
            <a:off x="502920" y="1188720"/>
            <a:ext cx="1874520" cy="2331720"/>
          </a:xfrm>
          <a:prstGeom prst="roundRect">
            <a:avLst>
              <a:gd name="adj" fmla="val 4878"/>
            </a:avLst>
          </a:prstGeom>
          <a:solidFill>
            <a:srgbClr val="F1F5F9"/>
          </a:solidFill>
          <a:ln w="12700">
            <a:solidFill>
              <a:srgbClr val="F1F5F9"/>
            </a:solidFill>
            <a:prstDash val="solid"/>
          </a:ln>
        </p:spPr>
      </p:sp>
      <p:sp>
        <p:nvSpPr>
          <p:cNvPr id="5" name="stage 1 circle"/>
          <p:cNvSpPr/>
          <p:nvPr/>
        </p:nvSpPr>
        <p:spPr>
          <a:xfrm>
            <a:off x="1161288" y="1325880"/>
            <a:ext cx="548640" cy="548640"/>
          </a:xfrm>
          <a:prstGeom prst="ellipse">
            <a:avLst/>
          </a:prstGeom>
          <a:solidFill>
            <a:srgbClr val="4F46E5"/>
          </a:solidFill>
          <a:ln w="12700">
            <a:solidFill>
              <a:srgbClr val="4F46E5"/>
            </a:solidFill>
            <a:prstDash val="solid"/>
          </a:ln>
        </p:spPr>
      </p:sp>
      <p:pic>
        <p:nvPicPr>
          <p:cNvPr id="6" name="stage 1 icon" descr="preencoded.png">    </p:cNvPr>
          <p:cNvPicPr>
            <a:picLocks noChangeAspect="1"/>
          </p:cNvPicPr>
          <p:nvPr/>
        </p:nvPicPr>
        <p:blipFill>
          <a:blip r:embed="rId1"/>
          <a:stretch>
            <a:fillRect/>
          </a:stretch>
        </p:blipFill>
        <p:spPr>
          <a:xfrm>
            <a:off x="1281989" y="1446581"/>
            <a:ext cx="307238" cy="307238"/>
          </a:xfrm>
          <a:prstGeom prst="rect">
            <a:avLst/>
          </a:prstGeom>
        </p:spPr>
      </p:pic>
      <p:sp>
        <p:nvSpPr>
          <p:cNvPr id="7" name="Text 3"/>
          <p:cNvSpPr txBox="1"/>
          <p:nvPr/>
        </p:nvSpPr>
        <p:spPr>
          <a:xfrm>
            <a:off x="594360" y="1965960"/>
            <a:ext cx="1691640" cy="365760"/>
          </a:xfrm>
          <a:prstGeom prst="rect">
            <a:avLst/>
          </a:prstGeom>
          <a:noFill/>
          <a:ln/>
        </p:spPr>
        <p:txBody>
          <a:bodyPr wrap="square" lIns="0" tIns="0" rIns="0" bIns="0" rtlCol="0" anchor="t"/>
          <a:lstStyle/>
          <a:p>
            <a:pPr algn="ctr" indent="0" marL="0">
              <a:buNone/>
            </a:pPr>
            <a:r>
              <a:rPr lang="en-US" sz="1700" b="1" dirty="0">
                <a:solidFill>
                  <a:schemeClr val="tx1"/>
                </a:solidFill>
                <a:latin typeface="Cambria" pitchFamily="34" charset="0"/>
                <a:ea typeface="Cambria" pitchFamily="34" charset="-122"/>
                <a:cs typeface="Cambria" pitchFamily="34" charset="-120"/>
              </a:rPr>
              <a:t>Generate</a:t>
            </a:r>
            <a:endParaRPr lang="en-US" sz="1700" dirty="0"/>
          </a:p>
        </p:txBody>
      </p:sp>
      <p:sp>
        <p:nvSpPr>
          <p:cNvPr id="8" name="Text 4"/>
          <p:cNvSpPr txBox="1"/>
          <p:nvPr/>
        </p:nvSpPr>
        <p:spPr>
          <a:xfrm>
            <a:off x="612648" y="2377440"/>
            <a:ext cx="1645920" cy="109728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small edits near the error, guided by the grammar and the layout</a:t>
            </a:r>
            <a:endParaRPr lang="en-US" sz="1200" dirty="0"/>
          </a:p>
        </p:txBody>
      </p:sp>
      <p:sp>
        <p:nvSpPr>
          <p:cNvPr id="9" name="stage arrow 1"/>
          <p:cNvSpPr/>
          <p:nvPr/>
        </p:nvSpPr>
        <p:spPr>
          <a:xfrm>
            <a:off x="2395728" y="2331720"/>
            <a:ext cx="192024" cy="0"/>
          </a:xfrm>
          <a:prstGeom prst="line">
            <a:avLst/>
          </a:prstGeom>
          <a:noFill/>
          <a:ln w="19050">
            <a:solidFill>
              <a:srgbClr val="64748B"/>
            </a:solidFill>
            <a:prstDash val="solid"/>
            <a:tailEnd type="triangle"/>
          </a:ln>
        </p:spPr>
      </p:sp>
      <p:sp>
        <p:nvSpPr>
          <p:cNvPr id="10" name="stage Check"/>
          <p:cNvSpPr/>
          <p:nvPr/>
        </p:nvSpPr>
        <p:spPr>
          <a:xfrm>
            <a:off x="2606040" y="1188720"/>
            <a:ext cx="1874520" cy="2331720"/>
          </a:xfrm>
          <a:prstGeom prst="roundRect">
            <a:avLst>
              <a:gd name="adj" fmla="val 4878"/>
            </a:avLst>
          </a:prstGeom>
          <a:solidFill>
            <a:srgbClr val="F1F5F9"/>
          </a:solidFill>
          <a:ln w="12700">
            <a:solidFill>
              <a:srgbClr val="F1F5F9"/>
            </a:solidFill>
            <a:prstDash val="solid"/>
          </a:ln>
        </p:spPr>
      </p:sp>
      <p:sp>
        <p:nvSpPr>
          <p:cNvPr id="11" name="stage 2 circle"/>
          <p:cNvSpPr/>
          <p:nvPr/>
        </p:nvSpPr>
        <p:spPr>
          <a:xfrm>
            <a:off x="3264408" y="1325880"/>
            <a:ext cx="548640" cy="548640"/>
          </a:xfrm>
          <a:prstGeom prst="ellipse">
            <a:avLst/>
          </a:prstGeom>
          <a:solidFill>
            <a:srgbClr val="0F766E"/>
          </a:solidFill>
          <a:ln w="12700">
            <a:solidFill>
              <a:srgbClr val="0F766E"/>
            </a:solidFill>
            <a:prstDash val="solid"/>
          </a:ln>
        </p:spPr>
      </p:sp>
      <p:pic>
        <p:nvPicPr>
          <p:cNvPr id="12" name="stage 2 icon" descr="preencoded.png">    </p:cNvPr>
          <p:cNvPicPr>
            <a:picLocks noChangeAspect="1"/>
          </p:cNvPicPr>
          <p:nvPr/>
        </p:nvPicPr>
        <p:blipFill>
          <a:blip r:embed="rId2"/>
          <a:stretch>
            <a:fillRect/>
          </a:stretch>
        </p:blipFill>
        <p:spPr>
          <a:xfrm>
            <a:off x="3385109" y="1446581"/>
            <a:ext cx="307238" cy="307238"/>
          </a:xfrm>
          <a:prstGeom prst="rect">
            <a:avLst/>
          </a:prstGeom>
        </p:spPr>
      </p:pic>
      <p:sp>
        <p:nvSpPr>
          <p:cNvPr id="13" name="Text 8"/>
          <p:cNvSpPr txBox="1"/>
          <p:nvPr/>
        </p:nvSpPr>
        <p:spPr>
          <a:xfrm>
            <a:off x="2697480" y="1965960"/>
            <a:ext cx="1691640" cy="365760"/>
          </a:xfrm>
          <a:prstGeom prst="rect">
            <a:avLst/>
          </a:prstGeom>
          <a:noFill/>
          <a:ln/>
        </p:spPr>
        <p:txBody>
          <a:bodyPr wrap="square" lIns="0" tIns="0" rIns="0" bIns="0" rtlCol="0" anchor="t"/>
          <a:lstStyle/>
          <a:p>
            <a:pPr algn="ctr" indent="0" marL="0">
              <a:buNone/>
            </a:pPr>
            <a:r>
              <a:rPr lang="en-US" sz="1700" b="1" dirty="0">
                <a:solidFill>
                  <a:schemeClr val="tx1"/>
                </a:solidFill>
                <a:latin typeface="Cambria" pitchFamily="34" charset="0"/>
                <a:ea typeface="Cambria" pitchFamily="34" charset="-122"/>
                <a:cs typeface="Cambria" pitchFamily="34" charset="-120"/>
              </a:rPr>
              <a:t>Check</a:t>
            </a:r>
            <a:endParaRPr lang="en-US" sz="1700" dirty="0"/>
          </a:p>
        </p:txBody>
      </p:sp>
      <p:sp>
        <p:nvSpPr>
          <p:cNvPr id="14" name="Text 9"/>
          <p:cNvSpPr txBox="1"/>
          <p:nvPr/>
        </p:nvSpPr>
        <p:spPr>
          <a:xfrm>
            <a:off x="2715768" y="2377440"/>
            <a:ext cx="1645920" cy="109728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the real parser re-runs on every candidate</a:t>
            </a:r>
            <a:endParaRPr lang="en-US" sz="1200" dirty="0"/>
          </a:p>
        </p:txBody>
      </p:sp>
      <p:sp>
        <p:nvSpPr>
          <p:cNvPr id="15" name="stage arrow 2"/>
          <p:cNvSpPr/>
          <p:nvPr/>
        </p:nvSpPr>
        <p:spPr>
          <a:xfrm>
            <a:off x="4498848" y="2331720"/>
            <a:ext cx="192024" cy="0"/>
          </a:xfrm>
          <a:prstGeom prst="line">
            <a:avLst/>
          </a:prstGeom>
          <a:noFill/>
          <a:ln w="19050">
            <a:solidFill>
              <a:srgbClr val="64748B"/>
            </a:solidFill>
            <a:prstDash val="solid"/>
            <a:tailEnd type="triangle"/>
          </a:ln>
        </p:spPr>
      </p:sp>
      <p:sp>
        <p:nvSpPr>
          <p:cNvPr id="16" name="stage Rank"/>
          <p:cNvSpPr/>
          <p:nvPr/>
        </p:nvSpPr>
        <p:spPr>
          <a:xfrm>
            <a:off x="4709160" y="1188720"/>
            <a:ext cx="1874520" cy="2331720"/>
          </a:xfrm>
          <a:prstGeom prst="roundRect">
            <a:avLst>
              <a:gd name="adj" fmla="val 4878"/>
            </a:avLst>
          </a:prstGeom>
          <a:solidFill>
            <a:srgbClr val="F1F5F9"/>
          </a:solidFill>
          <a:ln w="12700">
            <a:solidFill>
              <a:srgbClr val="F1F5F9"/>
            </a:solidFill>
            <a:prstDash val="solid"/>
          </a:ln>
        </p:spPr>
      </p:sp>
      <p:sp>
        <p:nvSpPr>
          <p:cNvPr id="17" name="stage 3 circle"/>
          <p:cNvSpPr/>
          <p:nvPr/>
        </p:nvSpPr>
        <p:spPr>
          <a:xfrm>
            <a:off x="5367528" y="1325880"/>
            <a:ext cx="548640" cy="548640"/>
          </a:xfrm>
          <a:prstGeom prst="ellipse">
            <a:avLst/>
          </a:prstGeom>
          <a:solidFill>
            <a:srgbClr val="B45309"/>
          </a:solidFill>
          <a:ln w="12700">
            <a:solidFill>
              <a:srgbClr val="B45309"/>
            </a:solidFill>
            <a:prstDash val="solid"/>
          </a:ln>
        </p:spPr>
      </p:sp>
      <p:pic>
        <p:nvPicPr>
          <p:cNvPr id="18" name="stage 3 icon" descr="preencoded.png">    </p:cNvPr>
          <p:cNvPicPr>
            <a:picLocks noChangeAspect="1"/>
          </p:cNvPicPr>
          <p:nvPr/>
        </p:nvPicPr>
        <p:blipFill>
          <a:blip r:embed="rId3"/>
          <a:stretch>
            <a:fillRect/>
          </a:stretch>
        </p:blipFill>
        <p:spPr>
          <a:xfrm>
            <a:off x="5488229" y="1446581"/>
            <a:ext cx="307238" cy="307238"/>
          </a:xfrm>
          <a:prstGeom prst="rect">
            <a:avLst/>
          </a:prstGeom>
        </p:spPr>
      </p:pic>
      <p:sp>
        <p:nvSpPr>
          <p:cNvPr id="19" name="Text 13"/>
          <p:cNvSpPr txBox="1"/>
          <p:nvPr/>
        </p:nvSpPr>
        <p:spPr>
          <a:xfrm>
            <a:off x="4800600" y="1965960"/>
            <a:ext cx="1691640" cy="365760"/>
          </a:xfrm>
          <a:prstGeom prst="rect">
            <a:avLst/>
          </a:prstGeom>
          <a:noFill/>
          <a:ln/>
        </p:spPr>
        <p:txBody>
          <a:bodyPr wrap="square" lIns="0" tIns="0" rIns="0" bIns="0" rtlCol="0" anchor="t"/>
          <a:lstStyle/>
          <a:p>
            <a:pPr algn="ctr" indent="0" marL="0">
              <a:buNone/>
            </a:pPr>
            <a:r>
              <a:rPr lang="en-US" sz="1700" b="1" dirty="0">
                <a:solidFill>
                  <a:schemeClr val="tx1"/>
                </a:solidFill>
                <a:latin typeface="Cambria" pitchFamily="34" charset="0"/>
                <a:ea typeface="Cambria" pitchFamily="34" charset="-122"/>
                <a:cs typeface="Cambria" pitchFamily="34" charset="-120"/>
              </a:rPr>
              <a:t>Rank</a:t>
            </a:r>
            <a:endParaRPr lang="en-US" sz="1700" dirty="0"/>
          </a:p>
        </p:txBody>
      </p:sp>
      <p:sp>
        <p:nvSpPr>
          <p:cNvPr id="20" name="Text 14"/>
          <p:cNvSpPr txBox="1"/>
          <p:nvPr/>
        </p:nvSpPr>
        <p:spPr>
          <a:xfrm>
            <a:off x="4818888" y="2377440"/>
            <a:ext cx="1645920" cy="109728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same program → one option; named, readable evidence</a:t>
            </a:r>
            <a:endParaRPr lang="en-US" sz="1200" dirty="0"/>
          </a:p>
        </p:txBody>
      </p:sp>
      <p:sp>
        <p:nvSpPr>
          <p:cNvPr id="21" name="stage arrow 3"/>
          <p:cNvSpPr/>
          <p:nvPr/>
        </p:nvSpPr>
        <p:spPr>
          <a:xfrm>
            <a:off x="6601968" y="2331720"/>
            <a:ext cx="192024" cy="0"/>
          </a:xfrm>
          <a:prstGeom prst="line">
            <a:avLst/>
          </a:prstGeom>
          <a:noFill/>
          <a:ln w="19050">
            <a:solidFill>
              <a:srgbClr val="64748B"/>
            </a:solidFill>
            <a:prstDash val="solid"/>
            <a:tailEnd type="triangle"/>
          </a:ln>
        </p:spPr>
      </p:sp>
      <p:sp>
        <p:nvSpPr>
          <p:cNvPr id="22" name="stage Decide"/>
          <p:cNvSpPr/>
          <p:nvPr/>
        </p:nvSpPr>
        <p:spPr>
          <a:xfrm>
            <a:off x="6812280" y="1188720"/>
            <a:ext cx="1874520" cy="2331720"/>
          </a:xfrm>
          <a:prstGeom prst="roundRect">
            <a:avLst>
              <a:gd name="adj" fmla="val 4878"/>
            </a:avLst>
          </a:prstGeom>
          <a:solidFill>
            <a:srgbClr val="F1F5F9"/>
          </a:solidFill>
          <a:ln w="12700">
            <a:solidFill>
              <a:srgbClr val="F1F5F9"/>
            </a:solidFill>
            <a:prstDash val="solid"/>
          </a:ln>
        </p:spPr>
      </p:sp>
      <p:sp>
        <p:nvSpPr>
          <p:cNvPr id="23" name="stage 4 circle"/>
          <p:cNvSpPr/>
          <p:nvPr/>
        </p:nvSpPr>
        <p:spPr>
          <a:xfrm>
            <a:off x="7470648" y="1325880"/>
            <a:ext cx="548640" cy="548640"/>
          </a:xfrm>
          <a:prstGeom prst="ellipse">
            <a:avLst/>
          </a:prstGeom>
          <a:solidFill>
            <a:srgbClr val="15803D"/>
          </a:solidFill>
          <a:ln w="12700">
            <a:solidFill>
              <a:srgbClr val="15803D"/>
            </a:solidFill>
            <a:prstDash val="solid"/>
          </a:ln>
        </p:spPr>
      </p:sp>
      <p:pic>
        <p:nvPicPr>
          <p:cNvPr id="24" name="stage 4 icon" descr="preencoded.png">    </p:cNvPr>
          <p:cNvPicPr>
            <a:picLocks noChangeAspect="1"/>
          </p:cNvPicPr>
          <p:nvPr/>
        </p:nvPicPr>
        <p:blipFill>
          <a:blip r:embed="rId4"/>
          <a:stretch>
            <a:fillRect/>
          </a:stretch>
        </p:blipFill>
        <p:spPr>
          <a:xfrm>
            <a:off x="7591349" y="1446581"/>
            <a:ext cx="307238" cy="307238"/>
          </a:xfrm>
          <a:prstGeom prst="rect">
            <a:avLst/>
          </a:prstGeom>
        </p:spPr>
      </p:pic>
      <p:sp>
        <p:nvSpPr>
          <p:cNvPr id="25" name="Text 18"/>
          <p:cNvSpPr txBox="1"/>
          <p:nvPr/>
        </p:nvSpPr>
        <p:spPr>
          <a:xfrm>
            <a:off x="6903720" y="1965960"/>
            <a:ext cx="1691640" cy="365760"/>
          </a:xfrm>
          <a:prstGeom prst="rect">
            <a:avLst/>
          </a:prstGeom>
          <a:noFill/>
          <a:ln/>
        </p:spPr>
        <p:txBody>
          <a:bodyPr wrap="square" lIns="0" tIns="0" rIns="0" bIns="0" rtlCol="0" anchor="t"/>
          <a:lstStyle/>
          <a:p>
            <a:pPr algn="ctr" indent="0" marL="0">
              <a:buNone/>
            </a:pPr>
            <a:r>
              <a:rPr lang="en-US" sz="1700" b="1" dirty="0">
                <a:solidFill>
                  <a:schemeClr val="tx1"/>
                </a:solidFill>
                <a:latin typeface="Cambria" pitchFamily="34" charset="0"/>
                <a:ea typeface="Cambria" pitchFamily="34" charset="-122"/>
                <a:cs typeface="Cambria" pitchFamily="34" charset="-120"/>
              </a:rPr>
              <a:t>Decide</a:t>
            </a:r>
            <a:endParaRPr lang="en-US" sz="1700" dirty="0"/>
          </a:p>
        </p:txBody>
      </p:sp>
      <p:sp>
        <p:nvSpPr>
          <p:cNvPr id="26" name="Text 19"/>
          <p:cNvSpPr txBox="1"/>
          <p:nvPr/>
        </p:nvSpPr>
        <p:spPr>
          <a:xfrm>
            <a:off x="6922008" y="2377440"/>
            <a:ext cx="1645920" cy="1097280"/>
          </a:xfrm>
          <a:prstGeom prst="rect">
            <a:avLst/>
          </a:prstGeom>
          <a:noFill/>
          <a:ln/>
        </p:spPr>
        <p:txBody>
          <a:bodyPr wrap="square" lIns="0" tIns="0" rIns="0" bIns="0" rtlCol="0" anchor="t"/>
          <a:lstStyle/>
          <a:p>
            <a:pPr algn="ctr" indent="0" marL="0">
              <a:buNone/>
            </a:pPr>
            <a:r>
              <a:rPr lang="en-US" sz="1200" dirty="0">
                <a:solidFill>
                  <a:schemeClr val="tx2"/>
                </a:solidFill>
                <a:latin typeface="Calibri" pitchFamily="34" charset="0"/>
                <a:ea typeface="Calibri" pitchFamily="34" charset="-122"/>
                <a:cs typeface="Calibri" pitchFamily="34" charset="-120"/>
              </a:rPr>
              <a:t>recommend only a clear winner; otherwise ask</a:t>
            </a:r>
            <a:endParaRPr lang="en-US" sz="1200" dirty="0"/>
          </a:p>
        </p:txBody>
      </p:sp>
      <p:sp>
        <p:nvSpPr>
          <p:cNvPr id="27" name="Text 20"/>
          <p:cNvSpPr txBox="1"/>
          <p:nvPr/>
        </p:nvSpPr>
        <p:spPr>
          <a:xfrm>
            <a:off x="548640" y="3794760"/>
            <a:ext cx="8046720" cy="548640"/>
          </a:xfrm>
          <a:prstGeom prst="rect">
            <a:avLst/>
          </a:prstGeom>
          <a:noFill/>
          <a:ln/>
        </p:spPr>
        <p:txBody>
          <a:bodyPr wrap="square" lIns="0" tIns="0" rIns="0" bIns="0" rtlCol="0" anchor="t"/>
          <a:lstStyle/>
          <a:p>
            <a:pPr algn="ctr" indent="0" marL="0">
              <a:buNone/>
            </a:pPr>
            <a:r>
              <a:rPr lang="en-US" sz="1300" b="1" dirty="0">
                <a:solidFill>
                  <a:schemeClr val="tx1"/>
                </a:solidFill>
                <a:latin typeface="Calibri" pitchFamily="34" charset="0"/>
                <a:ea typeface="Calibri" pitchFamily="34" charset="-122"/>
                <a:cs typeface="Calibri" pitchFamily="34" charset="-120"/>
              </a:rPr>
              <a:t>The score ranks options; it is not a probability. </a:t>
            </a:r>
            <a:pPr algn="ctr" indent="0" marL="0">
              <a:buNone/>
            </a:pPr>
            <a:r>
              <a:rPr lang="en-US" sz="1300" dirty="0">
                <a:solidFill>
                  <a:schemeClr val="tx1"/>
                </a:solidFill>
                <a:latin typeface="Calibri" pitchFamily="34" charset="0"/>
                <a:ea typeface="Calibri" pitchFamily="34" charset="-122"/>
                <a:cs typeface="Calibri" pitchFamily="34" charset="-120"/>
              </a:rPr>
              <a:t>A fix is recommended only if it clearly leads every different alternative.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One error at a time, re-checked every time</a:t>
            </a:r>
            <a:endParaRPr lang="en-US" sz="2800" dirty="0"/>
          </a:p>
        </p:txBody>
      </p:sp>
      <p:sp>
        <p:nvSpPr>
          <p:cNvPr id="4" name="loop step 1"/>
          <p:cNvSpPr/>
          <p:nvPr/>
        </p:nvSpPr>
        <p:spPr>
          <a:xfrm>
            <a:off x="1810512" y="1280160"/>
            <a:ext cx="1133856" cy="365760"/>
          </a:xfrm>
          <a:prstGeom prst="roundRect">
            <a:avLst>
              <a:gd name="adj" fmla="val 20000"/>
            </a:avLst>
          </a:prstGeom>
          <a:solidFill>
            <a:srgbClr val="0F766E"/>
          </a:solidFill>
          <a:ln w="12700">
            <a:solidFill>
              <a:srgbClr val="0F766E"/>
            </a:solidFill>
            <a:prstDash val="solid"/>
          </a:ln>
        </p:spPr>
      </p:sp>
      <p:sp>
        <p:nvSpPr>
          <p:cNvPr id="5" name="Text 2"/>
          <p:cNvSpPr txBox="1"/>
          <p:nvPr/>
        </p:nvSpPr>
        <p:spPr>
          <a:xfrm>
            <a:off x="1810512" y="1280160"/>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Analyse</a:t>
            </a:r>
            <a:endParaRPr lang="en-US" sz="1100" dirty="0"/>
          </a:p>
        </p:txBody>
      </p:sp>
      <p:sp>
        <p:nvSpPr>
          <p:cNvPr id="6" name="loop step 2"/>
          <p:cNvSpPr/>
          <p:nvPr/>
        </p:nvSpPr>
        <p:spPr>
          <a:xfrm>
            <a:off x="3061599" y="1779367"/>
            <a:ext cx="1133856" cy="365760"/>
          </a:xfrm>
          <a:prstGeom prst="roundRect">
            <a:avLst>
              <a:gd name="adj" fmla="val 20000"/>
            </a:avLst>
          </a:prstGeom>
          <a:solidFill>
            <a:srgbClr val="0F766E"/>
          </a:solidFill>
          <a:ln w="12700">
            <a:solidFill>
              <a:srgbClr val="0F766E"/>
            </a:solidFill>
            <a:prstDash val="solid"/>
          </a:ln>
        </p:spPr>
      </p:sp>
      <p:sp>
        <p:nvSpPr>
          <p:cNvPr id="7" name="Text 4"/>
          <p:cNvSpPr txBox="1"/>
          <p:nvPr/>
        </p:nvSpPr>
        <p:spPr>
          <a:xfrm>
            <a:off x="3061599" y="1779367"/>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Explain</a:t>
            </a:r>
            <a:endParaRPr lang="en-US" sz="1100" dirty="0"/>
          </a:p>
        </p:txBody>
      </p:sp>
      <p:sp>
        <p:nvSpPr>
          <p:cNvPr id="8" name="loop step 3"/>
          <p:cNvSpPr/>
          <p:nvPr/>
        </p:nvSpPr>
        <p:spPr>
          <a:xfrm>
            <a:off x="3370592" y="2901076"/>
            <a:ext cx="1133856" cy="365760"/>
          </a:xfrm>
          <a:prstGeom prst="roundRect">
            <a:avLst>
              <a:gd name="adj" fmla="val 20000"/>
            </a:avLst>
          </a:prstGeom>
          <a:solidFill>
            <a:srgbClr val="4F46E5"/>
          </a:solidFill>
          <a:ln w="12700">
            <a:solidFill>
              <a:srgbClr val="4F46E5"/>
            </a:solidFill>
            <a:prstDash val="solid"/>
          </a:ln>
        </p:spPr>
      </p:sp>
      <p:sp>
        <p:nvSpPr>
          <p:cNvPr id="9" name="Text 6"/>
          <p:cNvSpPr txBox="1"/>
          <p:nvPr/>
        </p:nvSpPr>
        <p:spPr>
          <a:xfrm>
            <a:off x="3370592" y="2901076"/>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Propose</a:t>
            </a:r>
            <a:endParaRPr lang="en-US" sz="1100" dirty="0"/>
          </a:p>
        </p:txBody>
      </p:sp>
      <p:sp>
        <p:nvSpPr>
          <p:cNvPr id="10" name="loop step 4"/>
          <p:cNvSpPr/>
          <p:nvPr/>
        </p:nvSpPr>
        <p:spPr>
          <a:xfrm>
            <a:off x="2504813" y="3800617"/>
            <a:ext cx="1133856" cy="365760"/>
          </a:xfrm>
          <a:prstGeom prst="roundRect">
            <a:avLst>
              <a:gd name="adj" fmla="val 20000"/>
            </a:avLst>
          </a:prstGeom>
          <a:solidFill>
            <a:srgbClr val="B45309"/>
          </a:solidFill>
          <a:ln w="12700">
            <a:solidFill>
              <a:srgbClr val="B45309"/>
            </a:solidFill>
            <a:prstDash val="solid"/>
          </a:ln>
        </p:spPr>
      </p:sp>
      <p:sp>
        <p:nvSpPr>
          <p:cNvPr id="11" name="Text 8"/>
          <p:cNvSpPr txBox="1"/>
          <p:nvPr/>
        </p:nvSpPr>
        <p:spPr>
          <a:xfrm>
            <a:off x="2504813" y="3800617"/>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You confirm</a:t>
            </a:r>
            <a:endParaRPr lang="en-US" sz="1100" dirty="0"/>
          </a:p>
        </p:txBody>
      </p:sp>
      <p:sp>
        <p:nvSpPr>
          <p:cNvPr id="12" name="loop step 5"/>
          <p:cNvSpPr/>
          <p:nvPr/>
        </p:nvSpPr>
        <p:spPr>
          <a:xfrm>
            <a:off x="1116211" y="3800617"/>
            <a:ext cx="1133856" cy="365760"/>
          </a:xfrm>
          <a:prstGeom prst="roundRect">
            <a:avLst>
              <a:gd name="adj" fmla="val 20000"/>
            </a:avLst>
          </a:prstGeom>
          <a:solidFill>
            <a:srgbClr val="B45309"/>
          </a:solidFill>
          <a:ln w="12700">
            <a:solidFill>
              <a:srgbClr val="B45309"/>
            </a:solidFill>
            <a:prstDash val="solid"/>
          </a:ln>
        </p:spPr>
      </p:sp>
      <p:sp>
        <p:nvSpPr>
          <p:cNvPr id="13" name="Text 10"/>
          <p:cNvSpPr txBox="1"/>
          <p:nvPr/>
        </p:nvSpPr>
        <p:spPr>
          <a:xfrm>
            <a:off x="1116211" y="3800617"/>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Apply</a:t>
            </a:r>
            <a:endParaRPr lang="en-US" sz="1100" dirty="0"/>
          </a:p>
        </p:txBody>
      </p:sp>
      <p:sp>
        <p:nvSpPr>
          <p:cNvPr id="14" name="loop step 6"/>
          <p:cNvSpPr/>
          <p:nvPr/>
        </p:nvSpPr>
        <p:spPr>
          <a:xfrm>
            <a:off x="250432" y="2901076"/>
            <a:ext cx="1133856" cy="365760"/>
          </a:xfrm>
          <a:prstGeom prst="roundRect">
            <a:avLst>
              <a:gd name="adj" fmla="val 20000"/>
            </a:avLst>
          </a:prstGeom>
          <a:solidFill>
            <a:srgbClr val="15803D"/>
          </a:solidFill>
          <a:ln w="12700">
            <a:solidFill>
              <a:srgbClr val="15803D"/>
            </a:solidFill>
            <a:prstDash val="solid"/>
          </a:ln>
        </p:spPr>
      </p:sp>
      <p:sp>
        <p:nvSpPr>
          <p:cNvPr id="15" name="Text 12"/>
          <p:cNvSpPr txBox="1"/>
          <p:nvPr/>
        </p:nvSpPr>
        <p:spPr>
          <a:xfrm>
            <a:off x="250432" y="2901076"/>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Re-analyse all</a:t>
            </a:r>
            <a:endParaRPr lang="en-US" sz="1100" dirty="0"/>
          </a:p>
        </p:txBody>
      </p:sp>
      <p:sp>
        <p:nvSpPr>
          <p:cNvPr id="16" name="loop step 7"/>
          <p:cNvSpPr/>
          <p:nvPr/>
        </p:nvSpPr>
        <p:spPr>
          <a:xfrm>
            <a:off x="559425" y="1779367"/>
            <a:ext cx="1133856" cy="365760"/>
          </a:xfrm>
          <a:prstGeom prst="roundRect">
            <a:avLst>
              <a:gd name="adj" fmla="val 20000"/>
            </a:avLst>
          </a:prstGeom>
          <a:solidFill>
            <a:srgbClr val="4F46E5"/>
          </a:solidFill>
          <a:ln w="12700">
            <a:solidFill>
              <a:srgbClr val="4F46E5"/>
            </a:solidFill>
            <a:prstDash val="solid"/>
          </a:ln>
        </p:spPr>
      </p:sp>
      <p:sp>
        <p:nvSpPr>
          <p:cNvPr id="17" name="Text 14"/>
          <p:cNvSpPr txBox="1"/>
          <p:nvPr/>
        </p:nvSpPr>
        <p:spPr>
          <a:xfrm>
            <a:off x="559425" y="1779367"/>
            <a:ext cx="1133856" cy="36576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Next error</a:t>
            </a:r>
            <a:endParaRPr lang="en-US" sz="1100" dirty="0"/>
          </a:p>
        </p:txBody>
      </p:sp>
      <p:sp>
        <p:nvSpPr>
          <p:cNvPr id="18" name="Text 15"/>
          <p:cNvSpPr txBox="1"/>
          <p:nvPr/>
        </p:nvSpPr>
        <p:spPr>
          <a:xfrm>
            <a:off x="1554480" y="2624328"/>
            <a:ext cx="1645920" cy="329184"/>
          </a:xfrm>
          <a:prstGeom prst="rect">
            <a:avLst/>
          </a:prstGeom>
          <a:noFill/>
          <a:ln/>
        </p:spPr>
        <p:txBody>
          <a:bodyPr wrap="square" lIns="0" tIns="0" rIns="0" bIns="0" rtlCol="0" anchor="ctr"/>
          <a:lstStyle/>
          <a:p>
            <a:pPr algn="ctr" indent="0" marL="0">
              <a:buNone/>
            </a:pPr>
            <a:r>
              <a:rPr lang="en-US" sz="1100" i="1" dirty="0">
                <a:solidFill>
                  <a:schemeClr val="accent6"/>
                </a:solidFill>
                <a:latin typeface="Calibri" pitchFamily="34" charset="0"/>
                <a:ea typeface="Calibri" pitchFamily="34" charset="-122"/>
                <a:cs typeface="Calibri" pitchFamily="34" charset="-120"/>
              </a:rPr>
              <a:t>until every check passes</a:t>
            </a:r>
            <a:endParaRPr lang="en-US" sz="1100" dirty="0"/>
          </a:p>
        </p:txBody>
      </p:sp>
      <p:sp>
        <p:nvSpPr>
          <p:cNvPr id="19" name="After one fix: what changed and the next error (real run) frame"/>
          <p:cNvSpPr/>
          <p:nvPr/>
        </p:nvSpPr>
        <p:spPr>
          <a:xfrm>
            <a:off x="4535424" y="1060704"/>
            <a:ext cx="4187952" cy="3437577"/>
          </a:xfrm>
          <a:prstGeom prst="roundRect">
            <a:avLst>
              <a:gd name="adj" fmla="val 2128"/>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20" name="After one fix: what changed and the next error (real run)" descr="After one fix: what changed and the next error (real run)">    </p:cNvPr>
          <p:cNvPicPr>
            <a:picLocks noChangeAspect="1"/>
          </p:cNvPicPr>
          <p:nvPr/>
        </p:nvPicPr>
        <p:blipFill>
          <a:blip r:embed="rId1"/>
          <a:stretch>
            <a:fillRect/>
          </a:stretch>
        </p:blipFill>
        <p:spPr>
          <a:xfrm>
            <a:off x="4572000" y="1097280"/>
            <a:ext cx="4114800" cy="3364425"/>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Asking instead of guessing</a:t>
            </a:r>
            <a:endParaRPr lang="en-US" sz="2800" dirty="0"/>
          </a:p>
        </p:txBody>
      </p:sp>
      <p:sp>
        <p:nvSpPr>
          <p:cNvPr id="4" name="The clarification question (real run) frame"/>
          <p:cNvSpPr/>
          <p:nvPr/>
        </p:nvSpPr>
        <p:spPr>
          <a:xfrm>
            <a:off x="420624" y="1014984"/>
            <a:ext cx="3103519" cy="3685032"/>
          </a:xfrm>
          <a:prstGeom prst="roundRect">
            <a:avLst>
              <a:gd name="adj" fmla="val 2357"/>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5" name="The clarification question (real run)" descr="The clarification question (real run)">    </p:cNvPr>
          <p:cNvPicPr>
            <a:picLocks noChangeAspect="1"/>
          </p:cNvPicPr>
          <p:nvPr/>
        </p:nvPicPr>
        <p:blipFill>
          <a:blip r:embed="rId1"/>
          <a:stretch>
            <a:fillRect/>
          </a:stretch>
        </p:blipFill>
        <p:spPr>
          <a:xfrm>
            <a:off x="457200" y="1051560"/>
            <a:ext cx="3030367" cy="3611880"/>
          </a:xfrm>
          <a:prstGeom prst="rect">
            <a:avLst/>
          </a:prstGeom>
        </p:spPr>
      </p:pic>
      <p:sp>
        <p:nvSpPr>
          <p:cNvPr id="6" name="Text 2"/>
          <p:cNvSpPr txBox="1"/>
          <p:nvPr/>
        </p:nvSpPr>
        <p:spPr>
          <a:xfrm>
            <a:off x="4389120" y="1188720"/>
            <a:ext cx="4297680" cy="32004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The code alone cannot say what was meant</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 short question in plain words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Real alternatives — or type your own value or line</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Every answer is checked by the real parser first</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Missing values are never invented</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Safe repairs: parsing is not meaning</a:t>
            </a:r>
            <a:endParaRPr lang="en-US" sz="2800" dirty="0"/>
          </a:p>
        </p:txBody>
      </p:sp>
      <p:sp>
        <p:nvSpPr>
          <p:cNvPr id="4" name="Text 1"/>
          <p:cNvSpPr txBox="1"/>
          <p:nvPr/>
        </p:nvSpPr>
        <p:spPr>
          <a:xfrm>
            <a:off x="457200" y="1051560"/>
            <a:ext cx="4023360" cy="2743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Parses, but changes the program</a:t>
            </a:r>
            <a:endParaRPr lang="en-US" sz="1300" dirty="0"/>
          </a:p>
        </p:txBody>
      </p:sp>
      <p:sp>
        <p:nvSpPr>
          <p:cNvPr id="5" name="Warning on a destructive plan (real run) frame"/>
          <p:cNvSpPr/>
          <p:nvPr/>
        </p:nvSpPr>
        <p:spPr>
          <a:xfrm>
            <a:off x="420624" y="1335024"/>
            <a:ext cx="4096512" cy="1365656"/>
          </a:xfrm>
          <a:prstGeom prst="roundRect">
            <a:avLst>
              <a:gd name="adj" fmla="val 5357"/>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6" name="Warning on a destructive plan (real run)" descr="Warning on a destructive plan (real run)">    </p:cNvPr>
          <p:cNvPicPr>
            <a:picLocks noChangeAspect="1"/>
          </p:cNvPicPr>
          <p:nvPr/>
        </p:nvPicPr>
        <p:blipFill>
          <a:blip r:embed="rId1"/>
          <a:stretch>
            <a:fillRect/>
          </a:stretch>
        </p:blipFill>
        <p:spPr>
          <a:xfrm>
            <a:off x="457200" y="1371600"/>
            <a:ext cx="4023360" cy="1292504"/>
          </a:xfrm>
          <a:prstGeom prst="rect">
            <a:avLst/>
          </a:prstGeom>
        </p:spPr>
      </p:pic>
      <p:sp>
        <p:nvSpPr>
          <p:cNvPr id="7" name="Text 3"/>
          <p:cNvSpPr txBox="1"/>
          <p:nvPr/>
        </p:nvSpPr>
        <p:spPr>
          <a:xfrm>
            <a:off x="4663440" y="1051560"/>
            <a:ext cx="402336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Unsupported C: explain and rewrite</a:t>
            </a:r>
            <a:endParaRPr lang="en-US" sz="1300" dirty="0"/>
          </a:p>
        </p:txBody>
      </p:sp>
      <p:sp>
        <p:nvSpPr>
          <p:cNvPr id="8" name="Rewrite for ++ (real run) frame"/>
          <p:cNvSpPr/>
          <p:nvPr/>
        </p:nvSpPr>
        <p:spPr>
          <a:xfrm>
            <a:off x="4626864" y="1335024"/>
            <a:ext cx="4096512" cy="1799504"/>
          </a:xfrm>
          <a:prstGeom prst="roundRect">
            <a:avLst>
              <a:gd name="adj" fmla="val 4065"/>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9" name="Rewrite for ++ (real run)" descr="Rewrite for ++ (real run)">    </p:cNvPr>
          <p:cNvPicPr>
            <a:picLocks noChangeAspect="1"/>
          </p:cNvPicPr>
          <p:nvPr/>
        </p:nvPicPr>
        <p:blipFill>
          <a:blip r:embed="rId2"/>
          <a:stretch>
            <a:fillRect/>
          </a:stretch>
        </p:blipFill>
        <p:spPr>
          <a:xfrm>
            <a:off x="4663440" y="1371600"/>
            <a:ext cx="4023360" cy="1726352"/>
          </a:xfrm>
          <a:prstGeom prst="rect">
            <a:avLst/>
          </a:prstGeom>
        </p:spPr>
      </p:pic>
      <p:sp>
        <p:nvSpPr>
          <p:cNvPr id="10" name="Text 5"/>
          <p:cNvSpPr txBox="1"/>
          <p:nvPr/>
        </p:nvSpPr>
        <p:spPr>
          <a:xfrm>
            <a:off x="548640" y="3520440"/>
            <a:ext cx="8046720" cy="10972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Removing an operator, name or value is flagged and never recommended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Punctuation-only fixes (a missing ;) stay recommended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parser accepts it” is kept apart from “it is what you meant”</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Step 4 · The tree: what a fix changes</a:t>
            </a:r>
            <a:endParaRPr lang="en-US" sz="2800" dirty="0"/>
          </a:p>
        </p:txBody>
      </p:sp>
      <p:sp>
        <p:nvSpPr>
          <p:cNvPr id="4" name="AST Explorer: tree and node card (real run) frame"/>
          <p:cNvSpPr/>
          <p:nvPr/>
        </p:nvSpPr>
        <p:spPr>
          <a:xfrm>
            <a:off x="420624" y="1014984"/>
            <a:ext cx="3790706" cy="3639312"/>
          </a:xfrm>
          <a:prstGeom prst="roundRect">
            <a:avLst>
              <a:gd name="adj" fmla="val 2010"/>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5" name="AST Explorer: tree and node card (real run)" descr="AST Explorer: tree and node card (real run)">    </p:cNvPr>
          <p:cNvPicPr>
            <a:picLocks noChangeAspect="1"/>
          </p:cNvPicPr>
          <p:nvPr/>
        </p:nvPicPr>
        <p:blipFill>
          <a:blip r:embed="rId1"/>
          <a:stretch>
            <a:fillRect/>
          </a:stretch>
        </p:blipFill>
        <p:spPr>
          <a:xfrm>
            <a:off x="457200" y="1051560"/>
            <a:ext cx="3717554" cy="3566160"/>
          </a:xfrm>
          <a:prstGeom prst="rect">
            <a:avLst/>
          </a:prstGeom>
        </p:spPr>
      </p:pic>
      <p:sp>
        <p:nvSpPr>
          <p:cNvPr id="6" name="Text 2"/>
          <p:cNvSpPr txBox="1"/>
          <p:nvPr/>
        </p:nvSpPr>
        <p:spPr>
          <a:xfrm>
            <a:off x="5577840" y="1188720"/>
            <a:ext cx="3108960" cy="32918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latin typeface="Calibri" pitchFamily="34" charset="0"/>
                <a:ea typeface="Calibri" pitchFamily="34" charset="-122"/>
                <a:cs typeface="Calibri" pitchFamily="34" charset="-120"/>
              </a:rPr>
              <a:t>Errors → a partial tree, labelled; nothing invented</a:t>
            </a:r>
            <a:endParaRPr lang="en-US" sz="1350" dirty="0"/>
          </a:p>
          <a:p>
            <a:pPr marL="342900" indent="-342900">
              <a:spcAft>
                <a:spcPts val="600"/>
              </a:spcAft>
              <a:buSzPct val="100000"/>
              <a:buChar char="•"/>
            </a:pPr>
            <a:r>
              <a:rPr lang="en-US" sz="1350" dirty="0">
                <a:solidFill>
                  <a:schemeClr val="tx1"/>
                </a:solidFill>
                <a:latin typeface="Calibri" pitchFamily="34" charset="0"/>
                <a:ea typeface="Calibri" pitchFamily="34" charset="-122"/>
                <a:cs typeface="Calibri" pitchFamily="34" charset="-120"/>
              </a:rPr>
              <a:t>After a fix: the complete tree and what changed</a:t>
            </a:r>
            <a:endParaRPr lang="en-US" sz="1350" dirty="0"/>
          </a:p>
          <a:p>
            <a:pPr marL="342900" indent="-342900">
              <a:spcAft>
                <a:spcPts val="600"/>
              </a:spcAft>
              <a:buSzPct val="100000"/>
              <a:buChar char="•"/>
            </a:pPr>
            <a:r>
              <a:rPr lang="en-US" sz="1350" dirty="0">
                <a:solidFill>
                  <a:schemeClr val="tx1"/>
                </a:solidFill>
                <a:latin typeface="Calibri" pitchFamily="34" charset="0"/>
                <a:ea typeface="Calibri" pitchFamily="34" charset="-122"/>
                <a:cs typeface="Calibri" pitchFamily="34" charset="-120"/>
              </a:rPr>
              <a:t>Click a node ↔ its code</a:t>
            </a:r>
            <a:endParaRPr lang="en-US" sz="1350" dirty="0"/>
          </a:p>
          <a:p>
            <a:pPr marL="342900" indent="-342900">
              <a:spcAft>
                <a:spcPts val="600"/>
              </a:spcAft>
              <a:buSzPct val="100000"/>
              <a:buChar char="•"/>
            </a:pPr>
            <a:r>
              <a:rPr lang="en-US" sz="1350" dirty="0">
                <a:solidFill>
                  <a:schemeClr val="tx1"/>
                </a:solidFill>
                <a:latin typeface="Calibri" pitchFamily="34" charset="0"/>
                <a:ea typeface="Calibri" pitchFamily="34" charset="-122"/>
                <a:cs typeface="Calibri" pitchFamily="34" charset="-120"/>
              </a:rPr>
              <a:t>Each node: its role, its grammar rule, an expression diagram</a:t>
            </a:r>
            <a:endParaRPr lang="en-US" sz="13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Step 5 · Verify, and finish honestly</a:t>
            </a:r>
            <a:endParaRPr lang="en-US" sz="2800" dirty="0"/>
          </a:p>
        </p:txBody>
      </p:sp>
      <p:sp>
        <p:nvSpPr>
          <p:cNvPr id="4" name="Completion summary (real run) frame"/>
          <p:cNvSpPr/>
          <p:nvPr/>
        </p:nvSpPr>
        <p:spPr>
          <a:xfrm>
            <a:off x="420624" y="1014984"/>
            <a:ext cx="4279392" cy="3281726"/>
          </a:xfrm>
          <a:prstGeom prst="roundRect">
            <a:avLst>
              <a:gd name="adj" fmla="val 2229"/>
            </a:avLst>
          </a:prstGeom>
          <a:solidFill>
            <a:srgbClr val="F1F5F9"/>
          </a:solidFill>
          <a:ln w="9525">
            <a:solidFill>
              <a:srgbClr val="CBD5E1"/>
            </a:solidFill>
            <a:prstDash val="solid"/>
          </a:ln>
          <a:effectLst>
            <a:outerShdw sx="100000" sy="100000" kx="0" ky="0" algn="bl" rotWithShape="0" blurRad="76200" dist="25400" dir="5400000">
              <a:srgbClr val="000000">
                <a:alpha val="18000"/>
              </a:srgbClr>
            </a:outerShdw>
          </a:effectLst>
        </p:spPr>
      </p:sp>
      <p:pic>
        <p:nvPicPr>
          <p:cNvPr id="5" name="Completion summary (real run)" descr="Completion summary (real run)">    </p:cNvPr>
          <p:cNvPicPr>
            <a:picLocks noChangeAspect="1"/>
          </p:cNvPicPr>
          <p:nvPr/>
        </p:nvPicPr>
        <p:blipFill>
          <a:blip r:embed="rId1"/>
          <a:stretch>
            <a:fillRect/>
          </a:stretch>
        </p:blipFill>
        <p:spPr>
          <a:xfrm>
            <a:off x="457200" y="1051560"/>
            <a:ext cx="4206240" cy="3208574"/>
          </a:xfrm>
          <a:prstGeom prst="rect">
            <a:avLst/>
          </a:prstGeom>
        </p:spPr>
      </p:pic>
      <p:sp>
        <p:nvSpPr>
          <p:cNvPr id="6" name="Text 2"/>
          <p:cNvSpPr txBox="1"/>
          <p:nvPr/>
        </p:nvSpPr>
        <p:spPr>
          <a:xfrm>
            <a:off x="4983480" y="1143000"/>
            <a:ext cx="37033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only when the latest code passes every check IntelliFix really performs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Lists the corrections made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States what is not checked: types, run-time, code generation</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wrong variable name blocks completion</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Undo restores any earlier version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Research in brief</a:t>
            </a:r>
            <a:endParaRPr lang="en-US" sz="2800" dirty="0"/>
          </a:p>
        </p:txBody>
      </p:sp>
      <p:sp>
        <p:nvSpPr>
          <p:cNvPr id="4" name="Text 1"/>
          <p:cNvSpPr txBox="1"/>
          <p:nvPr/>
        </p:nvSpPr>
        <p:spPr>
          <a:xfrm>
            <a:off x="731520" y="1097280"/>
            <a:ext cx="7680960" cy="594360"/>
          </a:xfrm>
          <a:prstGeom prst="rect">
            <a:avLst/>
          </a:prstGeom>
          <a:noFill/>
          <a:ln/>
        </p:spPr>
        <p:txBody>
          <a:bodyPr wrap="square" lIns="0" tIns="0" rIns="0" bIns="0" rtlCol="0" anchor="t"/>
          <a:lstStyle/>
          <a:p>
            <a:pPr algn="ctr" indent="0" marL="0">
              <a:buNone/>
            </a:pPr>
            <a:r>
              <a:rPr lang="en-US" sz="1800" i="1" dirty="0">
                <a:solidFill>
                  <a:schemeClr val="tx2"/>
                </a:solidFill>
                <a:latin typeface="Cambria" pitchFamily="34" charset="0"/>
                <a:ea typeface="Cambria" pitchFamily="34" charset="-122"/>
                <a:cs typeface="Cambria" pitchFamily="34" charset="-120"/>
              </a:rPr>
              <a:t>Does ranking by evidence, and asking when unsure, beat simply taking the cheapest edit?</a:t>
            </a:r>
            <a:endParaRPr lang="en-US" sz="1800" dirty="0"/>
          </a:p>
        </p:txBody>
      </p:sp>
      <p:sp>
        <p:nvSpPr>
          <p:cNvPr id="5" name="takeaway 1"/>
          <p:cNvSpPr/>
          <p:nvPr/>
        </p:nvSpPr>
        <p:spPr>
          <a:xfrm>
            <a:off x="731520" y="1920240"/>
            <a:ext cx="3657600" cy="1691640"/>
          </a:xfrm>
          <a:prstGeom prst="roundRect">
            <a:avLst>
              <a:gd name="adj" fmla="val 5405"/>
            </a:avLst>
          </a:prstGeom>
          <a:solidFill>
            <a:srgbClr val="F1F5F9"/>
          </a:solidFill>
          <a:ln w="12700">
            <a:solidFill>
              <a:srgbClr val="F1F5F9"/>
            </a:solidFill>
            <a:prstDash val="solid"/>
          </a:ln>
        </p:spPr>
      </p:sp>
      <p:sp>
        <p:nvSpPr>
          <p:cNvPr id="6" name="takeaway 1 circle"/>
          <p:cNvSpPr/>
          <p:nvPr/>
        </p:nvSpPr>
        <p:spPr>
          <a:xfrm>
            <a:off x="914400" y="2103120"/>
            <a:ext cx="502920" cy="502920"/>
          </a:xfrm>
          <a:prstGeom prst="ellipse">
            <a:avLst/>
          </a:prstGeom>
          <a:solidFill>
            <a:srgbClr val="0F766E"/>
          </a:solidFill>
          <a:ln w="12700">
            <a:solidFill>
              <a:srgbClr val="0F766E"/>
            </a:solidFill>
            <a:prstDash val="solid"/>
          </a:ln>
        </p:spPr>
      </p:sp>
      <p:pic>
        <p:nvPicPr>
          <p:cNvPr id="7" name="takeaway 1 icon" descr="preencoded.png">    </p:cNvPr>
          <p:cNvPicPr>
            <a:picLocks noChangeAspect="1"/>
          </p:cNvPicPr>
          <p:nvPr/>
        </p:nvPicPr>
        <p:blipFill>
          <a:blip r:embed="rId1"/>
          <a:stretch>
            <a:fillRect/>
          </a:stretch>
        </p:blipFill>
        <p:spPr>
          <a:xfrm>
            <a:off x="1025042" y="2213762"/>
            <a:ext cx="281635" cy="281635"/>
          </a:xfrm>
          <a:prstGeom prst="rect">
            <a:avLst/>
          </a:prstGeom>
        </p:spPr>
      </p:pic>
      <p:sp>
        <p:nvSpPr>
          <p:cNvPr id="8" name="Text 4"/>
          <p:cNvSpPr txBox="1"/>
          <p:nvPr/>
        </p:nvSpPr>
        <p:spPr>
          <a:xfrm>
            <a:off x="1554480" y="2103120"/>
            <a:ext cx="274320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Better first suggestions</a:t>
            </a:r>
            <a:endParaRPr lang="en-US" sz="1600" dirty="0"/>
          </a:p>
        </p:txBody>
      </p:sp>
      <p:sp>
        <p:nvSpPr>
          <p:cNvPr id="9" name="Text 5"/>
          <p:cNvSpPr txBox="1"/>
          <p:nvPr/>
        </p:nvSpPr>
        <p:spPr>
          <a:xfrm>
            <a:off x="1554480" y="2542032"/>
            <a:ext cx="2743200" cy="1005840"/>
          </a:xfrm>
          <a:prstGeom prst="rect">
            <a:avLst/>
          </a:prstGeom>
          <a:noFill/>
          <a:ln/>
        </p:spPr>
        <p:txBody>
          <a:bodyPr wrap="square" lIns="0" tIns="0" rIns="0" bIns="0" rtlCol="0" anchor="t"/>
          <a:lstStyle/>
          <a:p>
            <a:pPr indent="0" marL="0">
              <a:buNone/>
            </a:pPr>
            <a:r>
              <a:rPr lang="en-US" sz="1250" dirty="0">
                <a:solidFill>
                  <a:schemeClr val="tx2"/>
                </a:solidFill>
                <a:latin typeface="Calibri" pitchFamily="34" charset="0"/>
                <a:ea typeface="Calibri" pitchFamily="34" charset="-122"/>
                <a:cs typeface="Calibri" pitchFamily="34" charset="-120"/>
              </a:rPr>
              <a:t>The top fix matched the intended program clearly more often than the cheapest-edit baseline.</a:t>
            </a:r>
            <a:endParaRPr lang="en-US" sz="1250" dirty="0"/>
          </a:p>
        </p:txBody>
      </p:sp>
      <p:sp>
        <p:nvSpPr>
          <p:cNvPr id="10" name="takeaway 2"/>
          <p:cNvSpPr/>
          <p:nvPr/>
        </p:nvSpPr>
        <p:spPr>
          <a:xfrm>
            <a:off x="4663440" y="1920240"/>
            <a:ext cx="3657600" cy="1691640"/>
          </a:xfrm>
          <a:prstGeom prst="roundRect">
            <a:avLst>
              <a:gd name="adj" fmla="val 5405"/>
            </a:avLst>
          </a:prstGeom>
          <a:solidFill>
            <a:srgbClr val="F1F5F9"/>
          </a:solidFill>
          <a:ln w="12700">
            <a:solidFill>
              <a:srgbClr val="F1F5F9"/>
            </a:solidFill>
            <a:prstDash val="solid"/>
          </a:ln>
        </p:spPr>
      </p:sp>
      <p:sp>
        <p:nvSpPr>
          <p:cNvPr id="11" name="takeaway 2 circle"/>
          <p:cNvSpPr/>
          <p:nvPr/>
        </p:nvSpPr>
        <p:spPr>
          <a:xfrm>
            <a:off x="4846320" y="2103120"/>
            <a:ext cx="502920" cy="502920"/>
          </a:xfrm>
          <a:prstGeom prst="ellipse">
            <a:avLst/>
          </a:prstGeom>
          <a:solidFill>
            <a:srgbClr val="15803D"/>
          </a:solidFill>
          <a:ln w="12700">
            <a:solidFill>
              <a:srgbClr val="15803D"/>
            </a:solidFill>
            <a:prstDash val="solid"/>
          </a:ln>
        </p:spPr>
      </p:sp>
      <p:pic>
        <p:nvPicPr>
          <p:cNvPr id="12" name="takeaway 2 icon" descr="preencoded.png">    </p:cNvPr>
          <p:cNvPicPr>
            <a:picLocks noChangeAspect="1"/>
          </p:cNvPicPr>
          <p:nvPr/>
        </p:nvPicPr>
        <p:blipFill>
          <a:blip r:embed="rId2"/>
          <a:stretch>
            <a:fillRect/>
          </a:stretch>
        </p:blipFill>
        <p:spPr>
          <a:xfrm>
            <a:off x="4956962" y="2213762"/>
            <a:ext cx="281635" cy="281635"/>
          </a:xfrm>
          <a:prstGeom prst="rect">
            <a:avLst/>
          </a:prstGeom>
        </p:spPr>
      </p:pic>
      <p:sp>
        <p:nvSpPr>
          <p:cNvPr id="13" name="Text 8"/>
          <p:cNvSpPr txBox="1"/>
          <p:nvPr/>
        </p:nvSpPr>
        <p:spPr>
          <a:xfrm>
            <a:off x="5486400" y="2103120"/>
            <a:ext cx="274320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Fewer confident mistakes</a:t>
            </a:r>
            <a:endParaRPr lang="en-US" sz="1600" dirty="0"/>
          </a:p>
        </p:txBody>
      </p:sp>
      <p:sp>
        <p:nvSpPr>
          <p:cNvPr id="14" name="Text 9"/>
          <p:cNvSpPr txBox="1"/>
          <p:nvPr/>
        </p:nvSpPr>
        <p:spPr>
          <a:xfrm>
            <a:off x="5486400" y="2542032"/>
            <a:ext cx="2743200" cy="1005840"/>
          </a:xfrm>
          <a:prstGeom prst="rect">
            <a:avLst/>
          </a:prstGeom>
          <a:noFill/>
          <a:ln/>
        </p:spPr>
        <p:txBody>
          <a:bodyPr wrap="square" lIns="0" tIns="0" rIns="0" bIns="0" rtlCol="0" anchor="t"/>
          <a:lstStyle/>
          <a:p>
            <a:pPr indent="0" marL="0">
              <a:buNone/>
            </a:pPr>
            <a:r>
              <a:rPr lang="en-US" sz="1250" dirty="0">
                <a:solidFill>
                  <a:schemeClr val="tx2"/>
                </a:solidFill>
                <a:latin typeface="Calibri" pitchFamily="34" charset="0"/>
                <a:ea typeface="Calibri" pitchFamily="34" charset="-122"/>
                <a:cs typeface="Calibri" pitchFamily="34" charset="-120"/>
              </a:rPr>
              <a:t>Asking instead of guessing sharply reduced wrong fixes presented as certain.</a:t>
            </a:r>
            <a:endParaRPr lang="en-US" sz="1250" dirty="0"/>
          </a:p>
        </p:txBody>
      </p:sp>
      <p:sp>
        <p:nvSpPr>
          <p:cNvPr id="15" name="Text 10"/>
          <p:cNvSpPr txBox="1"/>
          <p:nvPr/>
        </p:nvSpPr>
        <p:spPr>
          <a:xfrm>
            <a:off x="731520" y="3840480"/>
            <a:ext cx="7680960" cy="548640"/>
          </a:xfrm>
          <a:prstGeom prst="rect">
            <a:avLst/>
          </a:prstGeom>
          <a:noFill/>
          <a:ln/>
        </p:spPr>
        <p:txBody>
          <a:bodyPr wrap="square" lIns="0" tIns="0" rIns="0" bIns="0" rtlCol="0" anchor="t"/>
          <a:lstStyle/>
          <a:p>
            <a:pPr algn="ctr" indent="0" marL="0">
              <a:buNone/>
            </a:pPr>
            <a:r>
              <a:rPr lang="en-US" sz="1150" i="1" dirty="0">
                <a:solidFill>
                  <a:schemeClr val="accent6"/>
                </a:solidFill>
                <a:latin typeface="Calibri" pitchFamily="34" charset="0"/>
                <a:ea typeface="Calibri" pitchFamily="34" charset="-122"/>
                <a:cs typeface="Calibri" pitchFamily="34" charset="-120"/>
              </a:rPr>
              <a:t>Synthetic benchmark, no user study yet: supporting evidence, not proof. (Top-1 71.5% vs 55.2%; confident mistakes 28.5% → 6.1%.)</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Limits and next steps</a:t>
            </a:r>
            <a:endParaRPr lang="en-US" sz="3000" dirty="0"/>
          </a:p>
        </p:txBody>
      </p:sp>
      <p:sp>
        <p:nvSpPr>
          <p:cNvPr id="3" name="Text 1"/>
          <p:cNvSpPr txBox="1"/>
          <p:nvPr/>
        </p:nvSpPr>
        <p:spPr>
          <a:xfrm>
            <a:off x="548640" y="1325880"/>
            <a:ext cx="3840480" cy="320040"/>
          </a:xfrm>
          <a:prstGeom prst="rect">
            <a:avLst/>
          </a:prstGeom>
          <a:noFill/>
          <a:ln/>
        </p:spPr>
        <p:txBody>
          <a:bodyPr wrap="square" lIns="0" tIns="0" rIns="0" bIns="0" rtlCol="0" anchor="t"/>
          <a:lstStyle/>
          <a:p>
            <a:pPr indent="0" marL="0">
              <a:buNone/>
            </a:pPr>
            <a:r>
              <a:rPr lang="en-US" sz="1500" b="1" dirty="0">
                <a:solidFill>
                  <a:srgbClr val="5EEAD4"/>
                </a:solidFill>
                <a:latin typeface="Calibri" pitchFamily="34" charset="0"/>
                <a:ea typeface="Calibri" pitchFamily="34" charset="-122"/>
                <a:cs typeface="Calibri" pitchFamily="34" charset="-120"/>
              </a:rPr>
              <a:t>Honest limits</a:t>
            </a:r>
            <a:endParaRPr lang="en-US" sz="1500" dirty="0"/>
          </a:p>
        </p:txBody>
      </p:sp>
      <p:sp>
        <p:nvSpPr>
          <p:cNvPr id="4" name="Text 2"/>
          <p:cNvSpPr txBox="1"/>
          <p:nvPr/>
        </p:nvSpPr>
        <p:spPr>
          <a:xfrm>
            <a:off x="548640" y="1691640"/>
            <a:ext cx="38404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latin typeface="Calibri" pitchFamily="34" charset="0"/>
                <a:ea typeface="Calibri" pitchFamily="34" charset="-122"/>
                <a:cs typeface="Calibri" pitchFamily="34" charset="-120"/>
              </a:rPr>
              <a:t>MiniC is a teaching subset of C</a:t>
            </a:r>
            <a:endParaRPr lang="en-US" sz="1400" dirty="0"/>
          </a:p>
          <a:p>
            <a:pPr marL="342900" indent="-342900">
              <a:spcAft>
                <a:spcPts val="600"/>
              </a:spcAft>
              <a:buSzPct val="100000"/>
              <a:buChar char="•"/>
            </a:pPr>
            <a:r>
              <a:rPr lang="en-US" sz="1400" dirty="0">
                <a:solidFill>
                  <a:schemeClr val="bg1"/>
                </a:solidFill>
                <a:latin typeface="Calibri" pitchFamily="34" charset="0"/>
                <a:ea typeface="Calibri" pitchFamily="34" charset="-122"/>
                <a:cs typeface="Calibri" pitchFamily="34" charset="-120"/>
              </a:rPr>
              <a:t>Syntax and names are checked; types and behaviour are not</a:t>
            </a:r>
            <a:endParaRPr lang="en-US" sz="1400" dirty="0"/>
          </a:p>
          <a:p>
            <a:pPr marL="342900" indent="-342900">
              <a:spcAft>
                <a:spcPts val="600"/>
              </a:spcAft>
              <a:buSzPct val="100000"/>
              <a:buChar char="•"/>
            </a:pPr>
            <a:r>
              <a:rPr lang="en-US" sz="1400" dirty="0">
                <a:solidFill>
                  <a:schemeClr val="bg1"/>
                </a:solidFill>
                <a:latin typeface="Calibri" pitchFamily="34" charset="0"/>
                <a:ea typeface="Calibri" pitchFamily="34" charset="-122"/>
                <a:cs typeface="Calibri" pitchFamily="34" charset="-120"/>
              </a:rPr>
              <a:t>Evaluation is synthetic; no user study yet</a:t>
            </a:r>
            <a:endParaRPr lang="en-US" sz="1400" dirty="0"/>
          </a:p>
        </p:txBody>
      </p:sp>
      <p:sp>
        <p:nvSpPr>
          <p:cNvPr id="5" name="Text 3"/>
          <p:cNvSpPr txBox="1"/>
          <p:nvPr/>
        </p:nvSpPr>
        <p:spPr>
          <a:xfrm>
            <a:off x="4754880" y="1325880"/>
            <a:ext cx="3840480" cy="320040"/>
          </a:xfrm>
          <a:prstGeom prst="rect">
            <a:avLst/>
          </a:prstGeom>
          <a:noFill/>
          <a:ln/>
        </p:spPr>
        <p:txBody>
          <a:bodyPr wrap="square" lIns="0" tIns="0" rIns="0" bIns="0" rtlCol="0" anchor="t"/>
          <a:lstStyle/>
          <a:p>
            <a:pPr indent="0" marL="0">
              <a:buNone/>
            </a:pPr>
            <a:r>
              <a:rPr lang="en-US" sz="1500" b="1" dirty="0">
                <a:solidFill>
                  <a:srgbClr val="5EEAD4"/>
                </a:solidFill>
                <a:latin typeface="Calibri" pitchFamily="34" charset="0"/>
                <a:ea typeface="Calibri" pitchFamily="34" charset="-122"/>
                <a:cs typeface="Calibri" pitchFamily="34" charset="-120"/>
              </a:rPr>
              <a:t>Next</a:t>
            </a:r>
            <a:endParaRPr lang="en-US" sz="1500" dirty="0"/>
          </a:p>
        </p:txBody>
      </p:sp>
      <p:sp>
        <p:nvSpPr>
          <p:cNvPr id="6" name="Text 4"/>
          <p:cNvSpPr txBox="1"/>
          <p:nvPr/>
        </p:nvSpPr>
        <p:spPr>
          <a:xfrm>
            <a:off x="4754880" y="1691640"/>
            <a:ext cx="38404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latin typeface="Calibri" pitchFamily="34" charset="0"/>
                <a:ea typeface="Calibri" pitchFamily="34" charset="-122"/>
                <a:cs typeface="Calibri" pitchFamily="34" charset="-120"/>
              </a:rPr>
              <a:t>Real student errors</a:t>
            </a:r>
            <a:endParaRPr lang="en-US" sz="1400" dirty="0"/>
          </a:p>
          <a:p>
            <a:pPr marL="342900" indent="-342900">
              <a:spcAft>
                <a:spcPts val="600"/>
              </a:spcAft>
              <a:buSzPct val="100000"/>
              <a:buChar char="•"/>
            </a:pPr>
            <a:r>
              <a:rPr lang="en-US" sz="1400" dirty="0">
                <a:solidFill>
                  <a:schemeClr val="bg1"/>
                </a:solidFill>
                <a:latin typeface="Calibri" pitchFamily="34" charset="0"/>
                <a:ea typeface="Calibri" pitchFamily="34" charset="-122"/>
                <a:cs typeface="Calibri" pitchFamily="34" charset="-120"/>
              </a:rPr>
              <a:t>A user study of the question flow</a:t>
            </a:r>
            <a:endParaRPr lang="en-US" sz="1400" dirty="0"/>
          </a:p>
          <a:p>
            <a:pPr marL="342900" indent="-342900">
              <a:spcAft>
                <a:spcPts val="600"/>
              </a:spcAft>
              <a:buSzPct val="100000"/>
              <a:buChar char="•"/>
            </a:pPr>
            <a:r>
              <a:rPr lang="en-US" sz="1400" dirty="0">
                <a:solidFill>
                  <a:schemeClr val="bg1"/>
                </a:solidFill>
                <a:latin typeface="Calibri" pitchFamily="34" charset="0"/>
                <a:ea typeface="Calibri" pitchFamily="34" charset="-122"/>
                <a:cs typeface="Calibri" pitchFamily="34" charset="-120"/>
              </a:rPr>
              <a:t>Type checking</a:t>
            </a:r>
            <a:endParaRPr lang="en-US" sz="1400" dirty="0"/>
          </a:p>
        </p:txBody>
      </p:sp>
      <p:sp>
        <p:nvSpPr>
          <p:cNvPr id="7" name="Text 5"/>
          <p:cNvSpPr txBox="1"/>
          <p:nvPr/>
        </p:nvSpPr>
        <p:spPr>
          <a:xfrm>
            <a:off x="548640" y="3931920"/>
            <a:ext cx="8046720" cy="457200"/>
          </a:xfrm>
          <a:prstGeom prst="rect">
            <a:avLst/>
          </a:prstGeom>
          <a:noFill/>
          <a:ln/>
        </p:spPr>
        <p:txBody>
          <a:bodyPr wrap="square" lIns="0" tIns="0" rIns="0" bIns="0" rtlCol="0" anchor="t"/>
          <a:lstStyle/>
          <a:p>
            <a:pPr algn="ctr" indent="0" marL="0">
              <a:buNone/>
            </a:pPr>
            <a:r>
              <a:rPr lang="en-US" sz="2000" dirty="0">
                <a:solidFill>
                  <a:srgbClr val="5EEAD4"/>
                </a:solidFill>
                <a:latin typeface="Cambria" pitchFamily="34" charset="0"/>
                <a:ea typeface="Cambria" pitchFamily="34" charset="-122"/>
                <a:cs typeface="Cambria" pitchFamily="34" charset="-120"/>
              </a:rPr>
              <a:t>Thank you — questions? Try your own code.</a:t>
            </a:r>
            <a:endParaRPr lang="en-US" sz="2000" dirty="0"/>
          </a:p>
        </p:txBody>
      </p:sp>
      <p:sp>
        <p:nvSpPr>
          <p:cNvPr id="9" name="Text 0"/>
          <p:cNvSpPr/>
          <p:nvPr>
            <p:ph idx="100" type="title" hasCustomPrompt="1"/>
          </p:nvPr>
        </p:nvSpPr>
        <p:spPr>
          <a:xfrm>
            <a:off x="548640" y="1005840"/>
            <a:ext cx="4754880" cy="914400"/>
          </a:xfrm>
          <a:prstGeom prst="rect">
            <a:avLst/>
          </a:prstGeom>
          <a:noFill/>
          <a:ln/>
        </p:spPr>
        <p:txBody>
          <a:bodyPr wrap="square" lIns="0" tIns="0" rIns="0" bIns="0" rtlCol="0" anchor="t"/>
          <a:lstStyle/>
          <a:p>
            <a:pPr algn="l" indent="0" marL="0">
              <a:buNone/>
            </a:pPr>
            <a:endParaRPr lang="en-US" sz="4800" dirty="0"/>
          </a:p>
        </p:txBody>
      </p:sp>
    </p:spTree>
  </p:cSld>
  <p:clrMapOvr>
    <a:masterClrMapping/>
  </p:clrMapOvr>
</p:sld>
</file>

<file path=ppt/theme/theme1.xml><?xml version="1.0" encoding="utf-8"?>
<a:theme xmlns:a="http://schemas.openxmlformats.org/drawingml/2006/main" name="IntelliFix">
  <a:themeElements>
    <a:clrScheme name="IntelliFix">
      <a:dk1>
        <a:srgbClr val="1E293B"/>
      </a:dk1>
      <a:lt1>
        <a:srgbClr val="FFFFFF"/>
      </a:lt1>
      <a:dk2>
        <a:srgbClr val="334155"/>
      </a:dk2>
      <a:lt2>
        <a:srgbClr val="F1F5F9"/>
      </a:lt2>
      <a:accent1>
        <a:srgbClr val="0F766E"/>
      </a:accent1>
      <a:accent2>
        <a:srgbClr val="4F46E5"/>
      </a:accent2>
      <a:accent3>
        <a:srgbClr val="B45309"/>
      </a:accent3>
      <a:accent4>
        <a:srgbClr val="B91C1C"/>
      </a:accent4>
      <a:accent5>
        <a:srgbClr val="15803D"/>
      </a:accent5>
      <a:accent6>
        <a:srgbClr val="64748B"/>
      </a:accent6>
      <a:hlink>
        <a:srgbClr val="4F46E5"/>
      </a:hlink>
      <a:folHlink>
        <a:srgbClr val="6D28D9"/>
      </a:folHlink>
    </a:clrScheme>
    <a:fontScheme name="IntelliFix">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IntelliFix: An Intelligent Compiler for Syntax Error Analysis, Detection, and Correction</dc:title>
  <dc:subject>BCSE307P course project presentation</dc:subject>
  <dc:creator>Goutam Jayasingh, S Charumeena, Raguraman Govindasamy</dc:creator>
  <cp:lastModifiedBy>Goutam Jayasingh, S Charumeena, Raguraman Govindasamy</cp:lastModifiedBy>
  <cp:revision>1</cp:revision>
  <dcterms:created xsi:type="dcterms:W3CDTF">2026-10-26T09:48:53Z</dcterms:created>
  <dcterms:modified xsi:type="dcterms:W3CDTF">2026-10-26T09:48:53Z</dcterms:modified>
</cp:coreProperties>
</file>