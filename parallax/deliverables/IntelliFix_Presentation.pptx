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approach" id="{0702a091-414c-c0a3-7b30-5b18d111e573}">
          <p14:sldIdLst>
            <p14:sldId id="256"/>
            <p14:sldId id="257"/>
            <p14:sldId id="258"/>
            <p14:sldId id="259"/>
          </p14:sldIdLst>
        </p14:section>
        <p14:section name="How it works" id="{583d65b7-5e55-b274-1f2a-df3462af1abc}">
          <p14:sldIdLst>
            <p14:sldId id="260"/>
            <p14:sldId id="261"/>
            <p14:sldId id="262"/>
            <p14:sldId id="263"/>
            <p14:sldId id="264"/>
          </p14:sldIdLst>
        </p14:section>
        <p14:section name="Live demo" id="{e7aab5e5-d36c-27db-b996-f56660a87e36}">
          <p14:sldIdLst>
            <p14:sldId id="265"/>
          </p14:sldIdLst>
        </p14:section>
        <p14:section name="Evidence and honesty" id="{d4ff300a-1738-2242-bb17-3061069d537a}">
          <p14:sldIdLst>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mn-lt"/>
              </a:defRPr>
            </a:pPr>
            <a:r>
              <a:rPr sz="1300" b="0" i="0" u="none" strike="noStrike">
                <a:solidFill>
                  <a:srgbClr val="1E293B"/>
                </a:solidFill>
                <a:latin typeface="+mn-lt"/>
              </a:rPr>
              <a:t>60 candidates for the missing semicolon, by parser outcome</a:t>
            </a:r>
          </a:p>
        </c:rich>
      </c:tx>
      <c:layout/>
      <c:overlay val="0"/>
    </c:title>
    <c:autoTitleDeleted val="0"/>
    <c:plotArea>
      <c:layout/>
      <c:barChart>
        <c:barDir val="bar"/>
        <c:grouping val="clustered"/>
        <c:varyColors val="0"/>
        <c:ser>
          <c:idx val="0"/>
          <c:order val="0"/>
          <c:tx>
            <c:strRef>
              <c:f>Sheet1!$B$1</c:f>
              <c:strCache>
                <c:ptCount val="1"/>
                <c:pt idx="0">
                  <c:v>candidates</c:v>
                </c:pt>
              </c:strCache>
            </c:strRef>
          </c:tx>
          <c:spPr>
            <a:solidFill>
              <a:srgbClr val="15803D"/>
            </a:solidFill>
            <a:effectLst/>
          </c:spPr>
          <c:invertIfNegative val="0"/>
          <c:dLbls>
            <c:numFmt formatCode="#,##0"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dPt>
            <c:idx val="0"/>
            <c:invertIfNegative val="0"/>
            <c:bubble3D val="0"/>
            <c:spPr>
              <a:solidFill>
                <a:srgbClr val="15803D"/>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94A3B8"/>
              </a:solidFill>
              <a:effectLst/>
            </c:spPr>
          </c:dPt>
          <c:cat>
            <c:multiLvlStrRef>
              <c:f>Sheet1!$A$2:$A$5</c:f>
              <c:multiLvlStrCache>
                <c:ptCount val="4"/>
                <c:lvl>
                  <c:pt idx="0">
                    <c:v>valid</c:v>
                  </c:pt>
                  <c:pt idx="1">
                    <c:v>same-location</c:v>
                  </c:pt>
                  <c:pt idx="2">
                    <c:v>defers-error</c:v>
                  </c:pt>
                  <c:pt idx="3">
                    <c:v>earlier-error</c:v>
                  </c:pt>
                </c:lvl>
              </c:multiLvlStrCache>
            </c:multiLvlStrRef>
          </c:cat>
          <c:val>
            <c:numRef>
              <c:f>Sheet1!$B$2:$B$5</c:f>
              <c:numCache>
                <c:formatCode>General</c:formatCode>
                <c:ptCount val="4"/>
                <c:pt idx="0">
                  <c:v>3</c:v>
                </c:pt>
                <c:pt idx="1">
                  <c:v>29</c:v>
                </c:pt>
                <c:pt idx="2">
                  <c:v>14</c:v>
                </c:pt>
                <c:pt idx="3">
                  <c:v>14</c:v>
                </c:pt>
              </c:numCache>
            </c:numRef>
          </c:val>
        </c:ser>
        <c:dLbls>
          <c:numFmt formatCode="#,##0"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mn-lt"/>
              </a:defRPr>
            </a:pPr>
            <a:r>
              <a:rPr sz="1300" b="0" i="0" u="none" strike="noStrike">
                <a:solidFill>
                  <a:srgbClr val="1E293B"/>
                </a:solidFill>
                <a:latin typeface="+mn-lt"/>
              </a:rPr>
              <a:t>Top-1 repair restores the original AST</a:t>
            </a:r>
          </a:p>
        </c:rich>
      </c:tx>
      <c:layout/>
      <c:overlay val="0"/>
    </c:title>
    <c:autoTitleDeleted val="0"/>
    <c:plotArea>
      <c:layout/>
      <c:barChart>
        <c:barDir val="col"/>
        <c:grouping val="clustered"/>
        <c:varyColors val="0"/>
        <c:ser>
          <c:idx val="0"/>
          <c:order val="0"/>
          <c:tx>
            <c:strRef>
              <c:f>Sheet1!$B$1</c:f>
              <c:strCache>
                <c:ptCount val="1"/>
                <c:pt idx="0">
                  <c:v>top-1</c:v>
                </c:pt>
              </c:strCache>
            </c:strRef>
          </c:tx>
          <c:spPr>
            <a:solidFill>
              <a:srgbClr val="4F46E5"/>
            </a:solidFill>
            <a:effectLst/>
          </c:spPr>
          <c:invertIfNegative val="0"/>
          <c:dLbls>
            <c:numFmt formatCode="0.0&quot;%&quot;"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dPt>
            <c:idx val="0"/>
            <c:invertIfNegative val="0"/>
            <c:bubble3D val="0"/>
            <c:spPr>
              <a:solidFill>
                <a:srgbClr val="4F46E5"/>
              </a:solidFill>
              <a:effectLst/>
            </c:spPr>
          </c:dPt>
          <c:dPt>
            <c:idx val="1"/>
            <c:invertIfNegative val="0"/>
            <c:bubble3D val="0"/>
            <c:spPr>
              <a:solidFill>
                <a:srgbClr val="818CF8"/>
              </a:solidFill>
              <a:effectLst/>
            </c:spPr>
          </c:dPt>
          <c:dPt>
            <c:idx val="2"/>
            <c:invertIfNegative val="0"/>
            <c:bubble3D val="0"/>
            <c:spPr>
              <a:solidFill>
                <a:srgbClr val="94A3B8"/>
              </a:solidFill>
              <a:effectLst/>
            </c:spPr>
          </c:dPt>
          <c:dPt>
            <c:idx val="3"/>
            <c:invertIfNegative val="0"/>
            <c:bubble3D val="0"/>
            <c:spPr>
              <a:solidFill>
                <a:srgbClr val="94A3B8"/>
              </a:solidFill>
              <a:effectLst/>
            </c:spPr>
          </c:dPt>
          <c:cat>
            <c:multiLvlStrRef>
              <c:f>Sheet1!$A$2:$A$5</c:f>
              <c:multiLvlStrCache>
                <c:ptCount val="4"/>
                <c:lvl>
                  <c:pt idx="0">
                    <c:v>IntelliFix</c:v>
                  </c:pt>
                  <c:pt idx="1">
                    <c:v>no layout</c:v>
                  </c:pt>
                  <c:pt idx="2">
                    <c:v>least-cost</c:v>
                  </c:pt>
                  <c:pt idx="3">
                    <c:v>CPCT+ (run 1)</c:v>
                  </c:pt>
                </c:lvl>
              </c:multiLvlStrCache>
            </c:multiLvlStrRef>
          </c:cat>
          <c:val>
            <c:numRef>
              <c:f>Sheet1!$B$2:$B$5</c:f>
              <c:numCache>
                <c:formatCode>General</c:formatCode>
                <c:ptCount val="4"/>
                <c:pt idx="0">
                  <c:v>71.5</c:v>
                </c:pt>
                <c:pt idx="1">
                  <c:v>62.6</c:v>
                </c:pt>
                <c:pt idx="2">
                  <c:v>55.2</c:v>
                </c:pt>
                <c:pt idx="3">
                  <c:v>48</c:v>
                </c:pt>
              </c:numCache>
            </c:numRef>
          </c:val>
        </c:ser>
        <c:dLbls>
          <c:numFmt formatCode="0.0&quot;%&quot;"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mn-lt"/>
              </a:defRPr>
            </a:pPr>
            <a:r>
              <a:rPr sz="1300" b="0" i="0" u="none" strike="noStrike">
                <a:solidFill>
                  <a:srgbClr val="1E293B"/>
                </a:solidFill>
                <a:latin typeface="+mn-lt"/>
              </a:rPr>
              <a:t>Wrong but confident (share of all cases)</a:t>
            </a:r>
          </a:p>
        </c:rich>
      </c:tx>
      <c:layout/>
      <c:overlay val="0"/>
    </c:title>
    <c:autoTitleDeleted val="0"/>
    <c:plotArea>
      <c:layout/>
      <c:barChart>
        <c:barDir val="col"/>
        <c:grouping val="clustered"/>
        <c:varyColors val="0"/>
        <c:ser>
          <c:idx val="0"/>
          <c:order val="0"/>
          <c:tx>
            <c:strRef>
              <c:f>Sheet1!$B$1</c:f>
              <c:strCache>
                <c:ptCount val="1"/>
                <c:pt idx="0">
                  <c:v>wrong but confident</c:v>
                </c:pt>
              </c:strCache>
            </c:strRef>
          </c:tx>
          <c:spPr>
            <a:solidFill>
              <a:srgbClr val="B91C1C"/>
            </a:solidFill>
            <a:effectLst/>
          </c:spPr>
          <c:invertIfNegative val="0"/>
          <c:dLbls>
            <c:numFmt formatCode="0.0&quot;%&quot;"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dPt>
            <c:idx val="0"/>
            <c:invertIfNegative val="0"/>
            <c:bubble3D val="0"/>
            <c:spPr>
              <a:solidFill>
                <a:srgbClr val="B91C1C"/>
              </a:solidFill>
              <a:effectLst/>
            </c:spPr>
          </c:dPt>
          <c:dPt>
            <c:idx val="1"/>
            <c:invertIfNegative val="0"/>
            <c:bubble3D val="0"/>
            <c:spPr>
              <a:solidFill>
                <a:srgbClr val="15803D"/>
              </a:solidFill>
              <a:effectLst/>
            </c:spPr>
          </c:dPt>
          <c:cat>
            <c:multiLvlStrRef>
              <c:f>Sheet1!$A$2:$A$3</c:f>
              <c:multiLvlStrCache>
                <c:ptCount val="2"/>
                <c:lvl>
                  <c:pt idx="0">
                    <c:v>forced top-1</c:v>
                  </c:pt>
                  <c:pt idx="1">
                    <c:v>IntelliFix</c:v>
                  </c:pt>
                </c:lvl>
              </c:multiLvlStrCache>
            </c:multiLvlStrRef>
          </c:cat>
          <c:val>
            <c:numRef>
              <c:f>Sheet1!$B$2:$B$3</c:f>
              <c:numCache>
                <c:formatCode>General</c:formatCode>
                <c:ptCount val="2"/>
                <c:pt idx="0">
                  <c:v>28.5</c:v>
                </c:pt>
                <c:pt idx="1">
                  <c:v>6.1</c:v>
                </c:pt>
              </c:numCache>
            </c:numRef>
          </c:val>
        </c:ser>
        <c:dLbls>
          <c:numFmt formatCode="0.0&quot;%&quot;"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2E8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Goutam Jayasingh · about 0.5 min · in the app: Overview]
Good morning. We are presenting IntelliFix: an intelligent compiler for syntax error analysis, detection and correction. I am Goutam Jayasingh; with me are S Charumeena and Raguraman Govindasamy. In the next fifteen minutes we will show what problem IntelliFix solves, how it works, a live demonstration on the real compiler, and how we measured it, including the parts that did not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Goutam Jayasingh · about 1.25 min · in the app: Workbench → Missing semicolon → Run parser]
Here is a short program. The semicolon is missing at the end of line 3. But the parser only notices on line 4, when it reads the keyword int, because up to that point the input could still have been valid. This is the correct-prefix property of LR parsers: they stop at the first token that cannot continue any valid program. So the error is detected at 4:3, while the mistake is at the end of line 3. Second problem: many different edits make this program parse. Replacing int on line 4 with a comma also gives a valid program. A tool that simply picks one of them can be confidently wrong. IntelliFix addresses both: where the mistake is, and how sure we can be about a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Goutam Jayasingh · about 1.25 min · in the app: Evaluation → Diagnostics-only baselines]
Three established approaches. Panic-mode recovery skips tokens until a semicolon or brace and continues. It finds later errors, but it invents spurious ones: on our test set it reported 3.85 diagnostics per case on average, and 61 percent of cases had at least one spurious diagnostic. Least-cost repair picks the cheapest edit that makes the program parse; cheapest is often not intended. CPCT+, by Diekmann and Tratt at ECOOP 2020, computes all minimum-cost repair sequences, which is excellent for recovery, but when it must present one, it chooses arbitrarily among equal-cost options. None of them uses layout, names, or says "I am not sure". That is the gap we target. We do not claim any of these techniques is wrong; they optimise different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Goutam Jayasingh · about 1 min · in the app: Overview → The processing pipeline]
IntelliFix is a pipeline of seven stages. A Flex lexer produces tokens with exact positions. A Bison LALR(1) parser accepts or rejects. Localisation finds the first error and the exact set of tokens the parser expected. Then we generate repair candidates and validate each one with the real parser. We rank them with named evidence and group the ones that mean the same thing. Hypothesis lanes repair later errors. Finally the decision stage either recommends one repair or explains why it will not. Every stage runs in the native C++ binary; the web interface only displays its output. Charumeena will now explain the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 Charumeena · about 1 min · in the app: Lexical analysis; Grammar &amp; parsing]
MiniC is a C subset: four types, functions, arrays, if, while, for, and the usual operators. The lexer is a re-entrant Flex scanner. It reports lexical errors as tokens instead of crashing, and it recognises C features MiniC omits, like plus-plus or switch, so we can say "this is C, not MiniC". The parser is generated by Bison: 97 grammar rules, 168 LR states, and zero conflicts, which the build enforces. The key feature is LAC, lookahead correction. It makes the list of expected tokens at an error exact. In our example the parser is in state 47, has just read the zero, and expects one of 15 tokens: an operator, a semicolon or a comma. Those 15 tokens drive candidate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 Charumeena · about 1.25 min · in the app: Repair laboratory → Rejected tab]
Candidates are single-token edits: insert, delete or replace, near the error, using only tokens the grammar allows there. Layout-aware generators also try a semicolon at line ends and braces where indentation changes. Two-edit combinations are tried only if no single edit works. For our example, 60 candidates were generated. Each is applied to a copy of the tokens and parsed again. It is accepted only if the whole program parses, or the parser gets at least three tokens further. Here 57 were rejected and 3 accepted. Every accepted candidate is then turned back into text using the user's own spacing and comments, re-lexed and re-parsed. We call that the round trip. "Parser-validated" always means the real parser accepted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 Charumeena · about 1.25 min · in the app: Repair laboratory → Evidence breakdown]
Each accepted candidate gets a score: the sum of 13 named features times fixed weights. The weights were set on the development split only and frozen before the test run. Look at the table. Inserting the semicolon costs minus one, makes the whole program parse, plus two, and puts the semicolon exactly at a line break, plus 0.75: total 1.75. Replacing int with a comma also parses, but costs one and a half and overwrites a keyword the user wrote: minus 0.25. Replacing int with a semicolon leaves i undeclared, and name resolution finds five warnings: minus 4. The score only ranks; it is not a probability. The margin between the best and the second-best alternative is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 Charumeena · about 1 min · in the app: Hypothesis explorer (Two errors sample)]
Two ideas here. First, grouping. For "int b = open-paren a plus 2 semicolon", inserting the closing parenthesis after a, or after 2, gives two different edits but the same syntax tree. We group candidates by their canonical abstract syntax tree, so equivalent repairs do not compete and do not make IntelliFix falsely unsure. Second, multiple errors. For the top three first-error hypotheses, IntelliFix keeps repairing the next error, with two alternatives per step, up to depth four and twelve leaves. The best complete path is the plan. For the "Two errors" sample, the plan inserts a semicolon and a closing parenthesis, one step each, with a margin of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 Charumeena · about 1.25 min · in the app: Ambiguous operator; Missing variable name; Unsupported C construct]
The decision stage has seven outcomes. No repair needed, when the program is valid. Recommended, only when the best structurally different alternative leads by at least tau equals 1.5; tau was chosen on the development split as the setting with the most coverage at no more than ten percent risk. Multiple plausible, when it does not: for "a b", twenty operators tie with margin zero. Low confidence, when the fix must invent a name, like a missing variable name, or would discard code hidden in an unterminated comment. Unsupported construct, for C features like i plus-plus, or nesting deeper than the parser supports. And no safe repair, or budget exhausted, when the bounded search finds nothing. Now let us show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All (driver / narrator / checker) · about 7 min · in the app: Code workbench (follow IntelliFix_Demo_Script.md)]
Switch to the browser. Check the badge says Compiler 1.0.0. Follow the demo script: Missing semicolon with Run lexer, Run parser, Full analysis; the Grammar and parsing page; the evidence breakdown; Accept repair; then Ambiguous operator, Missing variable name, Unsupported C construct, Two errors with the Hypothesis explorer, and the Evaluation page. The checker compares the screen with the expected column and says so if anything differs. Invite the examiners to type their own code. If the badge says Compiler missing, stop: explain that the native compiler is not built on this machine, and never present screenshots as live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Raguraman Govindasamy · about 1.25 min · in the app: Evaluation → Provenance]
Thank you. To measure IntelliFix beyond single examples, we wrote 30 valid MiniC programs and generated 900 seeded mutations: deleted, inserted, swapped or wrong tokens, 720 with one error and 180 with two. We split by program, not by case: 12 programs, 360 cases, for development; 18 programs, 540 cases, held out for the test. That prevents near-duplicate leakage. All tuning used the development split; the model was frozen before the test run. We compare nine systems: the raw parser, panic mode, least-cost repair, CPCT+ through grmtools, and ablations that remove one idea at a time. Every proportion has a Wilson 95% interval; differences use a paired bootstrap. Important: these are synthetic errors, not real student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Raguraman Govindasamy · about 1.5 min · in the app: Evaluation → headline cards and charts]
Left chart: how often the top-ranked repair restores the original program's syntax tree. IntelliFix 71.5 percent, interval 67.5 to 75.1. Least-cost repair on exactly the same candidates: 55.2 percent, so the evidence ranking adds 16.3 points, interval 13.1 to 19.4. Without layout evidence, 62.6. CPCT+'s first repair: about 48 percent; it varies between runs because CPCT+ breaks ties arbitrarily. Right chart: wrong answers presented as confident, as a share of all cases. Without abstention, 28.5 percent; with abstention, 6.1 percent, while still recommending in 50.7 percent of cases. Of those recommendations, 88 percent were correct. Note: this does not show IntelliFix is a better recovery algorithm than CPCT+; it was built for a different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Raguraman Govindasamy · about 1.25 min · in the app: Evaluation → caveat rows; Workbench with the whlie input]
We report negative results too. The follow-on stability evidence gave plus 0.2 points, with an interval from minus 0.4 to plus 0.9: no measurable effect. AST grouping helped only a little. The threshold tau did not fully transfer: test risk was 12 percent against a 10 percent target. And a parser-valid fix can still be wrong: "whlie, open paren" with a typo gets a confident semicolon, which turns it into a function call. We left that unfixed, because re-tuning after seeing an example would be tuning on test data. Our robustness suite of 88 hand-written cases and 800 random inputs found two real defects, which we fixed with regression tests. Limits: synthetic errors, one author's programs, a C subset, no type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Raguraman Govindasamy · about 1 min · in the app: Documentation → Research contribution and novelty]
So what is our contribution? Not a new algorithm: local LR repair, edit costs, LAC, panic mode and selective prediction are all established. Our contribution is an integrated and inspectable pipeline that adds layout-aware generation, interpretable evidence ranking, AST grouping and confidence-aware abstention to LAC-guided local repair, with every step visible in a workbench on real compiler output. And an honest evaluation: a family-split benchmark, ablations, a real CPCT+ baseline and confidence intervals, showing that evidence ranking, layout and abstention help, while stability evidence does not. Next steps: a study with real student errors, learned weights on real data, and type-aware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Raguraman Govindasamy · about 0.5 min · in the app: Code workbench, cleared]
Thank you for listening. We are happy to take questions, and you are welcome to type your own MiniC, or C, into the workbench: IntelliFix will tell you what it can and cannot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E29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05840"/>
            <a:ext cx="4754880" cy="91440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ctr" indent="0" marL="0">
              <a:buNone/>
              <a:defRPr lang="en-US" sz="28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28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chemeClr val="accent6"/>
                </a:solidFill>
                <a:latin typeface="Calibri" pitchFamily="34" charset="0"/>
                <a:ea typeface="Calibri" pitchFamily="34" charset="-122"/>
                <a:cs typeface="Calibri" pitchFamily="34" charset="-120"/>
              </a:rPr>
              <a:t>IntelliFix · BCSE307P course project</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05840"/>
            <a:ext cx="4754880" cy="91440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IntelliFix</a:t>
            </a:r>
            <a:endParaRPr lang="en-US" sz="4800" dirty="0"/>
          </a:p>
        </p:txBody>
      </p:sp>
      <p:sp>
        <p:nvSpPr>
          <p:cNvPr id="3" name="Text 1"/>
          <p:cNvSpPr txBox="1"/>
          <p:nvPr/>
        </p:nvSpPr>
        <p:spPr>
          <a:xfrm>
            <a:off x="548640" y="1874520"/>
            <a:ext cx="4480560" cy="685800"/>
          </a:xfrm>
          <a:prstGeom prst="rect">
            <a:avLst/>
          </a:prstGeom>
          <a:noFill/>
          <a:ln/>
        </p:spPr>
        <p:txBody>
          <a:bodyPr wrap="square" lIns="0" tIns="0" rIns="0" bIns="0" rtlCol="0" anchor="t"/>
          <a:lstStyle/>
          <a:p>
            <a:pPr indent="0" marL="0">
              <a:buNone/>
            </a:pPr>
            <a:r>
              <a:rPr lang="en-US" sz="1800" dirty="0">
                <a:solidFill>
                  <a:srgbClr val="5EEAD4"/>
                </a:solidFill>
                <a:latin typeface="Cambria" pitchFamily="34" charset="0"/>
                <a:ea typeface="Cambria" pitchFamily="34" charset="-122"/>
                <a:cs typeface="Cambria" pitchFamily="34" charset="-120"/>
              </a:rPr>
              <a:t>An Intelligent Compiler for Syntax Error Analysis, Detection, and Correction</a:t>
            </a:r>
            <a:endParaRPr lang="en-US" sz="1800" dirty="0"/>
          </a:p>
        </p:txBody>
      </p:sp>
      <p:sp>
        <p:nvSpPr>
          <p:cNvPr id="4" name="Text 2"/>
          <p:cNvSpPr txBox="1"/>
          <p:nvPr/>
        </p:nvSpPr>
        <p:spPr>
          <a:xfrm>
            <a:off x="548640" y="2788920"/>
            <a:ext cx="4480560" cy="868680"/>
          </a:xfrm>
          <a:prstGeom prst="rect">
            <a:avLst/>
          </a:prstGeom>
          <a:noFill/>
          <a:ln/>
        </p:spPr>
        <p:txBody>
          <a:bodyPr wrap="square" lIns="0" tIns="0" rIns="0" bIns="0" rtlCol="0" anchor="t"/>
          <a:lstStyle/>
          <a:p>
            <a:pPr indent="0" marL="0">
              <a:spcAft>
                <a:spcPts val="400"/>
              </a:spcAft>
              <a:buNone/>
            </a:pPr>
            <a:r>
              <a:rPr lang="en-US" sz="1400" dirty="0">
                <a:solidFill>
                  <a:schemeClr val="bg1"/>
                </a:solidFill>
                <a:latin typeface="Calibri" pitchFamily="34" charset="0"/>
                <a:ea typeface="Calibri" pitchFamily="34" charset="-122"/>
                <a:cs typeface="Calibri" pitchFamily="34" charset="-120"/>
              </a:rPr>
              <a:t>Goutam Jayasingh  ·  24BCE2417</a:t>
            </a:r>
            <a:endParaRPr lang="en-US" sz="1400" dirty="0"/>
          </a:p>
          <a:p>
            <a:pPr indent="0" marL="0">
              <a:spcAft>
                <a:spcPts val="400"/>
              </a:spcAft>
              <a:buNone/>
            </a:pPr>
            <a:r>
              <a:rPr lang="en-US" sz="1400" dirty="0">
                <a:solidFill>
                  <a:schemeClr val="bg1"/>
                </a:solidFill>
                <a:latin typeface="Calibri" pitchFamily="34" charset="0"/>
                <a:ea typeface="Calibri" pitchFamily="34" charset="-122"/>
                <a:cs typeface="Calibri" pitchFamily="34" charset="-120"/>
              </a:rPr>
              <a:t>S Charumeena  ·  24BCI0238</a:t>
            </a:r>
            <a:endParaRPr lang="en-US" sz="1400" dirty="0"/>
          </a:p>
          <a:p>
            <a:pPr indent="0" marL="0">
              <a:spcAft>
                <a:spcPts val="400"/>
              </a:spcAft>
              <a:buNone/>
            </a:pPr>
            <a:r>
              <a:rPr lang="en-US" sz="1400" dirty="0">
                <a:solidFill>
                  <a:schemeClr val="bg1"/>
                </a:solidFill>
                <a:latin typeface="Calibri" pitchFamily="34" charset="0"/>
                <a:ea typeface="Calibri" pitchFamily="34" charset="-122"/>
                <a:cs typeface="Calibri" pitchFamily="34" charset="-120"/>
              </a:rPr>
              <a:t>Raguraman Govindasamy  ·  24BDS0409</a:t>
            </a:r>
            <a:endParaRPr lang="en-US" sz="1400" dirty="0"/>
          </a:p>
        </p:txBody>
      </p:sp>
      <p:sp>
        <p:nvSpPr>
          <p:cNvPr id="5" name="Text 3"/>
          <p:cNvSpPr txBox="1"/>
          <p:nvPr/>
        </p:nvSpPr>
        <p:spPr>
          <a:xfrm>
            <a:off x="548640" y="4160520"/>
            <a:ext cx="4480560" cy="2743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BCSE307P course project  ·  Guide: [guide name, to be added]</a:t>
            </a:r>
            <a:endParaRPr lang="en-US" sz="1100" dirty="0"/>
          </a:p>
        </p:txBody>
      </p:sp>
      <p:sp>
        <p:nvSpPr>
          <p:cNvPr id="6" name="Workbench screenshot frame"/>
          <p:cNvSpPr/>
          <p:nvPr/>
        </p:nvSpPr>
        <p:spPr>
          <a:xfrm>
            <a:off x="5358384" y="923544"/>
            <a:ext cx="3364992" cy="2311603"/>
          </a:xfrm>
          <a:prstGeom prst="roundRect">
            <a:avLst>
              <a:gd name="adj" fmla="val 3165"/>
            </a:avLst>
          </a:prstGeom>
          <a:solidFill>
            <a:srgbClr val="F1F5F9"/>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7" name="Workbench screenshot" descr="Workbench screenshot">    </p:cNvPr>
          <p:cNvPicPr>
            <a:picLocks noChangeAspect="1"/>
          </p:cNvPicPr>
          <p:nvPr/>
        </p:nvPicPr>
        <p:blipFill>
          <a:blip r:embed="rId1"/>
          <a:stretch>
            <a:fillRect/>
          </a:stretch>
        </p:blipFill>
        <p:spPr>
          <a:xfrm>
            <a:off x="5394960" y="960120"/>
            <a:ext cx="3291840" cy="22384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Detected on line 4, made on line 3</a:t>
            </a:r>
            <a:endParaRPr lang="en-US" sz="2800" dirty="0"/>
          </a:p>
        </p:txBody>
      </p:sp>
      <p:sp>
        <p:nvSpPr>
          <p:cNvPr id="4" name="code card"/>
          <p:cNvSpPr/>
          <p:nvPr/>
        </p:nvSpPr>
        <p:spPr>
          <a:xfrm>
            <a:off x="457200" y="1097280"/>
            <a:ext cx="4480560" cy="3429000"/>
          </a:xfrm>
          <a:prstGeom prst="roundRect">
            <a:avLst>
              <a:gd name="adj" fmla="val 2667"/>
            </a:avLst>
          </a:prstGeom>
          <a:solidFill>
            <a:srgbClr val="F8FAFC"/>
          </a:solidFill>
          <a:ln w="12700">
            <a:solidFill>
              <a:srgbClr val="F8FAFC"/>
            </a:solidFill>
            <a:prstDash val="solid"/>
          </a:ln>
        </p:spPr>
      </p:sp>
      <p:sp>
        <p:nvSpPr>
          <p:cNvPr id="5" name="Text 2"/>
          <p:cNvSpPr txBox="1"/>
          <p:nvPr/>
        </p:nvSpPr>
        <p:spPr>
          <a:xfrm>
            <a:off x="685800" y="1280160"/>
            <a:ext cx="4114800" cy="3108960"/>
          </a:xfrm>
          <a:prstGeom prst="rect">
            <a:avLst/>
          </a:prstGeom>
          <a:noFill/>
          <a:ln/>
        </p:spPr>
        <p:txBody>
          <a:bodyPr wrap="square" lIns="0" tIns="0" rIns="0" bIns="0" rtlCol="0" anchor="t"/>
          <a:lstStyle/>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 2  int main() {</a:t>
            </a:r>
            <a:endParaRPr lang="en-US" sz="1500" dirty="0"/>
          </a:p>
          <a:p>
            <a:pPr indent="0" marL="0">
              <a:lnSpc>
                <a:spcPct val="110000"/>
              </a:lnSpc>
              <a:buNone/>
            </a:pPr>
            <a:r>
              <a:rPr lang="en-US" sz="1500" b="1" dirty="0">
                <a:solidFill>
                  <a:srgbClr val="0F766E"/>
                </a:solidFill>
                <a:latin typeface="Courier New" pitchFamily="34" charset="0"/>
                <a:ea typeface="Courier New" pitchFamily="34" charset="-122"/>
                <a:cs typeface="Courier New" pitchFamily="34" charset="-120"/>
              </a:rPr>
              <a:t> 3    int total = 0</a:t>
            </a:r>
            <a:endParaRPr lang="en-US" sz="1500" dirty="0"/>
          </a:p>
          <a:p>
            <a:pPr indent="0" marL="0">
              <a:lnSpc>
                <a:spcPct val="110000"/>
              </a:lnSpc>
              <a:buNone/>
            </a:pPr>
            <a:r>
              <a:rPr lang="en-US" sz="1500" b="1" dirty="0">
                <a:solidFill>
                  <a:srgbClr val="B91C1C"/>
                </a:solidFill>
                <a:latin typeface="Courier New" pitchFamily="34" charset="0"/>
                <a:ea typeface="Courier New" pitchFamily="34" charset="-122"/>
                <a:cs typeface="Courier New" pitchFamily="34" charset="-120"/>
              </a:rPr>
              <a:t> 4    int i = 1;</a:t>
            </a:r>
            <a:endParaRPr lang="en-US" sz="1500" dirty="0"/>
          </a:p>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 5    while (i &lt;= 10) {</a:t>
            </a:r>
            <a:endParaRPr lang="en-US" sz="1500" dirty="0"/>
          </a:p>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 6      total = total + i;</a:t>
            </a:r>
            <a:endParaRPr lang="en-US" sz="1500" dirty="0"/>
          </a:p>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 7      i = i + 1;</a:t>
            </a:r>
            <a:endParaRPr lang="en-US" sz="1500" dirty="0"/>
          </a:p>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 8    }</a:t>
            </a:r>
            <a:endParaRPr lang="en-US" sz="1500" dirty="0"/>
          </a:p>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 9    return total;</a:t>
            </a:r>
            <a:endParaRPr lang="en-US" sz="1500" dirty="0"/>
          </a:p>
          <a:p>
            <a:pPr indent="0" marL="0">
              <a:lnSpc>
                <a:spcPct val="110000"/>
              </a:lnSpc>
              <a:buNone/>
            </a:pPr>
            <a:r>
              <a:rPr lang="en-US" sz="1500" dirty="0">
                <a:solidFill>
                  <a:schemeClr val="tx1"/>
                </a:solidFill>
                <a:latin typeface="Courier New" pitchFamily="34" charset="0"/>
                <a:ea typeface="Courier New" pitchFamily="34" charset="-122"/>
                <a:cs typeface="Courier New" pitchFamily="34" charset="-120"/>
              </a:rPr>
              <a:t>10  }</a:t>
            </a:r>
            <a:endParaRPr lang="en-US" sz="1500" dirty="0"/>
          </a:p>
        </p:txBody>
      </p:sp>
      <p:sp>
        <p:nvSpPr>
          <p:cNvPr id="6" name="problem card 1"/>
          <p:cNvSpPr/>
          <p:nvPr/>
        </p:nvSpPr>
        <p:spPr>
          <a:xfrm>
            <a:off x="5166360" y="1097280"/>
            <a:ext cx="3520440" cy="1024128"/>
          </a:xfrm>
          <a:prstGeom prst="roundRect">
            <a:avLst>
              <a:gd name="adj" fmla="val 8929"/>
            </a:avLst>
          </a:prstGeom>
          <a:solidFill>
            <a:srgbClr val="F1F5F9"/>
          </a:solidFill>
          <a:ln w="12700">
            <a:solidFill>
              <a:srgbClr val="F1F5F9"/>
            </a:solidFill>
            <a:prstDash val="solid"/>
          </a:ln>
        </p:spPr>
      </p:sp>
      <p:sp>
        <p:nvSpPr>
          <p:cNvPr id="7" name="problem 1 circle"/>
          <p:cNvSpPr/>
          <p:nvPr/>
        </p:nvSpPr>
        <p:spPr>
          <a:xfrm>
            <a:off x="5321808" y="1353312"/>
            <a:ext cx="502920" cy="502920"/>
          </a:xfrm>
          <a:prstGeom prst="ellipse">
            <a:avLst/>
          </a:prstGeom>
          <a:solidFill>
            <a:srgbClr val="0F766E"/>
          </a:solidFill>
          <a:ln w="12700">
            <a:solidFill>
              <a:srgbClr val="0F766E"/>
            </a:solidFill>
            <a:prstDash val="solid"/>
          </a:ln>
        </p:spPr>
      </p:sp>
      <p:pic>
        <p:nvPicPr>
          <p:cNvPr id="8" name="problem 1 icon" descr="preencoded.png">    </p:cNvPr>
          <p:cNvPicPr>
            <a:picLocks noChangeAspect="1"/>
          </p:cNvPicPr>
          <p:nvPr/>
        </p:nvPicPr>
        <p:blipFill>
          <a:blip r:embed="rId1"/>
          <a:stretch>
            <a:fillRect/>
          </a:stretch>
        </p:blipFill>
        <p:spPr>
          <a:xfrm>
            <a:off x="5432450" y="1463954"/>
            <a:ext cx="281635" cy="281635"/>
          </a:xfrm>
          <a:prstGeom prst="rect">
            <a:avLst/>
          </a:prstGeom>
        </p:spPr>
      </p:pic>
      <p:sp>
        <p:nvSpPr>
          <p:cNvPr id="9" name="Text 5"/>
          <p:cNvSpPr txBox="1"/>
          <p:nvPr/>
        </p:nvSpPr>
        <p:spPr>
          <a:xfrm>
            <a:off x="5989320" y="1225296"/>
            <a:ext cx="26060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Mistake: end of line 3</a:t>
            </a:r>
            <a:endParaRPr lang="en-US" sz="1500" dirty="0"/>
          </a:p>
        </p:txBody>
      </p:sp>
      <p:sp>
        <p:nvSpPr>
          <p:cNvPr id="10" name="Text 6"/>
          <p:cNvSpPr txBox="1"/>
          <p:nvPr/>
        </p:nvSpPr>
        <p:spPr>
          <a:xfrm>
            <a:off x="5989320" y="1554480"/>
            <a:ext cx="2606040" cy="530352"/>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the ';' after  int total = 0  is missing</a:t>
            </a:r>
            <a:endParaRPr lang="en-US" sz="1200" dirty="0"/>
          </a:p>
        </p:txBody>
      </p:sp>
      <p:sp>
        <p:nvSpPr>
          <p:cNvPr id="11" name="problem card 2"/>
          <p:cNvSpPr/>
          <p:nvPr/>
        </p:nvSpPr>
        <p:spPr>
          <a:xfrm>
            <a:off x="5166360" y="2267712"/>
            <a:ext cx="3520440" cy="1024128"/>
          </a:xfrm>
          <a:prstGeom prst="roundRect">
            <a:avLst>
              <a:gd name="adj" fmla="val 8929"/>
            </a:avLst>
          </a:prstGeom>
          <a:solidFill>
            <a:srgbClr val="F1F5F9"/>
          </a:solidFill>
          <a:ln w="12700">
            <a:solidFill>
              <a:srgbClr val="F1F5F9"/>
            </a:solidFill>
            <a:prstDash val="solid"/>
          </a:ln>
        </p:spPr>
      </p:sp>
      <p:sp>
        <p:nvSpPr>
          <p:cNvPr id="12" name="problem 2 circle"/>
          <p:cNvSpPr/>
          <p:nvPr/>
        </p:nvSpPr>
        <p:spPr>
          <a:xfrm>
            <a:off x="5321808" y="2523744"/>
            <a:ext cx="502920" cy="502920"/>
          </a:xfrm>
          <a:prstGeom prst="ellipse">
            <a:avLst/>
          </a:prstGeom>
          <a:solidFill>
            <a:srgbClr val="B91C1C"/>
          </a:solidFill>
          <a:ln w="12700">
            <a:solidFill>
              <a:srgbClr val="B91C1C"/>
            </a:solidFill>
            <a:prstDash val="solid"/>
          </a:ln>
        </p:spPr>
      </p:sp>
      <p:pic>
        <p:nvPicPr>
          <p:cNvPr id="13" name="problem 2 icon" descr="preencoded.png">    </p:cNvPr>
          <p:cNvPicPr>
            <a:picLocks noChangeAspect="1"/>
          </p:cNvPicPr>
          <p:nvPr/>
        </p:nvPicPr>
        <p:blipFill>
          <a:blip r:embed="rId2"/>
          <a:stretch>
            <a:fillRect/>
          </a:stretch>
        </p:blipFill>
        <p:spPr>
          <a:xfrm>
            <a:off x="5432450" y="2634386"/>
            <a:ext cx="281635" cy="281635"/>
          </a:xfrm>
          <a:prstGeom prst="rect">
            <a:avLst/>
          </a:prstGeom>
        </p:spPr>
      </p:pic>
      <p:sp>
        <p:nvSpPr>
          <p:cNvPr id="14" name="Text 9"/>
          <p:cNvSpPr txBox="1"/>
          <p:nvPr/>
        </p:nvSpPr>
        <p:spPr>
          <a:xfrm>
            <a:off x="5989320" y="2395728"/>
            <a:ext cx="26060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Detected: 4:3</a:t>
            </a:r>
            <a:endParaRPr lang="en-US" sz="1500" dirty="0"/>
          </a:p>
        </p:txBody>
      </p:sp>
      <p:sp>
        <p:nvSpPr>
          <p:cNvPr id="15" name="Text 10"/>
          <p:cNvSpPr txBox="1"/>
          <p:nvPr/>
        </p:nvSpPr>
        <p:spPr>
          <a:xfrm>
            <a:off x="5989320" y="2724912"/>
            <a:ext cx="2606040" cy="530352"/>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unexpected type-keyword 'int' — the parser can only notice here</a:t>
            </a:r>
            <a:endParaRPr lang="en-US" sz="1200" dirty="0"/>
          </a:p>
        </p:txBody>
      </p:sp>
      <p:sp>
        <p:nvSpPr>
          <p:cNvPr id="16" name="problem card 3"/>
          <p:cNvSpPr/>
          <p:nvPr/>
        </p:nvSpPr>
        <p:spPr>
          <a:xfrm>
            <a:off x="5166360" y="3438144"/>
            <a:ext cx="3520440" cy="1024128"/>
          </a:xfrm>
          <a:prstGeom prst="roundRect">
            <a:avLst>
              <a:gd name="adj" fmla="val 8929"/>
            </a:avLst>
          </a:prstGeom>
          <a:solidFill>
            <a:srgbClr val="F1F5F9"/>
          </a:solidFill>
          <a:ln w="12700">
            <a:solidFill>
              <a:srgbClr val="F1F5F9"/>
            </a:solidFill>
            <a:prstDash val="solid"/>
          </a:ln>
        </p:spPr>
      </p:sp>
      <p:sp>
        <p:nvSpPr>
          <p:cNvPr id="17" name="problem 3 circle"/>
          <p:cNvSpPr/>
          <p:nvPr/>
        </p:nvSpPr>
        <p:spPr>
          <a:xfrm>
            <a:off x="5321808" y="3694176"/>
            <a:ext cx="502920" cy="502920"/>
          </a:xfrm>
          <a:prstGeom prst="ellipse">
            <a:avLst/>
          </a:prstGeom>
          <a:solidFill>
            <a:srgbClr val="B45309"/>
          </a:solidFill>
          <a:ln w="12700">
            <a:solidFill>
              <a:srgbClr val="B45309"/>
            </a:solidFill>
            <a:prstDash val="solid"/>
          </a:ln>
        </p:spPr>
      </p:sp>
      <p:pic>
        <p:nvPicPr>
          <p:cNvPr id="18" name="problem 3 icon" descr="preencoded.png">    </p:cNvPr>
          <p:cNvPicPr>
            <a:picLocks noChangeAspect="1"/>
          </p:cNvPicPr>
          <p:nvPr/>
        </p:nvPicPr>
        <p:blipFill>
          <a:blip r:embed="rId3"/>
          <a:stretch>
            <a:fillRect/>
          </a:stretch>
        </p:blipFill>
        <p:spPr>
          <a:xfrm>
            <a:off x="5432450" y="3804818"/>
            <a:ext cx="281635" cy="281635"/>
          </a:xfrm>
          <a:prstGeom prst="rect">
            <a:avLst/>
          </a:prstGeom>
        </p:spPr>
      </p:pic>
      <p:sp>
        <p:nvSpPr>
          <p:cNvPr id="19" name="Text 13"/>
          <p:cNvSpPr txBox="1"/>
          <p:nvPr/>
        </p:nvSpPr>
        <p:spPr>
          <a:xfrm>
            <a:off x="5989320" y="3566160"/>
            <a:ext cx="260604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Also valid: a different fix</a:t>
            </a:r>
            <a:endParaRPr lang="en-US" sz="1500" dirty="0"/>
          </a:p>
        </p:txBody>
      </p:sp>
      <p:sp>
        <p:nvSpPr>
          <p:cNvPr id="20" name="Text 14"/>
          <p:cNvSpPr txBox="1"/>
          <p:nvPr/>
        </p:nvSpPr>
        <p:spPr>
          <a:xfrm>
            <a:off x="5989320" y="3895344"/>
            <a:ext cx="2606040" cy="530352"/>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int total = 0, i = 1;  parses too. Which one did you mean?</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Existing approaches leave a gap</a:t>
            </a:r>
            <a:endParaRPr lang="en-US" sz="2800" dirty="0"/>
          </a:p>
        </p:txBody>
      </p:sp>
      <p:sp>
        <p:nvSpPr>
          <p:cNvPr id="4" name="approach 1"/>
          <p:cNvSpPr/>
          <p:nvPr/>
        </p:nvSpPr>
        <p:spPr>
          <a:xfrm>
            <a:off x="457200" y="1097280"/>
            <a:ext cx="2606040" cy="2926080"/>
          </a:xfrm>
          <a:prstGeom prst="roundRect">
            <a:avLst>
              <a:gd name="adj" fmla="val 3509"/>
            </a:avLst>
          </a:prstGeom>
          <a:solidFill>
            <a:srgbClr val="F1F5F9"/>
          </a:solidFill>
          <a:ln w="12700">
            <a:solidFill>
              <a:srgbClr val="F1F5F9"/>
            </a:solidFill>
            <a:prstDash val="solid"/>
          </a:ln>
        </p:spPr>
      </p:sp>
      <p:sp>
        <p:nvSpPr>
          <p:cNvPr id="5" name="approach 1 circle"/>
          <p:cNvSpPr/>
          <p:nvPr/>
        </p:nvSpPr>
        <p:spPr>
          <a:xfrm>
            <a:off x="640080" y="1261872"/>
            <a:ext cx="457200" cy="457200"/>
          </a:xfrm>
          <a:prstGeom prst="ellipse">
            <a:avLst/>
          </a:prstGeom>
          <a:solidFill>
            <a:srgbClr val="64748B"/>
          </a:solidFill>
          <a:ln w="12700">
            <a:solidFill>
              <a:srgbClr val="64748B"/>
            </a:solidFill>
            <a:prstDash val="solid"/>
          </a:ln>
        </p:spPr>
      </p:sp>
      <p:pic>
        <p:nvPicPr>
          <p:cNvPr id="6" name="approach 1 icon" descr="preencoded.png">    </p:cNvPr>
          <p:cNvPicPr>
            <a:picLocks noChangeAspect="1"/>
          </p:cNvPicPr>
          <p:nvPr/>
        </p:nvPicPr>
        <p:blipFill>
          <a:blip r:embed="rId1"/>
          <a:stretch>
            <a:fillRect/>
          </a:stretch>
        </p:blipFill>
        <p:spPr>
          <a:xfrm>
            <a:off x="740664" y="1362456"/>
            <a:ext cx="256032" cy="256032"/>
          </a:xfrm>
          <a:prstGeom prst="rect">
            <a:avLst/>
          </a:prstGeom>
        </p:spPr>
      </p:pic>
      <p:sp>
        <p:nvSpPr>
          <p:cNvPr id="7" name="Text 3"/>
          <p:cNvSpPr txBox="1"/>
          <p:nvPr/>
        </p:nvSpPr>
        <p:spPr>
          <a:xfrm>
            <a:off x="1207008" y="1325880"/>
            <a:ext cx="1783080"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Panic-mode recovery</a:t>
            </a:r>
            <a:endParaRPr lang="en-US" sz="1500" dirty="0"/>
          </a:p>
        </p:txBody>
      </p:sp>
      <p:sp>
        <p:nvSpPr>
          <p:cNvPr id="8" name="Text 4"/>
          <p:cNvSpPr txBox="1"/>
          <p:nvPr/>
        </p:nvSpPr>
        <p:spPr>
          <a:xfrm>
            <a:off x="640080" y="1874520"/>
            <a:ext cx="2286000" cy="59436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3.85</a:t>
            </a:r>
            <a:endParaRPr lang="en-US" sz="3200" dirty="0"/>
          </a:p>
        </p:txBody>
      </p:sp>
      <p:sp>
        <p:nvSpPr>
          <p:cNvPr id="9" name="Text 5"/>
          <p:cNvSpPr txBox="1"/>
          <p:nvPr/>
        </p:nvSpPr>
        <p:spPr>
          <a:xfrm>
            <a:off x="640080" y="2468880"/>
            <a:ext cx="2286000" cy="27432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diagnostics per case</a:t>
            </a:r>
            <a:endParaRPr lang="en-US" sz="1200" dirty="0"/>
          </a:p>
        </p:txBody>
      </p:sp>
      <p:sp>
        <p:nvSpPr>
          <p:cNvPr id="10" name="Text 6"/>
          <p:cNvSpPr txBox="1"/>
          <p:nvPr/>
        </p:nvSpPr>
        <p:spPr>
          <a:xfrm>
            <a:off x="640080" y="2834640"/>
            <a:ext cx="2286000" cy="10972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skips to ';' or '}'; 61.1% of cases get a spurious error; never says what to change</a:t>
            </a:r>
            <a:endParaRPr lang="en-US" sz="1200" dirty="0"/>
          </a:p>
        </p:txBody>
      </p:sp>
      <p:sp>
        <p:nvSpPr>
          <p:cNvPr id="11" name="approach 2"/>
          <p:cNvSpPr/>
          <p:nvPr/>
        </p:nvSpPr>
        <p:spPr>
          <a:xfrm>
            <a:off x="3246120" y="1097280"/>
            <a:ext cx="2606040" cy="2926080"/>
          </a:xfrm>
          <a:prstGeom prst="roundRect">
            <a:avLst>
              <a:gd name="adj" fmla="val 3509"/>
            </a:avLst>
          </a:prstGeom>
          <a:solidFill>
            <a:srgbClr val="F1F5F9"/>
          </a:solidFill>
          <a:ln w="12700">
            <a:solidFill>
              <a:srgbClr val="F1F5F9"/>
            </a:solidFill>
            <a:prstDash val="solid"/>
          </a:ln>
        </p:spPr>
      </p:sp>
      <p:sp>
        <p:nvSpPr>
          <p:cNvPr id="12" name="approach 2 circle"/>
          <p:cNvSpPr/>
          <p:nvPr/>
        </p:nvSpPr>
        <p:spPr>
          <a:xfrm>
            <a:off x="3429000" y="1261872"/>
            <a:ext cx="457200" cy="457200"/>
          </a:xfrm>
          <a:prstGeom prst="ellipse">
            <a:avLst/>
          </a:prstGeom>
          <a:solidFill>
            <a:srgbClr val="64748B"/>
          </a:solidFill>
          <a:ln w="12700">
            <a:solidFill>
              <a:srgbClr val="64748B"/>
            </a:solidFill>
            <a:prstDash val="solid"/>
          </a:ln>
        </p:spPr>
      </p:sp>
      <p:pic>
        <p:nvPicPr>
          <p:cNvPr id="13" name="approach 2 icon" descr="preencoded.png">    </p:cNvPr>
          <p:cNvPicPr>
            <a:picLocks noChangeAspect="1"/>
          </p:cNvPicPr>
          <p:nvPr/>
        </p:nvPicPr>
        <p:blipFill>
          <a:blip r:embed="rId2"/>
          <a:stretch>
            <a:fillRect/>
          </a:stretch>
        </p:blipFill>
        <p:spPr>
          <a:xfrm>
            <a:off x="3529584" y="1362456"/>
            <a:ext cx="256032" cy="256032"/>
          </a:xfrm>
          <a:prstGeom prst="rect">
            <a:avLst/>
          </a:prstGeom>
        </p:spPr>
      </p:pic>
      <p:sp>
        <p:nvSpPr>
          <p:cNvPr id="14" name="Text 9"/>
          <p:cNvSpPr txBox="1"/>
          <p:nvPr/>
        </p:nvSpPr>
        <p:spPr>
          <a:xfrm>
            <a:off x="3995928" y="1325880"/>
            <a:ext cx="1783080"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Least-cost repair</a:t>
            </a:r>
            <a:endParaRPr lang="en-US" sz="1500" dirty="0"/>
          </a:p>
        </p:txBody>
      </p:sp>
      <p:sp>
        <p:nvSpPr>
          <p:cNvPr id="15" name="Text 10"/>
          <p:cNvSpPr txBox="1"/>
          <p:nvPr/>
        </p:nvSpPr>
        <p:spPr>
          <a:xfrm>
            <a:off x="3429000" y="1874520"/>
            <a:ext cx="2286000" cy="59436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55.2%</a:t>
            </a:r>
            <a:endParaRPr lang="en-US" sz="3200" dirty="0"/>
          </a:p>
        </p:txBody>
      </p:sp>
      <p:sp>
        <p:nvSpPr>
          <p:cNvPr id="16" name="Text 11"/>
          <p:cNvSpPr txBox="1"/>
          <p:nvPr/>
        </p:nvSpPr>
        <p:spPr>
          <a:xfrm>
            <a:off x="3429000" y="2468880"/>
            <a:ext cx="2286000" cy="27432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top-1 restores the program</a:t>
            </a:r>
            <a:endParaRPr lang="en-US" sz="1200" dirty="0"/>
          </a:p>
        </p:txBody>
      </p:sp>
      <p:sp>
        <p:nvSpPr>
          <p:cNvPr id="17" name="Text 12"/>
          <p:cNvSpPr txBox="1"/>
          <p:nvPr/>
        </p:nvSpPr>
        <p:spPr>
          <a:xfrm>
            <a:off x="3429000" y="2834640"/>
            <a:ext cx="2286000" cy="10972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the cheapest edit that parses is often not the intended one</a:t>
            </a:r>
            <a:endParaRPr lang="en-US" sz="1200" dirty="0"/>
          </a:p>
        </p:txBody>
      </p:sp>
      <p:sp>
        <p:nvSpPr>
          <p:cNvPr id="18" name="approach 3"/>
          <p:cNvSpPr/>
          <p:nvPr/>
        </p:nvSpPr>
        <p:spPr>
          <a:xfrm>
            <a:off x="6035040" y="1097280"/>
            <a:ext cx="2606040" cy="2926080"/>
          </a:xfrm>
          <a:prstGeom prst="roundRect">
            <a:avLst>
              <a:gd name="adj" fmla="val 3509"/>
            </a:avLst>
          </a:prstGeom>
          <a:solidFill>
            <a:srgbClr val="F1F5F9"/>
          </a:solidFill>
          <a:ln w="12700">
            <a:solidFill>
              <a:srgbClr val="F1F5F9"/>
            </a:solidFill>
            <a:prstDash val="solid"/>
          </a:ln>
        </p:spPr>
      </p:sp>
      <p:sp>
        <p:nvSpPr>
          <p:cNvPr id="19" name="approach 3 circle"/>
          <p:cNvSpPr/>
          <p:nvPr/>
        </p:nvSpPr>
        <p:spPr>
          <a:xfrm>
            <a:off x="6217920" y="1261872"/>
            <a:ext cx="457200" cy="457200"/>
          </a:xfrm>
          <a:prstGeom prst="ellipse">
            <a:avLst/>
          </a:prstGeom>
          <a:solidFill>
            <a:srgbClr val="64748B"/>
          </a:solidFill>
          <a:ln w="12700">
            <a:solidFill>
              <a:srgbClr val="64748B"/>
            </a:solidFill>
            <a:prstDash val="solid"/>
          </a:ln>
        </p:spPr>
      </p:sp>
      <p:pic>
        <p:nvPicPr>
          <p:cNvPr id="20" name="approach 3 icon" descr="preencoded.png">    </p:cNvPr>
          <p:cNvPicPr>
            <a:picLocks noChangeAspect="1"/>
          </p:cNvPicPr>
          <p:nvPr/>
        </p:nvPicPr>
        <p:blipFill>
          <a:blip r:embed="rId3"/>
          <a:stretch>
            <a:fillRect/>
          </a:stretch>
        </p:blipFill>
        <p:spPr>
          <a:xfrm>
            <a:off x="6318504" y="1362456"/>
            <a:ext cx="256032" cy="256032"/>
          </a:xfrm>
          <a:prstGeom prst="rect">
            <a:avLst/>
          </a:prstGeom>
        </p:spPr>
      </p:pic>
      <p:sp>
        <p:nvSpPr>
          <p:cNvPr id="21" name="Text 15"/>
          <p:cNvSpPr txBox="1"/>
          <p:nvPr/>
        </p:nvSpPr>
        <p:spPr>
          <a:xfrm>
            <a:off x="6784848" y="1325880"/>
            <a:ext cx="1783080"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CPCT+ (ECOOP 2020)</a:t>
            </a:r>
            <a:endParaRPr lang="en-US" sz="1500" dirty="0"/>
          </a:p>
        </p:txBody>
      </p:sp>
      <p:sp>
        <p:nvSpPr>
          <p:cNvPr id="22" name="Text 16"/>
          <p:cNvSpPr txBox="1"/>
          <p:nvPr/>
        </p:nvSpPr>
        <p:spPr>
          <a:xfrm>
            <a:off x="6217920" y="1874520"/>
            <a:ext cx="2286000" cy="59436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48.0–48.7%</a:t>
            </a:r>
            <a:endParaRPr lang="en-US" sz="3200" dirty="0"/>
          </a:p>
        </p:txBody>
      </p:sp>
      <p:sp>
        <p:nvSpPr>
          <p:cNvPr id="23" name="Text 17"/>
          <p:cNvSpPr txBox="1"/>
          <p:nvPr/>
        </p:nvSpPr>
        <p:spPr>
          <a:xfrm>
            <a:off x="6217920" y="2468880"/>
            <a:ext cx="2286000" cy="27432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top-1, first repair (2 runs here)</a:t>
            </a:r>
            <a:endParaRPr lang="en-US" sz="1200" dirty="0"/>
          </a:p>
        </p:txBody>
      </p:sp>
      <p:sp>
        <p:nvSpPr>
          <p:cNvPr id="24" name="Text 18"/>
          <p:cNvSpPr txBox="1"/>
          <p:nvPr/>
        </p:nvSpPr>
        <p:spPr>
          <a:xfrm>
            <a:off x="6217920" y="2834640"/>
            <a:ext cx="2286000" cy="10972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all minimum-cost repairs; picks arbitrarily among equal-cost ones (built for recovery)</a:t>
            </a:r>
            <a:endParaRPr lang="en-US" sz="1200" dirty="0"/>
          </a:p>
        </p:txBody>
      </p:sp>
      <p:sp>
        <p:nvSpPr>
          <p:cNvPr id="25" name="Text 19"/>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The gap: </a:t>
            </a:r>
            <a:pPr indent="0" marL="0">
              <a:buNone/>
            </a:pPr>
            <a:r>
              <a:rPr lang="en-US" sz="1500" dirty="0">
                <a:solidFill>
                  <a:schemeClr val="tx1"/>
                </a:solidFill>
                <a:latin typeface="Calibri" pitchFamily="34" charset="0"/>
                <a:ea typeface="Calibri" pitchFamily="34" charset="-122"/>
                <a:cs typeface="Calibri" pitchFamily="34" charset="-120"/>
              </a:rPr>
              <a:t>none of them uses layout or names, and none can say “I am not sure”.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The IntelliFix pipeline</a:t>
            </a:r>
            <a:endParaRPr lang="en-US" sz="2800" dirty="0"/>
          </a:p>
        </p:txBody>
      </p:sp>
      <p:sp>
        <p:nvSpPr>
          <p:cNvPr id="4" name="stage 1"/>
          <p:cNvSpPr/>
          <p:nvPr/>
        </p:nvSpPr>
        <p:spPr>
          <a:xfrm>
            <a:off x="457200" y="1417320"/>
            <a:ext cx="1097280" cy="1828800"/>
          </a:xfrm>
          <a:prstGeom prst="roundRect">
            <a:avLst>
              <a:gd name="adj" fmla="val 8333"/>
            </a:avLst>
          </a:prstGeom>
          <a:solidFill>
            <a:srgbClr val="F1F5F9"/>
          </a:solidFill>
          <a:ln w="12700">
            <a:solidFill>
              <a:srgbClr val="F1F5F9"/>
            </a:solidFill>
            <a:prstDash val="solid"/>
          </a:ln>
        </p:spPr>
      </p:sp>
      <p:sp>
        <p:nvSpPr>
          <p:cNvPr id="5" name="stage number 1"/>
          <p:cNvSpPr/>
          <p:nvPr/>
        </p:nvSpPr>
        <p:spPr>
          <a:xfrm>
            <a:off x="804672" y="1554480"/>
            <a:ext cx="402336" cy="402336"/>
          </a:xfrm>
          <a:prstGeom prst="ellipse">
            <a:avLst/>
          </a:prstGeom>
          <a:solidFill>
            <a:srgbClr val="64748B"/>
          </a:solidFill>
          <a:ln w="12700">
            <a:solidFill>
              <a:srgbClr val="64748B"/>
            </a:solidFill>
            <a:prstDash val="solid"/>
          </a:ln>
        </p:spPr>
      </p:sp>
      <p:sp>
        <p:nvSpPr>
          <p:cNvPr id="6" name="Text 3"/>
          <p:cNvSpPr txBox="1"/>
          <p:nvPr/>
        </p:nvSpPr>
        <p:spPr>
          <a:xfrm>
            <a:off x="804672" y="155448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530352" y="2057400"/>
            <a:ext cx="950976" cy="45720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Lex</a:t>
            </a:r>
            <a:endParaRPr lang="en-US" sz="1300" dirty="0"/>
          </a:p>
        </p:txBody>
      </p:sp>
      <p:sp>
        <p:nvSpPr>
          <p:cNvPr id="8" name="Text 5"/>
          <p:cNvSpPr txBox="1"/>
          <p:nvPr/>
        </p:nvSpPr>
        <p:spPr>
          <a:xfrm>
            <a:off x="530352" y="2542032"/>
            <a:ext cx="950976" cy="685800"/>
          </a:xfrm>
          <a:prstGeom prst="rect">
            <a:avLst/>
          </a:prstGeom>
          <a:noFill/>
          <a:ln/>
        </p:spPr>
        <p:txBody>
          <a:bodyPr wrap="square" lIns="0" tIns="0" rIns="0" bIns="0" rtlCol="0" anchor="t"/>
          <a:lstStyle/>
          <a:p>
            <a:pPr algn="ctr" indent="0" marL="0">
              <a:buNone/>
            </a:pPr>
            <a:r>
              <a:rPr lang="en-US" sz="1050" dirty="0">
                <a:solidFill>
                  <a:schemeClr val="tx2"/>
                </a:solidFill>
                <a:latin typeface="Calibri" pitchFamily="34" charset="0"/>
                <a:ea typeface="Calibri" pitchFamily="34" charset="-122"/>
                <a:cs typeface="Calibri" pitchFamily="34" charset="-120"/>
              </a:rPr>
              <a:t>Flex: tokens with exact spans</a:t>
            </a:r>
            <a:endParaRPr lang="en-US" sz="1050" dirty="0"/>
          </a:p>
        </p:txBody>
      </p:sp>
      <p:sp>
        <p:nvSpPr>
          <p:cNvPr id="9" name="stage 2"/>
          <p:cNvSpPr/>
          <p:nvPr/>
        </p:nvSpPr>
        <p:spPr>
          <a:xfrm>
            <a:off x="1645920" y="1417320"/>
            <a:ext cx="1097280" cy="1828800"/>
          </a:xfrm>
          <a:prstGeom prst="roundRect">
            <a:avLst>
              <a:gd name="adj" fmla="val 8333"/>
            </a:avLst>
          </a:prstGeom>
          <a:solidFill>
            <a:srgbClr val="F1F5F9"/>
          </a:solidFill>
          <a:ln w="12700">
            <a:solidFill>
              <a:srgbClr val="F1F5F9"/>
            </a:solidFill>
            <a:prstDash val="solid"/>
          </a:ln>
        </p:spPr>
      </p:sp>
      <p:sp>
        <p:nvSpPr>
          <p:cNvPr id="10" name="stage number 2"/>
          <p:cNvSpPr/>
          <p:nvPr/>
        </p:nvSpPr>
        <p:spPr>
          <a:xfrm>
            <a:off x="1993392" y="1554480"/>
            <a:ext cx="402336" cy="402336"/>
          </a:xfrm>
          <a:prstGeom prst="ellipse">
            <a:avLst/>
          </a:prstGeom>
          <a:solidFill>
            <a:srgbClr val="64748B"/>
          </a:solidFill>
          <a:ln w="12700">
            <a:solidFill>
              <a:srgbClr val="64748B"/>
            </a:solidFill>
            <a:prstDash val="solid"/>
          </a:ln>
        </p:spPr>
      </p:sp>
      <p:sp>
        <p:nvSpPr>
          <p:cNvPr id="11" name="Text 8"/>
          <p:cNvSpPr txBox="1"/>
          <p:nvPr/>
        </p:nvSpPr>
        <p:spPr>
          <a:xfrm>
            <a:off x="1993392" y="155448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1719072" y="2057400"/>
            <a:ext cx="950976" cy="45720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Parse</a:t>
            </a:r>
            <a:endParaRPr lang="en-US" sz="1300" dirty="0"/>
          </a:p>
        </p:txBody>
      </p:sp>
      <p:sp>
        <p:nvSpPr>
          <p:cNvPr id="13" name="Text 10"/>
          <p:cNvSpPr txBox="1"/>
          <p:nvPr/>
        </p:nvSpPr>
        <p:spPr>
          <a:xfrm>
            <a:off x="1719072" y="2542032"/>
            <a:ext cx="950976" cy="685800"/>
          </a:xfrm>
          <a:prstGeom prst="rect">
            <a:avLst/>
          </a:prstGeom>
          <a:noFill/>
          <a:ln/>
        </p:spPr>
        <p:txBody>
          <a:bodyPr wrap="square" lIns="0" tIns="0" rIns="0" bIns="0" rtlCol="0" anchor="t"/>
          <a:lstStyle/>
          <a:p>
            <a:pPr algn="ctr" indent="0" marL="0">
              <a:buNone/>
            </a:pPr>
            <a:r>
              <a:rPr lang="en-US" sz="1050" dirty="0">
                <a:solidFill>
                  <a:schemeClr val="tx2"/>
                </a:solidFill>
                <a:latin typeface="Calibri" pitchFamily="34" charset="0"/>
                <a:ea typeface="Calibri" pitchFamily="34" charset="-122"/>
                <a:cs typeface="Calibri" pitchFamily="34" charset="-120"/>
              </a:rPr>
              <a:t>Bison LALR(1), panic mode</a:t>
            </a:r>
            <a:endParaRPr lang="en-US" sz="1050" dirty="0"/>
          </a:p>
        </p:txBody>
      </p:sp>
      <p:sp>
        <p:nvSpPr>
          <p:cNvPr id="14" name="stage 3"/>
          <p:cNvSpPr/>
          <p:nvPr/>
        </p:nvSpPr>
        <p:spPr>
          <a:xfrm>
            <a:off x="2834640" y="1417320"/>
            <a:ext cx="1097280" cy="1828800"/>
          </a:xfrm>
          <a:prstGeom prst="roundRect">
            <a:avLst>
              <a:gd name="adj" fmla="val 8333"/>
            </a:avLst>
          </a:prstGeom>
          <a:solidFill>
            <a:srgbClr val="F1F5F9"/>
          </a:solidFill>
          <a:ln w="12700">
            <a:solidFill>
              <a:srgbClr val="F1F5F9"/>
            </a:solidFill>
            <a:prstDash val="solid"/>
          </a:ln>
        </p:spPr>
      </p:sp>
      <p:sp>
        <p:nvSpPr>
          <p:cNvPr id="15" name="stage number 3"/>
          <p:cNvSpPr/>
          <p:nvPr/>
        </p:nvSpPr>
        <p:spPr>
          <a:xfrm>
            <a:off x="3182112" y="1554480"/>
            <a:ext cx="402336" cy="402336"/>
          </a:xfrm>
          <a:prstGeom prst="ellipse">
            <a:avLst/>
          </a:prstGeom>
          <a:solidFill>
            <a:srgbClr val="0F766E"/>
          </a:solidFill>
          <a:ln w="12700">
            <a:solidFill>
              <a:srgbClr val="0F766E"/>
            </a:solidFill>
            <a:prstDash val="solid"/>
          </a:ln>
        </p:spPr>
      </p:sp>
      <p:sp>
        <p:nvSpPr>
          <p:cNvPr id="16" name="Text 13"/>
          <p:cNvSpPr txBox="1"/>
          <p:nvPr/>
        </p:nvSpPr>
        <p:spPr>
          <a:xfrm>
            <a:off x="3182112" y="155448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2907792" y="2057400"/>
            <a:ext cx="950976" cy="45720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Localise</a:t>
            </a:r>
            <a:endParaRPr lang="en-US" sz="1300" dirty="0"/>
          </a:p>
        </p:txBody>
      </p:sp>
      <p:sp>
        <p:nvSpPr>
          <p:cNvPr id="18" name="Text 15"/>
          <p:cNvSpPr txBox="1"/>
          <p:nvPr/>
        </p:nvSpPr>
        <p:spPr>
          <a:xfrm>
            <a:off x="2907792" y="2542032"/>
            <a:ext cx="950976" cy="685800"/>
          </a:xfrm>
          <a:prstGeom prst="rect">
            <a:avLst/>
          </a:prstGeom>
          <a:noFill/>
          <a:ln/>
        </p:spPr>
        <p:txBody>
          <a:bodyPr wrap="square" lIns="0" tIns="0" rIns="0" bIns="0" rtlCol="0" anchor="t"/>
          <a:lstStyle/>
          <a:p>
            <a:pPr algn="ctr" indent="0" marL="0">
              <a:buNone/>
            </a:pPr>
            <a:r>
              <a:rPr lang="en-US" sz="1050" dirty="0">
                <a:solidFill>
                  <a:schemeClr val="tx2"/>
                </a:solidFill>
                <a:latin typeface="Calibri" pitchFamily="34" charset="0"/>
                <a:ea typeface="Calibri" pitchFamily="34" charset="-122"/>
                <a:cs typeface="Calibri" pitchFamily="34" charset="-120"/>
              </a:rPr>
              <a:t>first error, exact LAC expectations</a:t>
            </a:r>
            <a:endParaRPr lang="en-US" sz="1050" dirty="0"/>
          </a:p>
        </p:txBody>
      </p:sp>
      <p:sp>
        <p:nvSpPr>
          <p:cNvPr id="19" name="stage 4"/>
          <p:cNvSpPr/>
          <p:nvPr/>
        </p:nvSpPr>
        <p:spPr>
          <a:xfrm>
            <a:off x="4023360" y="1417320"/>
            <a:ext cx="1097280" cy="1828800"/>
          </a:xfrm>
          <a:prstGeom prst="roundRect">
            <a:avLst>
              <a:gd name="adj" fmla="val 8333"/>
            </a:avLst>
          </a:prstGeom>
          <a:solidFill>
            <a:srgbClr val="F1F5F9"/>
          </a:solidFill>
          <a:ln w="12700">
            <a:solidFill>
              <a:srgbClr val="F1F5F9"/>
            </a:solidFill>
            <a:prstDash val="solid"/>
          </a:ln>
        </p:spPr>
      </p:sp>
      <p:sp>
        <p:nvSpPr>
          <p:cNvPr id="20" name="stage number 4"/>
          <p:cNvSpPr/>
          <p:nvPr/>
        </p:nvSpPr>
        <p:spPr>
          <a:xfrm>
            <a:off x="4370832" y="1554480"/>
            <a:ext cx="402336" cy="402336"/>
          </a:xfrm>
          <a:prstGeom prst="ellipse">
            <a:avLst/>
          </a:prstGeom>
          <a:solidFill>
            <a:srgbClr val="0F766E"/>
          </a:solidFill>
          <a:ln w="12700">
            <a:solidFill>
              <a:srgbClr val="0F766E"/>
            </a:solidFill>
            <a:prstDash val="solid"/>
          </a:ln>
        </p:spPr>
      </p:sp>
      <p:sp>
        <p:nvSpPr>
          <p:cNvPr id="21" name="Text 18"/>
          <p:cNvSpPr txBox="1"/>
          <p:nvPr/>
        </p:nvSpPr>
        <p:spPr>
          <a:xfrm>
            <a:off x="4370832" y="155448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22" name="Text 19"/>
          <p:cNvSpPr txBox="1"/>
          <p:nvPr/>
        </p:nvSpPr>
        <p:spPr>
          <a:xfrm>
            <a:off x="4096512" y="2057400"/>
            <a:ext cx="950976" cy="45720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Generate &amp; validate</a:t>
            </a:r>
            <a:endParaRPr lang="en-US" sz="1300" dirty="0"/>
          </a:p>
        </p:txBody>
      </p:sp>
      <p:sp>
        <p:nvSpPr>
          <p:cNvPr id="23" name="Text 20"/>
          <p:cNvSpPr txBox="1"/>
          <p:nvPr/>
        </p:nvSpPr>
        <p:spPr>
          <a:xfrm>
            <a:off x="4096512" y="2542032"/>
            <a:ext cx="950976" cy="685800"/>
          </a:xfrm>
          <a:prstGeom prst="rect">
            <a:avLst/>
          </a:prstGeom>
          <a:noFill/>
          <a:ln/>
        </p:spPr>
        <p:txBody>
          <a:bodyPr wrap="square" lIns="0" tIns="0" rIns="0" bIns="0" rtlCol="0" anchor="t"/>
          <a:lstStyle/>
          <a:p>
            <a:pPr algn="ctr" indent="0" marL="0">
              <a:buNone/>
            </a:pPr>
            <a:r>
              <a:rPr lang="en-US" sz="1050" dirty="0">
                <a:solidFill>
                  <a:schemeClr val="tx2"/>
                </a:solidFill>
                <a:latin typeface="Calibri" pitchFamily="34" charset="0"/>
                <a:ea typeface="Calibri" pitchFamily="34" charset="-122"/>
                <a:cs typeface="Calibri" pitchFamily="34" charset="-120"/>
              </a:rPr>
              <a:t>bounded edits, each re-parsed</a:t>
            </a:r>
            <a:endParaRPr lang="en-US" sz="1050" dirty="0"/>
          </a:p>
        </p:txBody>
      </p:sp>
      <p:sp>
        <p:nvSpPr>
          <p:cNvPr id="24" name="stage 5"/>
          <p:cNvSpPr/>
          <p:nvPr/>
        </p:nvSpPr>
        <p:spPr>
          <a:xfrm>
            <a:off x="5212080" y="1417320"/>
            <a:ext cx="1097280" cy="1828800"/>
          </a:xfrm>
          <a:prstGeom prst="roundRect">
            <a:avLst>
              <a:gd name="adj" fmla="val 8333"/>
            </a:avLst>
          </a:prstGeom>
          <a:solidFill>
            <a:srgbClr val="F1F5F9"/>
          </a:solidFill>
          <a:ln w="12700">
            <a:solidFill>
              <a:srgbClr val="F1F5F9"/>
            </a:solidFill>
            <a:prstDash val="solid"/>
          </a:ln>
        </p:spPr>
      </p:sp>
      <p:sp>
        <p:nvSpPr>
          <p:cNvPr id="25" name="stage number 5"/>
          <p:cNvSpPr/>
          <p:nvPr/>
        </p:nvSpPr>
        <p:spPr>
          <a:xfrm>
            <a:off x="5559552" y="1554480"/>
            <a:ext cx="402336" cy="402336"/>
          </a:xfrm>
          <a:prstGeom prst="ellipse">
            <a:avLst/>
          </a:prstGeom>
          <a:solidFill>
            <a:srgbClr val="0F766E"/>
          </a:solidFill>
          <a:ln w="12700">
            <a:solidFill>
              <a:srgbClr val="0F766E"/>
            </a:solidFill>
            <a:prstDash val="solid"/>
          </a:ln>
        </p:spPr>
      </p:sp>
      <p:sp>
        <p:nvSpPr>
          <p:cNvPr id="26" name="Text 23"/>
          <p:cNvSpPr txBox="1"/>
          <p:nvPr/>
        </p:nvSpPr>
        <p:spPr>
          <a:xfrm>
            <a:off x="5559552" y="155448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7" name="Text 24"/>
          <p:cNvSpPr txBox="1"/>
          <p:nvPr/>
        </p:nvSpPr>
        <p:spPr>
          <a:xfrm>
            <a:off x="5285232" y="2057400"/>
            <a:ext cx="950976" cy="45720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Rank &amp; group</a:t>
            </a:r>
            <a:endParaRPr lang="en-US" sz="1300" dirty="0"/>
          </a:p>
        </p:txBody>
      </p:sp>
      <p:sp>
        <p:nvSpPr>
          <p:cNvPr id="28" name="Text 25"/>
          <p:cNvSpPr txBox="1"/>
          <p:nvPr/>
        </p:nvSpPr>
        <p:spPr>
          <a:xfrm>
            <a:off x="5285232" y="2542032"/>
            <a:ext cx="950976" cy="685800"/>
          </a:xfrm>
          <a:prstGeom prst="rect">
            <a:avLst/>
          </a:prstGeom>
          <a:noFill/>
          <a:ln/>
        </p:spPr>
        <p:txBody>
          <a:bodyPr wrap="square" lIns="0" tIns="0" rIns="0" bIns="0" rtlCol="0" anchor="t"/>
          <a:lstStyle/>
          <a:p>
            <a:pPr algn="ctr" indent="0" marL="0">
              <a:buNone/>
            </a:pPr>
            <a:r>
              <a:rPr lang="en-US" sz="1050" dirty="0">
                <a:solidFill>
                  <a:schemeClr val="tx2"/>
                </a:solidFill>
                <a:latin typeface="Calibri" pitchFamily="34" charset="0"/>
                <a:ea typeface="Calibri" pitchFamily="34" charset="-122"/>
                <a:cs typeface="Calibri" pitchFamily="34" charset="-120"/>
              </a:rPr>
              <a:t>13 evidence features; AST classes</a:t>
            </a:r>
            <a:endParaRPr lang="en-US" sz="1050" dirty="0"/>
          </a:p>
        </p:txBody>
      </p:sp>
      <p:sp>
        <p:nvSpPr>
          <p:cNvPr id="29" name="stage 6"/>
          <p:cNvSpPr/>
          <p:nvPr/>
        </p:nvSpPr>
        <p:spPr>
          <a:xfrm>
            <a:off x="6400800" y="1417320"/>
            <a:ext cx="1097280" cy="1828800"/>
          </a:xfrm>
          <a:prstGeom prst="roundRect">
            <a:avLst>
              <a:gd name="adj" fmla="val 8333"/>
            </a:avLst>
          </a:prstGeom>
          <a:solidFill>
            <a:srgbClr val="F1F5F9"/>
          </a:solidFill>
          <a:ln w="12700">
            <a:solidFill>
              <a:srgbClr val="F1F5F9"/>
            </a:solidFill>
            <a:prstDash val="solid"/>
          </a:ln>
        </p:spPr>
      </p:sp>
      <p:sp>
        <p:nvSpPr>
          <p:cNvPr id="30" name="stage number 6"/>
          <p:cNvSpPr/>
          <p:nvPr/>
        </p:nvSpPr>
        <p:spPr>
          <a:xfrm>
            <a:off x="6748272" y="1554480"/>
            <a:ext cx="402336" cy="402336"/>
          </a:xfrm>
          <a:prstGeom prst="ellipse">
            <a:avLst/>
          </a:prstGeom>
          <a:solidFill>
            <a:srgbClr val="0F766E"/>
          </a:solidFill>
          <a:ln w="12700">
            <a:solidFill>
              <a:srgbClr val="0F766E"/>
            </a:solidFill>
            <a:prstDash val="solid"/>
          </a:ln>
        </p:spPr>
      </p:sp>
      <p:sp>
        <p:nvSpPr>
          <p:cNvPr id="31" name="Text 28"/>
          <p:cNvSpPr txBox="1"/>
          <p:nvPr/>
        </p:nvSpPr>
        <p:spPr>
          <a:xfrm>
            <a:off x="6748272" y="155448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32" name="Text 29"/>
          <p:cNvSpPr txBox="1"/>
          <p:nvPr/>
        </p:nvSpPr>
        <p:spPr>
          <a:xfrm>
            <a:off x="6473952" y="2057400"/>
            <a:ext cx="950976" cy="45720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Lanes</a:t>
            </a:r>
            <a:endParaRPr lang="en-US" sz="1300" dirty="0"/>
          </a:p>
        </p:txBody>
      </p:sp>
      <p:sp>
        <p:nvSpPr>
          <p:cNvPr id="33" name="Text 30"/>
          <p:cNvSpPr txBox="1"/>
          <p:nvPr/>
        </p:nvSpPr>
        <p:spPr>
          <a:xfrm>
            <a:off x="6473952" y="2542032"/>
            <a:ext cx="950976" cy="685800"/>
          </a:xfrm>
          <a:prstGeom prst="rect">
            <a:avLst/>
          </a:prstGeom>
          <a:noFill/>
          <a:ln/>
        </p:spPr>
        <p:txBody>
          <a:bodyPr wrap="square" lIns="0" tIns="0" rIns="0" bIns="0" rtlCol="0" anchor="t"/>
          <a:lstStyle/>
          <a:p>
            <a:pPr algn="ctr" indent="0" marL="0">
              <a:buNone/>
            </a:pPr>
            <a:r>
              <a:rPr lang="en-US" sz="1050" dirty="0">
                <a:solidFill>
                  <a:schemeClr val="tx2"/>
                </a:solidFill>
                <a:latin typeface="Calibri" pitchFamily="34" charset="0"/>
                <a:ea typeface="Calibri" pitchFamily="34" charset="-122"/>
                <a:cs typeface="Calibri" pitchFamily="34" charset="-120"/>
              </a:rPr>
              <a:t>repair later errors per hypothesis</a:t>
            </a:r>
            <a:endParaRPr lang="en-US" sz="1050" dirty="0"/>
          </a:p>
        </p:txBody>
      </p:sp>
      <p:sp>
        <p:nvSpPr>
          <p:cNvPr id="34" name="stage 7"/>
          <p:cNvSpPr/>
          <p:nvPr/>
        </p:nvSpPr>
        <p:spPr>
          <a:xfrm>
            <a:off x="7589520" y="1417320"/>
            <a:ext cx="1097280" cy="1828800"/>
          </a:xfrm>
          <a:prstGeom prst="roundRect">
            <a:avLst>
              <a:gd name="adj" fmla="val 8333"/>
            </a:avLst>
          </a:prstGeom>
          <a:solidFill>
            <a:srgbClr val="F1F5F9"/>
          </a:solidFill>
          <a:ln w="12700">
            <a:solidFill>
              <a:srgbClr val="F1F5F9"/>
            </a:solidFill>
            <a:prstDash val="solid"/>
          </a:ln>
        </p:spPr>
      </p:sp>
      <p:sp>
        <p:nvSpPr>
          <p:cNvPr id="35" name="stage number 7"/>
          <p:cNvSpPr/>
          <p:nvPr/>
        </p:nvSpPr>
        <p:spPr>
          <a:xfrm>
            <a:off x="7936992" y="1554480"/>
            <a:ext cx="402336" cy="402336"/>
          </a:xfrm>
          <a:prstGeom prst="ellipse">
            <a:avLst/>
          </a:prstGeom>
          <a:solidFill>
            <a:srgbClr val="4F46E5"/>
          </a:solidFill>
          <a:ln w="12700">
            <a:solidFill>
              <a:srgbClr val="4F46E5"/>
            </a:solidFill>
            <a:prstDash val="solid"/>
          </a:ln>
        </p:spPr>
      </p:sp>
      <p:sp>
        <p:nvSpPr>
          <p:cNvPr id="36" name="Text 33"/>
          <p:cNvSpPr txBox="1"/>
          <p:nvPr/>
        </p:nvSpPr>
        <p:spPr>
          <a:xfrm>
            <a:off x="7936992" y="155448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7</a:t>
            </a:r>
            <a:endParaRPr lang="en-US" sz="1500" dirty="0"/>
          </a:p>
        </p:txBody>
      </p:sp>
      <p:sp>
        <p:nvSpPr>
          <p:cNvPr id="37" name="Text 34"/>
          <p:cNvSpPr txBox="1"/>
          <p:nvPr/>
        </p:nvSpPr>
        <p:spPr>
          <a:xfrm>
            <a:off x="7662672" y="2057400"/>
            <a:ext cx="950976" cy="45720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Decide</a:t>
            </a:r>
            <a:endParaRPr lang="en-US" sz="1300" dirty="0"/>
          </a:p>
        </p:txBody>
      </p:sp>
      <p:sp>
        <p:nvSpPr>
          <p:cNvPr id="38" name="Text 35"/>
          <p:cNvSpPr txBox="1"/>
          <p:nvPr/>
        </p:nvSpPr>
        <p:spPr>
          <a:xfrm>
            <a:off x="7662672" y="2542032"/>
            <a:ext cx="950976" cy="685800"/>
          </a:xfrm>
          <a:prstGeom prst="rect">
            <a:avLst/>
          </a:prstGeom>
          <a:noFill/>
          <a:ln/>
        </p:spPr>
        <p:txBody>
          <a:bodyPr wrap="square" lIns="0" tIns="0" rIns="0" bIns="0" rtlCol="0" anchor="t"/>
          <a:lstStyle/>
          <a:p>
            <a:pPr algn="ctr" indent="0" marL="0">
              <a:buNone/>
            </a:pPr>
            <a:r>
              <a:rPr lang="en-US" sz="1050" dirty="0">
                <a:solidFill>
                  <a:schemeClr val="tx2"/>
                </a:solidFill>
                <a:latin typeface="Calibri" pitchFamily="34" charset="0"/>
                <a:ea typeface="Calibri" pitchFamily="34" charset="-122"/>
                <a:cs typeface="Calibri" pitchFamily="34" charset="-120"/>
              </a:rPr>
              <a:t>recommend, or say why not</a:t>
            </a:r>
            <a:endParaRPr lang="en-US" sz="1050" dirty="0"/>
          </a:p>
        </p:txBody>
      </p:sp>
      <p:sp>
        <p:nvSpPr>
          <p:cNvPr id="39" name="Front end (Flex + Bison)"/>
          <p:cNvSpPr/>
          <p:nvPr/>
        </p:nvSpPr>
        <p:spPr>
          <a:xfrm>
            <a:off x="457200" y="3383280"/>
            <a:ext cx="2286000" cy="329184"/>
          </a:xfrm>
          <a:prstGeom prst="roundRect">
            <a:avLst>
              <a:gd name="adj" fmla="val 22222"/>
            </a:avLst>
          </a:prstGeom>
          <a:solidFill>
            <a:srgbClr val="64748B"/>
          </a:solidFill>
          <a:ln w="12700">
            <a:solidFill>
              <a:srgbClr val="64748B"/>
            </a:solidFill>
            <a:prstDash val="solid"/>
          </a:ln>
        </p:spPr>
      </p:sp>
      <p:sp>
        <p:nvSpPr>
          <p:cNvPr id="40" name="Text 37"/>
          <p:cNvSpPr txBox="1"/>
          <p:nvPr/>
        </p:nvSpPr>
        <p:spPr>
          <a:xfrm>
            <a:off x="457200" y="3383280"/>
            <a:ext cx="2286000"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Front end (Flex + Bison)</a:t>
            </a:r>
            <a:endParaRPr lang="en-US" sz="1200" dirty="0"/>
          </a:p>
        </p:txBody>
      </p:sp>
      <p:sp>
        <p:nvSpPr>
          <p:cNvPr id="41" name="Repair engine (C++)"/>
          <p:cNvSpPr/>
          <p:nvPr/>
        </p:nvSpPr>
        <p:spPr>
          <a:xfrm>
            <a:off x="2834640" y="3383280"/>
            <a:ext cx="4663440" cy="329184"/>
          </a:xfrm>
          <a:prstGeom prst="roundRect">
            <a:avLst>
              <a:gd name="adj" fmla="val 22222"/>
            </a:avLst>
          </a:prstGeom>
          <a:solidFill>
            <a:srgbClr val="0F766E"/>
          </a:solidFill>
          <a:ln w="12700">
            <a:solidFill>
              <a:srgbClr val="0F766E"/>
            </a:solidFill>
            <a:prstDash val="solid"/>
          </a:ln>
        </p:spPr>
      </p:sp>
      <p:sp>
        <p:nvSpPr>
          <p:cNvPr id="42" name="Text 39"/>
          <p:cNvSpPr txBox="1"/>
          <p:nvPr/>
        </p:nvSpPr>
        <p:spPr>
          <a:xfrm>
            <a:off x="2834640" y="3383280"/>
            <a:ext cx="4663440"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Repair engine (C++)</a:t>
            </a:r>
            <a:endParaRPr lang="en-US" sz="1200" dirty="0"/>
          </a:p>
        </p:txBody>
      </p:sp>
      <p:sp>
        <p:nvSpPr>
          <p:cNvPr id="43" name="Decision"/>
          <p:cNvSpPr/>
          <p:nvPr/>
        </p:nvSpPr>
        <p:spPr>
          <a:xfrm>
            <a:off x="7589520" y="3383280"/>
            <a:ext cx="1097280" cy="329184"/>
          </a:xfrm>
          <a:prstGeom prst="roundRect">
            <a:avLst>
              <a:gd name="adj" fmla="val 22222"/>
            </a:avLst>
          </a:prstGeom>
          <a:solidFill>
            <a:srgbClr val="4F46E5"/>
          </a:solidFill>
          <a:ln w="12700">
            <a:solidFill>
              <a:srgbClr val="4F46E5"/>
            </a:solidFill>
            <a:prstDash val="solid"/>
          </a:ln>
        </p:spPr>
      </p:sp>
      <p:sp>
        <p:nvSpPr>
          <p:cNvPr id="44" name="Text 41"/>
          <p:cNvSpPr txBox="1"/>
          <p:nvPr/>
        </p:nvSpPr>
        <p:spPr>
          <a:xfrm>
            <a:off x="7589520" y="3383280"/>
            <a:ext cx="1097280"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Decision</a:t>
            </a:r>
            <a:endParaRPr lang="en-US" sz="1200" dirty="0"/>
          </a:p>
        </p:txBody>
      </p:sp>
      <p:sp>
        <p:nvSpPr>
          <p:cNvPr id="45" name="Text 42"/>
          <p:cNvSpPr txBox="1"/>
          <p:nvPr/>
        </p:nvSpPr>
        <p:spPr>
          <a:xfrm>
            <a:off x="457200" y="3931920"/>
            <a:ext cx="8229600" cy="4572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Every stage runs in the native compiler (parallaxc). The web interface only displays its output; nothing is simulated.</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A real front end: Flex, Bison and LAC</a:t>
            </a:r>
            <a:endParaRPr lang="en-US" sz="2800" dirty="0"/>
          </a:p>
        </p:txBody>
      </p:sp>
      <p:sp>
        <p:nvSpPr>
          <p:cNvPr id="4" name="Text 1"/>
          <p:cNvSpPr txBox="1"/>
          <p:nvPr/>
        </p:nvSpPr>
        <p:spPr>
          <a:xfrm>
            <a:off x="457200" y="1097280"/>
            <a:ext cx="1143000" cy="64008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97</a:t>
            </a:r>
            <a:endParaRPr lang="en-US" sz="3400" dirty="0"/>
          </a:p>
        </p:txBody>
      </p:sp>
      <p:sp>
        <p:nvSpPr>
          <p:cNvPr id="5" name="Text 2"/>
          <p:cNvSpPr txBox="1"/>
          <p:nvPr/>
        </p:nvSpPr>
        <p:spPr>
          <a:xfrm>
            <a:off x="1645920" y="1234440"/>
            <a:ext cx="237744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grammar rules</a:t>
            </a:r>
            <a:endParaRPr lang="en-US" sz="1400" dirty="0"/>
          </a:p>
        </p:txBody>
      </p:sp>
      <p:sp>
        <p:nvSpPr>
          <p:cNvPr id="6" name="Text 3"/>
          <p:cNvSpPr txBox="1"/>
          <p:nvPr/>
        </p:nvSpPr>
        <p:spPr>
          <a:xfrm>
            <a:off x="457200" y="1920240"/>
            <a:ext cx="1143000" cy="64008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168</a:t>
            </a:r>
            <a:endParaRPr lang="en-US" sz="3400" dirty="0"/>
          </a:p>
        </p:txBody>
      </p:sp>
      <p:sp>
        <p:nvSpPr>
          <p:cNvPr id="7" name="Text 4"/>
          <p:cNvSpPr txBox="1"/>
          <p:nvPr/>
        </p:nvSpPr>
        <p:spPr>
          <a:xfrm>
            <a:off x="1645920" y="2057400"/>
            <a:ext cx="237744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LR states</a:t>
            </a:r>
            <a:endParaRPr lang="en-US" sz="1400" dirty="0"/>
          </a:p>
        </p:txBody>
      </p:sp>
      <p:sp>
        <p:nvSpPr>
          <p:cNvPr id="8" name="Text 5"/>
          <p:cNvSpPr txBox="1"/>
          <p:nvPr/>
        </p:nvSpPr>
        <p:spPr>
          <a:xfrm>
            <a:off x="457200" y="2743200"/>
            <a:ext cx="1143000" cy="64008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0</a:t>
            </a:r>
            <a:endParaRPr lang="en-US" sz="3400" dirty="0"/>
          </a:p>
        </p:txBody>
      </p:sp>
      <p:sp>
        <p:nvSpPr>
          <p:cNvPr id="9" name="Text 6"/>
          <p:cNvSpPr txBox="1"/>
          <p:nvPr/>
        </p:nvSpPr>
        <p:spPr>
          <a:xfrm>
            <a:off x="1645920" y="2880360"/>
            <a:ext cx="237744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conflicts (%expect 0)</a:t>
            </a:r>
            <a:endParaRPr lang="en-US" sz="1400" dirty="0"/>
          </a:p>
        </p:txBody>
      </p:sp>
      <p:sp>
        <p:nvSpPr>
          <p:cNvPr id="10" name="Text 7"/>
          <p:cNvSpPr txBox="1"/>
          <p:nvPr/>
        </p:nvSpPr>
        <p:spPr>
          <a:xfrm>
            <a:off x="457200" y="3566160"/>
            <a:ext cx="1143000" cy="64008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15</a:t>
            </a:r>
            <a:endParaRPr lang="en-US" sz="3400" dirty="0"/>
          </a:p>
        </p:txBody>
      </p:sp>
      <p:sp>
        <p:nvSpPr>
          <p:cNvPr id="11" name="Text 8"/>
          <p:cNvSpPr txBox="1"/>
          <p:nvPr/>
        </p:nvSpPr>
        <p:spPr>
          <a:xfrm>
            <a:off x="1645920" y="3703320"/>
            <a:ext cx="237744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tokens expected at the error (exact, via LAC)</a:t>
            </a:r>
            <a:endParaRPr lang="en-US" sz="1400" dirty="0"/>
          </a:p>
        </p:txBody>
      </p:sp>
      <p:sp>
        <p:nvSpPr>
          <p:cNvPr id="12" name="Grammar and parsing page: LR state 47 and expected tokens frame"/>
          <p:cNvSpPr/>
          <p:nvPr/>
        </p:nvSpPr>
        <p:spPr>
          <a:xfrm>
            <a:off x="4169664" y="1060704"/>
            <a:ext cx="4553712" cy="3150708"/>
          </a:xfrm>
          <a:prstGeom prst="roundRect">
            <a:avLst>
              <a:gd name="adj" fmla="val 2322"/>
            </a:avLst>
          </a:prstGeom>
          <a:solidFill>
            <a:srgbClr val="F1F5F9"/>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13" name="Grammar and parsing page: LR state 47 and expected tokens" descr="Grammar and parsing page: LR state 47 and expected tokens">    </p:cNvPr>
          <p:cNvPicPr>
            <a:picLocks noChangeAspect="1"/>
          </p:cNvPicPr>
          <p:nvPr/>
        </p:nvPicPr>
        <p:blipFill>
          <a:blip r:embed="rId1"/>
          <a:stretch>
            <a:fillRect/>
          </a:stretch>
        </p:blipFill>
        <p:spPr>
          <a:xfrm>
            <a:off x="4206240" y="1097280"/>
            <a:ext cx="4480560" cy="3077556"/>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Many candidates, each parser-checked</a:t>
            </a:r>
            <a:endParaRPr lang="en-US" sz="2800" dirty="0"/>
          </a:p>
        </p:txBody>
      </p:sp>
      <p:graphicFrame>
        <p:nvGraphicFramePr>
          <p:cNvPr id="4" name="outcome chart" descr=""/>
          <p:cNvGraphicFramePr/>
          <p:nvPr/>
        </p:nvGraphicFramePr>
        <p:xfrm>
          <a:off x="457200" y="1051560"/>
          <a:ext cx="4663440" cy="310896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40680" y="1143000"/>
            <a:ext cx="82296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60</a:t>
            </a:r>
            <a:endParaRPr lang="en-US" sz="3000" dirty="0"/>
          </a:p>
        </p:txBody>
      </p:sp>
      <p:sp>
        <p:nvSpPr>
          <p:cNvPr id="6" name="Text 2"/>
          <p:cNvSpPr txBox="1"/>
          <p:nvPr/>
        </p:nvSpPr>
        <p:spPr>
          <a:xfrm>
            <a:off x="6309360" y="1234440"/>
            <a:ext cx="237744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generated (LAC-guided edits, 4 positions)</a:t>
            </a:r>
            <a:endParaRPr lang="en-US" sz="1300" dirty="0"/>
          </a:p>
        </p:txBody>
      </p:sp>
      <p:sp>
        <p:nvSpPr>
          <p:cNvPr id="7" name="Text 3"/>
          <p:cNvSpPr txBox="1"/>
          <p:nvPr/>
        </p:nvSpPr>
        <p:spPr>
          <a:xfrm>
            <a:off x="5440680" y="1920240"/>
            <a:ext cx="82296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3</a:t>
            </a:r>
            <a:endParaRPr lang="en-US" sz="3000" dirty="0"/>
          </a:p>
        </p:txBody>
      </p:sp>
      <p:sp>
        <p:nvSpPr>
          <p:cNvPr id="8" name="Text 4"/>
          <p:cNvSpPr txBox="1"/>
          <p:nvPr/>
        </p:nvSpPr>
        <p:spPr>
          <a:xfrm>
            <a:off x="6309360" y="2011680"/>
            <a:ext cx="237744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accepted by the parser</a:t>
            </a:r>
            <a:endParaRPr lang="en-US" sz="1300" dirty="0"/>
          </a:p>
        </p:txBody>
      </p:sp>
      <p:sp>
        <p:nvSpPr>
          <p:cNvPr id="9" name="Text 5"/>
          <p:cNvSpPr txBox="1"/>
          <p:nvPr/>
        </p:nvSpPr>
        <p:spPr>
          <a:xfrm>
            <a:off x="5440680" y="2697480"/>
            <a:ext cx="822960"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1</a:t>
            </a:r>
            <a:endParaRPr lang="en-US" sz="3000" dirty="0"/>
          </a:p>
        </p:txBody>
      </p:sp>
      <p:sp>
        <p:nvSpPr>
          <p:cNvPr id="10" name="Text 6"/>
          <p:cNvSpPr txBox="1"/>
          <p:nvPr/>
        </p:nvSpPr>
        <p:spPr>
          <a:xfrm>
            <a:off x="6309360" y="2788920"/>
            <a:ext cx="237744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recommended (after ranking and the margin test)</a:t>
            </a:r>
            <a:endParaRPr lang="en-US" sz="1300" dirty="0"/>
          </a:p>
        </p:txBody>
      </p:sp>
      <p:sp>
        <p:nvSpPr>
          <p:cNvPr id="11" name="round trip card"/>
          <p:cNvSpPr/>
          <p:nvPr/>
        </p:nvSpPr>
        <p:spPr>
          <a:xfrm>
            <a:off x="5440680" y="3520440"/>
            <a:ext cx="3246120" cy="868680"/>
          </a:xfrm>
          <a:prstGeom prst="roundRect">
            <a:avLst>
              <a:gd name="adj" fmla="val 10526"/>
            </a:avLst>
          </a:prstGeom>
          <a:solidFill>
            <a:srgbClr val="F1F5F9"/>
          </a:solidFill>
          <a:ln w="12700">
            <a:solidFill>
              <a:srgbClr val="F1F5F9"/>
            </a:solidFill>
            <a:prstDash val="solid"/>
          </a:ln>
        </p:spPr>
      </p:sp>
      <p:sp>
        <p:nvSpPr>
          <p:cNvPr id="12" name="Text 8"/>
          <p:cNvSpPr txBox="1"/>
          <p:nvPr/>
        </p:nvSpPr>
        <p:spPr>
          <a:xfrm>
            <a:off x="5577840" y="3611880"/>
            <a:ext cx="3017520" cy="73152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Round trip: </a:t>
            </a:r>
            <a:pPr indent="0" marL="0">
              <a:buNone/>
            </a:pPr>
            <a:r>
              <a:rPr lang="en-US" sz="1200" dirty="0">
                <a:solidFill>
                  <a:schemeClr val="tx2"/>
                </a:solidFill>
                <a:latin typeface="Calibri" pitchFamily="34" charset="0"/>
                <a:ea typeface="Calibri" pitchFamily="34" charset="-122"/>
                <a:cs typeface="Calibri" pitchFamily="34" charset="-120"/>
              </a:rPr>
              <a:t>each accepted fix is written back with your spacing and comments, re-lexed and re-parsed.</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Evidence, not a single cost</a:t>
            </a:r>
            <a:endParaRPr lang="en-US" sz="2800" dirty="0"/>
          </a:p>
        </p:txBody>
      </p:sp>
      <p:graphicFrame>
        <p:nvGraphicFramePr>
          <p:cNvPr id="8" name="evidence table"/>
          <p:cNvGraphicFramePr>
            <a:graphicFrameLocks noGrp="1"/>
          </p:cNvGraphicFramePr>
          <p:nvPr>
            <p:extLst>
              <p:ext uri="{D42A27DB-BD31-4B8C-83A1-F6EECF244321}">
                <p14:modId xmlns:p14="http://schemas.microsoft.com/office/powerpoint/2010/main" val="1579011935"/>
              </p:ext>
            </p:extLst>
          </p:nvPr>
        </p:nvGraphicFramePr>
        <p:xfrm>
          <a:off x="457200" y="1097280"/>
          <a:ext cx="5669280" cy="914400"/>
        </p:xfrm>
        <a:graphic>
          <a:graphicData uri="http://schemas.openxmlformats.org/drawingml/2006/table">
            <a:tbl>
              <a:tblPr/>
              <a:tblGrid>
                <a:gridCol w="2240280"/>
                <a:gridCol w="1143000"/>
                <a:gridCol w="1143000"/>
                <a:gridCol w="114300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insert ';'</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replace 'int' with ','</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replace 'int' with ';'</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r>
              <a:tr h="384048">
                <a:tc>
                  <a:txBody>
                    <a:bodyPr/>
                    <a:lstStyle/>
                    <a:p>
                      <a:pPr indent="0" marL="0">
                        <a:buNone/>
                      </a:pPr>
                      <a:r>
                        <a:rPr lang="en-US" sz="1100" dirty="0">
                          <a:solidFill>
                            <a:srgbClr val="1E293B"/>
                          </a:solidFill>
                          <a:latin typeface="Courier New" pitchFamily="34" charset="0"/>
                          <a:ea typeface="Courier New" pitchFamily="34" charset="-122"/>
                          <a:cs typeface="Courier New" pitchFamily="34" charset="-120"/>
                        </a:rPr>
                        <a:t>edit_cost</a:t>
                      </a:r>
                      <a:endParaRPr lang="en-US" sz="1100" dirty="0">
                        <a:latin typeface="Courier New" charset="0"/>
                        <a:ea typeface="Courier New" charset="0"/>
                        <a:cs typeface="Courier New"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B91C1C"/>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B91C1C"/>
                          </a:solidFill>
                          <a:latin typeface="Calibri" pitchFamily="34" charset="0"/>
                          <a:ea typeface="Calibri" pitchFamily="34" charset="-122"/>
                          <a:cs typeface="Calibri" pitchFamily="34" charset="-120"/>
                        </a:rPr>
                        <a:t>−1.50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B91C1C"/>
                          </a:solidFill>
                          <a:latin typeface="Calibri" pitchFamily="34" charset="0"/>
                          <a:ea typeface="Calibri" pitchFamily="34" charset="-122"/>
                          <a:cs typeface="Calibri" pitchFamily="34" charset="-120"/>
                        </a:rPr>
                        <a:t>−1.50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93B"/>
                          </a:solidFill>
                          <a:latin typeface="Courier New" pitchFamily="34" charset="0"/>
                          <a:ea typeface="Courier New" pitchFamily="34" charset="-122"/>
                          <a:cs typeface="Courier New" pitchFamily="34" charset="-120"/>
                        </a:rPr>
                        <a:t>resolves_all_errors</a:t>
                      </a:r>
                      <a:endParaRPr lang="en-US" sz="1100" dirty="0">
                        <a:latin typeface="Courier New" charset="0"/>
                        <a:ea typeface="Courier New" charset="0"/>
                        <a:cs typeface="Courier New"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803D"/>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803D"/>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803D"/>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93B"/>
                          </a:solidFill>
                          <a:latin typeface="Courier New" pitchFamily="34" charset="0"/>
                          <a:ea typeface="Courier New" pitchFamily="34" charset="-122"/>
                          <a:cs typeface="Courier New" pitchFamily="34" charset="-120"/>
                        </a:rPr>
                        <a:t>deleted_content</a:t>
                      </a:r>
                      <a:endParaRPr lang="en-US" sz="1100" dirty="0">
                        <a:latin typeface="Courier New" charset="0"/>
                        <a:ea typeface="Courier New" charset="0"/>
                        <a:cs typeface="Courier New"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64748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B91C1C"/>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B91C1C"/>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93B"/>
                          </a:solidFill>
                          <a:latin typeface="Courier New" pitchFamily="34" charset="0"/>
                          <a:ea typeface="Courier New" pitchFamily="34" charset="-122"/>
                          <a:cs typeface="Courier New" pitchFamily="34" charset="-120"/>
                        </a:rPr>
                        <a:t>line_end_semicolon</a:t>
                      </a:r>
                      <a:endParaRPr lang="en-US" sz="1100" dirty="0">
                        <a:latin typeface="Courier New" charset="0"/>
                        <a:ea typeface="Courier New" charset="0"/>
                        <a:cs typeface="Courier New"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5803D"/>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64748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64748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93B"/>
                          </a:solidFill>
                          <a:latin typeface="Courier New" pitchFamily="34" charset="0"/>
                          <a:ea typeface="Courier New" pitchFamily="34" charset="-122"/>
                          <a:cs typeface="Courier New" pitchFamily="34" charset="-120"/>
                        </a:rPr>
                        <a:t>name_warnings</a:t>
                      </a:r>
                      <a:endParaRPr lang="en-US" sz="1100" dirty="0">
                        <a:latin typeface="Courier New" charset="0"/>
                        <a:ea typeface="Courier New" charset="0"/>
                        <a:cs typeface="Courier New"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64748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64748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B91C1C"/>
                          </a:solidFill>
                          <a:latin typeface="Calibri" pitchFamily="34" charset="0"/>
                          <a:ea typeface="Calibri" pitchFamily="34" charset="-122"/>
                          <a:cs typeface="Calibri" pitchFamily="34" charset="-120"/>
                        </a:rPr>
                        <a:t>−3.75</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E293B"/>
                          </a:solidFill>
                          <a:latin typeface="Calibri" pitchFamily="34" charset="0"/>
                          <a:ea typeface="Calibri" pitchFamily="34" charset="-122"/>
                          <a:cs typeface="Calibri" pitchFamily="34" charset="-120"/>
                        </a:rPr>
                        <a:t>score</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4F46E5"/>
                          </a:solidFill>
                          <a:latin typeface="Calibri" pitchFamily="34" charset="0"/>
                          <a:ea typeface="Calibri" pitchFamily="34" charset="-122"/>
                          <a:cs typeface="Calibri" pitchFamily="34" charset="-120"/>
                        </a:rPr>
                        <a:t>+1.75</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E293B"/>
                          </a:solidFill>
                          <a:latin typeface="Calibri" pitchFamily="34" charset="0"/>
                          <a:ea typeface="Calibri" pitchFamily="34" charset="-122"/>
                          <a:cs typeface="Calibri" pitchFamily="34" charset="-120"/>
                        </a:rPr>
                        <a:t>−0.25</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E293B"/>
                          </a:solidFill>
                          <a:latin typeface="Calibri" pitchFamily="34" charset="0"/>
                          <a:ea typeface="Calibri" pitchFamily="34" charset="-122"/>
                          <a:cs typeface="Calibri" pitchFamily="34" charset="-120"/>
                        </a:rPr>
                        <a:t>−4.00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4069080"/>
            <a:ext cx="5669280" cy="320040"/>
          </a:xfrm>
          <a:prstGeom prst="rect">
            <a:avLst/>
          </a:prstGeom>
          <a:noFill/>
          <a:ln/>
        </p:spPr>
        <p:txBody>
          <a:bodyPr wrap="square" lIns="0" tIns="0" rIns="0" bIns="0" rtlCol="0" anchor="t"/>
          <a:lstStyle/>
          <a:p>
            <a:pPr indent="0" marL="0">
              <a:buNone/>
            </a:pPr>
            <a:r>
              <a:rPr lang="en-US" sz="1100" dirty="0">
                <a:solidFill>
                  <a:schemeClr val="accent6"/>
                </a:solidFill>
                <a:latin typeface="Calibri" pitchFamily="34" charset="0"/>
                <a:ea typeface="Calibri" pitchFamily="34" charset="-122"/>
                <a:cs typeface="Calibri" pitchFamily="34" charset="-120"/>
              </a:rPr>
              <a:t>8 more features are 0 for all three (placeholders, indentation, residual errors, …).</a:t>
            </a:r>
            <a:endParaRPr lang="en-US" sz="1100" dirty="0"/>
          </a:p>
        </p:txBody>
      </p:sp>
      <p:sp>
        <p:nvSpPr>
          <p:cNvPr id="6" name="margin card"/>
          <p:cNvSpPr/>
          <p:nvPr/>
        </p:nvSpPr>
        <p:spPr>
          <a:xfrm>
            <a:off x="6400800" y="1097280"/>
            <a:ext cx="2286000" cy="2743200"/>
          </a:xfrm>
          <a:prstGeom prst="roundRect">
            <a:avLst>
              <a:gd name="adj" fmla="val 4000"/>
            </a:avLst>
          </a:prstGeom>
          <a:solidFill>
            <a:srgbClr val="F1F5F9"/>
          </a:solidFill>
          <a:ln w="12700">
            <a:solidFill>
              <a:srgbClr val="F1F5F9"/>
            </a:solidFill>
            <a:prstDash val="solid"/>
          </a:ln>
        </p:spPr>
      </p:sp>
      <p:sp>
        <p:nvSpPr>
          <p:cNvPr id="7" name="Text 3"/>
          <p:cNvSpPr txBox="1"/>
          <p:nvPr/>
        </p:nvSpPr>
        <p:spPr>
          <a:xfrm>
            <a:off x="6583680" y="1234440"/>
            <a:ext cx="1920240" cy="27432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margin</a:t>
            </a:r>
            <a:endParaRPr lang="en-US" sz="1300" dirty="0"/>
          </a:p>
        </p:txBody>
      </p:sp>
      <p:sp>
        <p:nvSpPr>
          <p:cNvPr id="8" name="Text 4"/>
          <p:cNvSpPr txBox="1"/>
          <p:nvPr/>
        </p:nvSpPr>
        <p:spPr>
          <a:xfrm>
            <a:off x="6583680" y="1508760"/>
            <a:ext cx="1920240"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2.00</a:t>
            </a:r>
            <a:endParaRPr lang="en-US" sz="4000" dirty="0"/>
          </a:p>
        </p:txBody>
      </p:sp>
      <p:sp>
        <p:nvSpPr>
          <p:cNvPr id="9" name="Text 5"/>
          <p:cNvSpPr txBox="1"/>
          <p:nvPr/>
        </p:nvSpPr>
        <p:spPr>
          <a:xfrm>
            <a:off x="6583680" y="2240280"/>
            <a:ext cx="192024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 τ = 1.5 (chosen on dev)</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 Recommended</a:t>
            </a:r>
            <a:endParaRPr lang="en-US" sz="1300" dirty="0"/>
          </a:p>
        </p:txBody>
      </p:sp>
      <p:sp>
        <p:nvSpPr>
          <p:cNvPr id="10" name="Text 6"/>
          <p:cNvSpPr txBox="1"/>
          <p:nvPr/>
        </p:nvSpPr>
        <p:spPr>
          <a:xfrm>
            <a:off x="6583680" y="2926080"/>
            <a:ext cx="1965960" cy="82296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Weights frozen before the test run. The score ranks; it is not a probability.</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Grouping and hypothesis lanes</a:t>
            </a:r>
            <a:endParaRPr lang="en-US" sz="2800" dirty="0"/>
          </a:p>
        </p:txBody>
      </p:sp>
      <p:sp>
        <p:nvSpPr>
          <p:cNvPr id="4" name="grouping card"/>
          <p:cNvSpPr/>
          <p:nvPr/>
        </p:nvSpPr>
        <p:spPr>
          <a:xfrm>
            <a:off x="457200" y="1097280"/>
            <a:ext cx="3017520" cy="3291840"/>
          </a:xfrm>
          <a:prstGeom prst="roundRect">
            <a:avLst>
              <a:gd name="adj" fmla="val 3030"/>
            </a:avLst>
          </a:prstGeom>
          <a:solidFill>
            <a:srgbClr val="F1F5F9"/>
          </a:solidFill>
          <a:ln w="12700">
            <a:solidFill>
              <a:srgbClr val="F1F5F9"/>
            </a:solidFill>
            <a:prstDash val="solid"/>
          </a:ln>
        </p:spPr>
      </p:sp>
      <p:sp>
        <p:nvSpPr>
          <p:cNvPr id="5" name="Text 2"/>
          <p:cNvSpPr txBox="1"/>
          <p:nvPr/>
        </p:nvSpPr>
        <p:spPr>
          <a:xfrm>
            <a:off x="640080" y="1207008"/>
            <a:ext cx="26517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AST grouping</a:t>
            </a:r>
            <a:endParaRPr lang="en-US" sz="1500" dirty="0"/>
          </a:p>
        </p:txBody>
      </p:sp>
      <p:sp>
        <p:nvSpPr>
          <p:cNvPr id="6" name="Text 3"/>
          <p:cNvSpPr txBox="1"/>
          <p:nvPr/>
        </p:nvSpPr>
        <p:spPr>
          <a:xfrm>
            <a:off x="640080" y="1600200"/>
            <a:ext cx="2651760" cy="320040"/>
          </a:xfrm>
          <a:prstGeom prst="rect">
            <a:avLst/>
          </a:prstGeom>
          <a:noFill/>
          <a:ln/>
        </p:spPr>
        <p:txBody>
          <a:bodyPr wrap="square" lIns="0" tIns="0" rIns="0" bIns="0" rtlCol="0" anchor="t"/>
          <a:lstStyle/>
          <a:p>
            <a:pPr indent="0" marL="0">
              <a:buNone/>
            </a:pPr>
            <a:r>
              <a:rPr lang="en-US" sz="1300" dirty="0">
                <a:solidFill>
                  <a:schemeClr val="accent4"/>
                </a:solidFill>
                <a:latin typeface="Courier New" pitchFamily="34" charset="0"/>
                <a:ea typeface="Courier New" pitchFamily="34" charset="-122"/>
                <a:cs typeface="Courier New" pitchFamily="34" charset="-120"/>
              </a:rPr>
              <a:t>int b = (a + 2;</a:t>
            </a:r>
            <a:endParaRPr lang="en-US" sz="1300" dirty="0"/>
          </a:p>
        </p:txBody>
      </p:sp>
      <p:sp>
        <p:nvSpPr>
          <p:cNvPr id="7" name="Text 4"/>
          <p:cNvSpPr txBox="1"/>
          <p:nvPr/>
        </p:nvSpPr>
        <p:spPr>
          <a:xfrm>
            <a:off x="640080" y="2011680"/>
            <a:ext cx="1188720" cy="64008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(a) + 2</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(a + 2)</a:t>
            </a:r>
            <a:endParaRPr lang="en-US" sz="1300" dirty="0"/>
          </a:p>
        </p:txBody>
      </p:sp>
      <p:sp>
        <p:nvSpPr>
          <p:cNvPr id="8" name="Text 5"/>
          <p:cNvSpPr txBox="1"/>
          <p:nvPr/>
        </p:nvSpPr>
        <p:spPr>
          <a:xfrm>
            <a:off x="1783080" y="2011680"/>
            <a:ext cx="1645920" cy="64008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 one AST:</a:t>
            </a:r>
            <a:endParaRPr lang="en-US" sz="1200" dirty="0"/>
          </a:p>
          <a:p>
            <a:pPr indent="0" marL="0">
              <a:buNone/>
            </a:pPr>
            <a:r>
              <a:rPr lang="en-US" sz="1200" b="1" dirty="0">
                <a:solidFill>
                  <a:schemeClr val="accent1"/>
                </a:solidFill>
                <a:latin typeface="Calibri" pitchFamily="34" charset="0"/>
                <a:ea typeface="Calibri" pitchFamily="34" charset="-122"/>
                <a:cs typeface="Calibri" pitchFamily="34" charset="-120"/>
              </a:rPr>
              <a:t>Binary(+, a, 2)</a:t>
            </a:r>
            <a:endParaRPr lang="en-US" sz="1200" dirty="0"/>
          </a:p>
        </p:txBody>
      </p:sp>
      <p:sp>
        <p:nvSpPr>
          <p:cNvPr id="9" name="Text 6"/>
          <p:cNvSpPr txBox="1"/>
          <p:nvPr/>
        </p:nvSpPr>
        <p:spPr>
          <a:xfrm>
            <a:off x="640080" y="2788920"/>
            <a:ext cx="2697480" cy="91440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Two edits, one meaning: they form one class and do not compete, so IntelliFix is not falsely unsure.</a:t>
            </a:r>
            <a:endParaRPr lang="en-US" sz="1200" dirty="0"/>
          </a:p>
        </p:txBody>
      </p:sp>
      <p:sp>
        <p:nvSpPr>
          <p:cNvPr id="10" name="Text 7"/>
          <p:cNvSpPr txBox="1"/>
          <p:nvPr/>
        </p:nvSpPr>
        <p:spPr>
          <a:xfrm>
            <a:off x="640080" y="3703320"/>
            <a:ext cx="2697480" cy="6400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Lanes: 3 first-fix hypotheses × 2 alternatives per step, depth ≤ 4, ≤ 12 leaves.</a:t>
            </a:r>
            <a:endParaRPr lang="en-US" sz="1200" dirty="0"/>
          </a:p>
        </p:txBody>
      </p:sp>
      <p:sp>
        <p:nvSpPr>
          <p:cNvPr id="11" name="Hypothesis explorer: two-error plan frame"/>
          <p:cNvSpPr/>
          <p:nvPr/>
        </p:nvSpPr>
        <p:spPr>
          <a:xfrm>
            <a:off x="3666744" y="1060704"/>
            <a:ext cx="5056632" cy="2106412"/>
          </a:xfrm>
          <a:prstGeom prst="roundRect">
            <a:avLst>
              <a:gd name="adj" fmla="val 3473"/>
            </a:avLst>
          </a:prstGeom>
          <a:solidFill>
            <a:srgbClr val="F1F5F9"/>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12" name="Hypothesis explorer: two-error plan" descr="Hypothesis explorer: two-error plan">    </p:cNvPr>
          <p:cNvPicPr>
            <a:picLocks noChangeAspect="1"/>
          </p:cNvPicPr>
          <p:nvPr/>
        </p:nvPicPr>
        <p:blipFill>
          <a:blip r:embed="rId1"/>
          <a:stretch>
            <a:fillRect/>
          </a:stretch>
        </p:blipFill>
        <p:spPr>
          <a:xfrm>
            <a:off x="3703320" y="1097280"/>
            <a:ext cx="4983480" cy="2033260"/>
          </a:xfrm>
          <a:prstGeom prst="rect">
            <a:avLst/>
          </a:prstGeom>
        </p:spPr>
      </p:pic>
      <p:sp>
        <p:nvSpPr>
          <p:cNvPr id="13" name="Text 9"/>
          <p:cNvSpPr txBox="1"/>
          <p:nvPr/>
        </p:nvSpPr>
        <p:spPr>
          <a:xfrm>
            <a:off x="3703320" y="3313420"/>
            <a:ext cx="4983480" cy="68580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Real run, sample “Two errors”: hypothesis 0 fixes the missing ';' (step 1) and the missing ')' (step 2). Other lanes explore alternatives; the best complete plan is starred.</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Recommend only when evidence is clear</a:t>
            </a:r>
            <a:endParaRPr lang="en-US" sz="2800" dirty="0"/>
          </a:p>
        </p:txBody>
      </p:sp>
      <p:sp>
        <p:nvSpPr>
          <p:cNvPr id="4" name="status Recommended"/>
          <p:cNvSpPr/>
          <p:nvPr/>
        </p:nvSpPr>
        <p:spPr>
          <a:xfrm>
            <a:off x="457200" y="1097280"/>
            <a:ext cx="1965960" cy="1554480"/>
          </a:xfrm>
          <a:prstGeom prst="roundRect">
            <a:avLst>
              <a:gd name="adj" fmla="val 5882"/>
            </a:avLst>
          </a:prstGeom>
          <a:solidFill>
            <a:srgbClr val="F1F5F9"/>
          </a:solidFill>
          <a:ln w="12700">
            <a:solidFill>
              <a:srgbClr val="F1F5F9"/>
            </a:solidFill>
            <a:prstDash val="solid"/>
          </a:ln>
        </p:spPr>
      </p:sp>
      <p:sp>
        <p:nvSpPr>
          <p:cNvPr id="5" name="tone 0"/>
          <p:cNvSpPr/>
          <p:nvPr/>
        </p:nvSpPr>
        <p:spPr>
          <a:xfrm>
            <a:off x="594360" y="1289304"/>
            <a:ext cx="146304" cy="146304"/>
          </a:xfrm>
          <a:prstGeom prst="ellipse">
            <a:avLst/>
          </a:prstGeom>
          <a:solidFill>
            <a:srgbClr val="15803D"/>
          </a:solidFill>
          <a:ln w="12700">
            <a:solidFill>
              <a:srgbClr val="15803D"/>
            </a:solidFill>
            <a:prstDash val="solid"/>
          </a:ln>
        </p:spPr>
      </p:sp>
      <p:sp>
        <p:nvSpPr>
          <p:cNvPr id="6" name="Text 3"/>
          <p:cNvSpPr txBox="1"/>
          <p:nvPr/>
        </p:nvSpPr>
        <p:spPr>
          <a:xfrm>
            <a:off x="804672" y="1216152"/>
            <a:ext cx="1554480" cy="320040"/>
          </a:xfrm>
          <a:prstGeom prst="rect">
            <a:avLst/>
          </a:prstGeom>
          <a:noFill/>
          <a:ln/>
        </p:spPr>
        <p:txBody>
          <a:bodyPr wrap="square" lIns="0" tIns="0" rIns="0" bIns="0" rtlCol="0" anchor="t"/>
          <a:lstStyle/>
          <a:p>
            <a:pPr indent="0" marL="0">
              <a:buNone/>
            </a:pPr>
            <a:r>
              <a:rPr lang="en-US" sz="1250" b="1" dirty="0">
                <a:solidFill>
                  <a:schemeClr val="tx1"/>
                </a:solidFill>
                <a:latin typeface="Calibri" pitchFamily="34" charset="0"/>
                <a:ea typeface="Calibri" pitchFamily="34" charset="-122"/>
                <a:cs typeface="Calibri" pitchFamily="34" charset="-120"/>
              </a:rPr>
              <a:t>Recommended</a:t>
            </a:r>
            <a:endParaRPr lang="en-US" sz="1250" dirty="0"/>
          </a:p>
        </p:txBody>
      </p:sp>
      <p:sp>
        <p:nvSpPr>
          <p:cNvPr id="7" name="Text 4"/>
          <p:cNvSpPr txBox="1"/>
          <p:nvPr/>
        </p:nvSpPr>
        <p:spPr>
          <a:xfrm>
            <a:off x="621792" y="1600200"/>
            <a:ext cx="1691640" cy="566928"/>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margin ≥ τ = 1.5</a:t>
            </a:r>
            <a:endParaRPr lang="en-US" sz="1100" dirty="0"/>
          </a:p>
        </p:txBody>
      </p:sp>
      <p:sp>
        <p:nvSpPr>
          <p:cNvPr id="8" name="Text 5"/>
          <p:cNvSpPr txBox="1"/>
          <p:nvPr/>
        </p:nvSpPr>
        <p:spPr>
          <a:xfrm>
            <a:off x="621792" y="2194560"/>
            <a:ext cx="1691640" cy="384048"/>
          </a:xfrm>
          <a:prstGeom prst="rect">
            <a:avLst/>
          </a:prstGeom>
          <a:noFill/>
          <a:ln/>
        </p:spPr>
        <p:txBody>
          <a:bodyPr wrap="square" lIns="0" tIns="0" rIns="0" bIns="0" rtlCol="0" anchor="t"/>
          <a:lstStyle/>
          <a:p>
            <a:pPr indent="0" marL="0">
              <a:buNone/>
            </a:pPr>
            <a:r>
              <a:rPr lang="en-US" sz="1100" i="1" dirty="0">
                <a:solidFill>
                  <a:schemeClr val="accent1"/>
                </a:solidFill>
                <a:latin typeface="Calibri" pitchFamily="34" charset="0"/>
                <a:ea typeface="Calibri" pitchFamily="34" charset="-122"/>
                <a:cs typeface="Calibri" pitchFamily="34" charset="-120"/>
              </a:rPr>
              <a:t>missing ';' (margin 2.00)</a:t>
            </a:r>
            <a:endParaRPr lang="en-US" sz="1100" dirty="0"/>
          </a:p>
        </p:txBody>
      </p:sp>
      <p:sp>
        <p:nvSpPr>
          <p:cNvPr id="9" name="status Multiple plausible"/>
          <p:cNvSpPr/>
          <p:nvPr/>
        </p:nvSpPr>
        <p:spPr>
          <a:xfrm>
            <a:off x="2560320" y="1097280"/>
            <a:ext cx="1965960" cy="1554480"/>
          </a:xfrm>
          <a:prstGeom prst="roundRect">
            <a:avLst>
              <a:gd name="adj" fmla="val 5882"/>
            </a:avLst>
          </a:prstGeom>
          <a:solidFill>
            <a:srgbClr val="F1F5F9"/>
          </a:solidFill>
          <a:ln w="12700">
            <a:solidFill>
              <a:srgbClr val="F1F5F9"/>
            </a:solidFill>
            <a:prstDash val="solid"/>
          </a:ln>
        </p:spPr>
      </p:sp>
      <p:sp>
        <p:nvSpPr>
          <p:cNvPr id="10" name="tone 1"/>
          <p:cNvSpPr/>
          <p:nvPr/>
        </p:nvSpPr>
        <p:spPr>
          <a:xfrm>
            <a:off x="2697480" y="1289304"/>
            <a:ext cx="146304" cy="146304"/>
          </a:xfrm>
          <a:prstGeom prst="ellipse">
            <a:avLst/>
          </a:prstGeom>
          <a:solidFill>
            <a:srgbClr val="B45309"/>
          </a:solidFill>
          <a:ln w="12700">
            <a:solidFill>
              <a:srgbClr val="B45309"/>
            </a:solidFill>
            <a:prstDash val="solid"/>
          </a:ln>
        </p:spPr>
      </p:sp>
      <p:sp>
        <p:nvSpPr>
          <p:cNvPr id="11" name="Text 8"/>
          <p:cNvSpPr txBox="1"/>
          <p:nvPr/>
        </p:nvSpPr>
        <p:spPr>
          <a:xfrm>
            <a:off x="2907792" y="1216152"/>
            <a:ext cx="1554480" cy="320040"/>
          </a:xfrm>
          <a:prstGeom prst="rect">
            <a:avLst/>
          </a:prstGeom>
          <a:noFill/>
          <a:ln/>
        </p:spPr>
        <p:txBody>
          <a:bodyPr wrap="square" lIns="0" tIns="0" rIns="0" bIns="0" rtlCol="0" anchor="t"/>
          <a:lstStyle/>
          <a:p>
            <a:pPr indent="0" marL="0">
              <a:buNone/>
            </a:pPr>
            <a:r>
              <a:rPr lang="en-US" sz="1250" b="1" dirty="0">
                <a:solidFill>
                  <a:schemeClr val="tx1"/>
                </a:solidFill>
                <a:latin typeface="Calibri" pitchFamily="34" charset="0"/>
                <a:ea typeface="Calibri" pitchFamily="34" charset="-122"/>
                <a:cs typeface="Calibri" pitchFamily="34" charset="-120"/>
              </a:rPr>
              <a:t>Multiple plausible</a:t>
            </a:r>
            <a:endParaRPr lang="en-US" sz="1250" dirty="0"/>
          </a:p>
        </p:txBody>
      </p:sp>
      <p:sp>
        <p:nvSpPr>
          <p:cNvPr id="12" name="Text 9"/>
          <p:cNvSpPr txBox="1"/>
          <p:nvPr/>
        </p:nvSpPr>
        <p:spPr>
          <a:xfrm>
            <a:off x="2724912" y="1600200"/>
            <a:ext cx="1691640" cy="566928"/>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margin &lt; τ</a:t>
            </a:r>
            <a:endParaRPr lang="en-US" sz="1100" dirty="0"/>
          </a:p>
        </p:txBody>
      </p:sp>
      <p:sp>
        <p:nvSpPr>
          <p:cNvPr id="13" name="Text 10"/>
          <p:cNvSpPr txBox="1"/>
          <p:nvPr/>
        </p:nvSpPr>
        <p:spPr>
          <a:xfrm>
            <a:off x="2724912" y="2194560"/>
            <a:ext cx="1691640" cy="384048"/>
          </a:xfrm>
          <a:prstGeom prst="rect">
            <a:avLst/>
          </a:prstGeom>
          <a:noFill/>
          <a:ln/>
        </p:spPr>
        <p:txBody>
          <a:bodyPr wrap="square" lIns="0" tIns="0" rIns="0" bIns="0" rtlCol="0" anchor="t"/>
          <a:lstStyle/>
          <a:p>
            <a:pPr indent="0" marL="0">
              <a:buNone/>
            </a:pPr>
            <a:r>
              <a:rPr lang="en-US" sz="1100" i="1" dirty="0">
                <a:solidFill>
                  <a:schemeClr val="accent1"/>
                </a:solidFill>
                <a:latin typeface="Calibri" pitchFamily="34" charset="0"/>
                <a:ea typeface="Calibri" pitchFamily="34" charset="-122"/>
                <a:cs typeface="Calibri" pitchFamily="34" charset="-120"/>
              </a:rPr>
              <a:t>a b: 20 operators tie (0.00)</a:t>
            </a:r>
            <a:endParaRPr lang="en-US" sz="1100" dirty="0"/>
          </a:p>
        </p:txBody>
      </p:sp>
      <p:sp>
        <p:nvSpPr>
          <p:cNvPr id="14" name="status Low confidence"/>
          <p:cNvSpPr/>
          <p:nvPr/>
        </p:nvSpPr>
        <p:spPr>
          <a:xfrm>
            <a:off x="4663440" y="1097280"/>
            <a:ext cx="1965960" cy="1554480"/>
          </a:xfrm>
          <a:prstGeom prst="roundRect">
            <a:avLst>
              <a:gd name="adj" fmla="val 5882"/>
            </a:avLst>
          </a:prstGeom>
          <a:solidFill>
            <a:srgbClr val="F1F5F9"/>
          </a:solidFill>
          <a:ln w="12700">
            <a:solidFill>
              <a:srgbClr val="F1F5F9"/>
            </a:solidFill>
            <a:prstDash val="solid"/>
          </a:ln>
        </p:spPr>
      </p:sp>
      <p:sp>
        <p:nvSpPr>
          <p:cNvPr id="15" name="tone 2"/>
          <p:cNvSpPr/>
          <p:nvPr/>
        </p:nvSpPr>
        <p:spPr>
          <a:xfrm>
            <a:off x="4800600" y="1289304"/>
            <a:ext cx="146304" cy="146304"/>
          </a:xfrm>
          <a:prstGeom prst="ellipse">
            <a:avLst/>
          </a:prstGeom>
          <a:solidFill>
            <a:srgbClr val="B45309"/>
          </a:solidFill>
          <a:ln w="12700">
            <a:solidFill>
              <a:srgbClr val="B45309"/>
            </a:solidFill>
            <a:prstDash val="solid"/>
          </a:ln>
        </p:spPr>
      </p:sp>
      <p:sp>
        <p:nvSpPr>
          <p:cNvPr id="16" name="Text 13"/>
          <p:cNvSpPr txBox="1"/>
          <p:nvPr/>
        </p:nvSpPr>
        <p:spPr>
          <a:xfrm>
            <a:off x="5010912" y="1216152"/>
            <a:ext cx="1554480" cy="320040"/>
          </a:xfrm>
          <a:prstGeom prst="rect">
            <a:avLst/>
          </a:prstGeom>
          <a:noFill/>
          <a:ln/>
        </p:spPr>
        <p:txBody>
          <a:bodyPr wrap="square" lIns="0" tIns="0" rIns="0" bIns="0" rtlCol="0" anchor="t"/>
          <a:lstStyle/>
          <a:p>
            <a:pPr indent="0" marL="0">
              <a:buNone/>
            </a:pPr>
            <a:r>
              <a:rPr lang="en-US" sz="1250" b="1" dirty="0">
                <a:solidFill>
                  <a:schemeClr val="tx1"/>
                </a:solidFill>
                <a:latin typeface="Calibri" pitchFamily="34" charset="0"/>
                <a:ea typeface="Calibri" pitchFamily="34" charset="-122"/>
                <a:cs typeface="Calibri" pitchFamily="34" charset="-120"/>
              </a:rPr>
              <a:t>Low confidence</a:t>
            </a:r>
            <a:endParaRPr lang="en-US" sz="1250" dirty="0"/>
          </a:p>
        </p:txBody>
      </p:sp>
      <p:sp>
        <p:nvSpPr>
          <p:cNvPr id="17" name="Text 14"/>
          <p:cNvSpPr txBox="1"/>
          <p:nvPr/>
        </p:nvSpPr>
        <p:spPr>
          <a:xfrm>
            <a:off x="4828032" y="1600200"/>
            <a:ext cx="1691640" cy="566928"/>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invents a name or value, incomplete, or drops hidden code</a:t>
            </a:r>
            <a:endParaRPr lang="en-US" sz="1100" dirty="0"/>
          </a:p>
        </p:txBody>
      </p:sp>
      <p:sp>
        <p:nvSpPr>
          <p:cNvPr id="18" name="Text 15"/>
          <p:cNvSpPr txBox="1"/>
          <p:nvPr/>
        </p:nvSpPr>
        <p:spPr>
          <a:xfrm>
            <a:off x="4828032" y="2194560"/>
            <a:ext cx="1691640" cy="384048"/>
          </a:xfrm>
          <a:prstGeom prst="rect">
            <a:avLst/>
          </a:prstGeom>
          <a:noFill/>
          <a:ln/>
        </p:spPr>
        <p:txBody>
          <a:bodyPr wrap="square" lIns="0" tIns="0" rIns="0" bIns="0" rtlCol="0" anchor="t"/>
          <a:lstStyle/>
          <a:p>
            <a:pPr indent="0" marL="0">
              <a:buNone/>
            </a:pPr>
            <a:r>
              <a:rPr lang="en-US" sz="1100" i="1" dirty="0">
                <a:solidFill>
                  <a:schemeClr val="accent1"/>
                </a:solidFill>
                <a:latin typeface="Calibri" pitchFamily="34" charset="0"/>
                <a:ea typeface="Calibri" pitchFamily="34" charset="-122"/>
                <a:cs typeface="Calibri" pitchFamily="34" charset="-120"/>
              </a:rPr>
              <a:t>int = 42;  →  __hole</a:t>
            </a:r>
            <a:endParaRPr lang="en-US" sz="1100" dirty="0"/>
          </a:p>
        </p:txBody>
      </p:sp>
      <p:sp>
        <p:nvSpPr>
          <p:cNvPr id="19" name="status Unsupported construct"/>
          <p:cNvSpPr/>
          <p:nvPr/>
        </p:nvSpPr>
        <p:spPr>
          <a:xfrm>
            <a:off x="6766560" y="1097280"/>
            <a:ext cx="1965960" cy="1554480"/>
          </a:xfrm>
          <a:prstGeom prst="roundRect">
            <a:avLst>
              <a:gd name="adj" fmla="val 5882"/>
            </a:avLst>
          </a:prstGeom>
          <a:solidFill>
            <a:srgbClr val="F1F5F9"/>
          </a:solidFill>
          <a:ln w="12700">
            <a:solidFill>
              <a:srgbClr val="F1F5F9"/>
            </a:solidFill>
            <a:prstDash val="solid"/>
          </a:ln>
        </p:spPr>
      </p:sp>
      <p:sp>
        <p:nvSpPr>
          <p:cNvPr id="20" name="tone 3"/>
          <p:cNvSpPr/>
          <p:nvPr/>
        </p:nvSpPr>
        <p:spPr>
          <a:xfrm>
            <a:off x="6903720" y="1289304"/>
            <a:ext cx="146304" cy="146304"/>
          </a:xfrm>
          <a:prstGeom prst="ellipse">
            <a:avLst/>
          </a:prstGeom>
          <a:solidFill>
            <a:srgbClr val="4F46E5"/>
          </a:solidFill>
          <a:ln w="12700">
            <a:solidFill>
              <a:srgbClr val="4F46E5"/>
            </a:solidFill>
            <a:prstDash val="solid"/>
          </a:ln>
        </p:spPr>
      </p:sp>
      <p:sp>
        <p:nvSpPr>
          <p:cNvPr id="21" name="Text 18"/>
          <p:cNvSpPr txBox="1"/>
          <p:nvPr/>
        </p:nvSpPr>
        <p:spPr>
          <a:xfrm>
            <a:off x="7114032" y="1216152"/>
            <a:ext cx="1554480" cy="320040"/>
          </a:xfrm>
          <a:prstGeom prst="rect">
            <a:avLst/>
          </a:prstGeom>
          <a:noFill/>
          <a:ln/>
        </p:spPr>
        <p:txBody>
          <a:bodyPr wrap="square" lIns="0" tIns="0" rIns="0" bIns="0" rtlCol="0" anchor="t"/>
          <a:lstStyle/>
          <a:p>
            <a:pPr indent="0" marL="0">
              <a:buNone/>
            </a:pPr>
            <a:r>
              <a:rPr lang="en-US" sz="1250" b="1" dirty="0">
                <a:solidFill>
                  <a:schemeClr val="tx1"/>
                </a:solidFill>
                <a:latin typeface="Calibri" pitchFamily="34" charset="0"/>
                <a:ea typeface="Calibri" pitchFamily="34" charset="-122"/>
                <a:cs typeface="Calibri" pitchFamily="34" charset="-120"/>
              </a:rPr>
              <a:t>Unsupported construct</a:t>
            </a:r>
            <a:endParaRPr lang="en-US" sz="1250" dirty="0"/>
          </a:p>
        </p:txBody>
      </p:sp>
      <p:sp>
        <p:nvSpPr>
          <p:cNvPr id="22" name="Text 19"/>
          <p:cNvSpPr txBox="1"/>
          <p:nvPr/>
        </p:nvSpPr>
        <p:spPr>
          <a:xfrm>
            <a:off x="6931152" y="1600200"/>
            <a:ext cx="1691640" cy="566928"/>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C feature MiniC omits, or nesting too deep</a:t>
            </a:r>
            <a:endParaRPr lang="en-US" sz="1100" dirty="0"/>
          </a:p>
        </p:txBody>
      </p:sp>
      <p:sp>
        <p:nvSpPr>
          <p:cNvPr id="23" name="Text 20"/>
          <p:cNvSpPr txBox="1"/>
          <p:nvPr/>
        </p:nvSpPr>
        <p:spPr>
          <a:xfrm>
            <a:off x="6931152" y="2194560"/>
            <a:ext cx="1691640" cy="384048"/>
          </a:xfrm>
          <a:prstGeom prst="rect">
            <a:avLst/>
          </a:prstGeom>
          <a:noFill/>
          <a:ln/>
        </p:spPr>
        <p:txBody>
          <a:bodyPr wrap="square" lIns="0" tIns="0" rIns="0" bIns="0" rtlCol="0" anchor="t"/>
          <a:lstStyle/>
          <a:p>
            <a:pPr indent="0" marL="0">
              <a:buNone/>
            </a:pPr>
            <a:r>
              <a:rPr lang="en-US" sz="1100" i="1" dirty="0">
                <a:solidFill>
                  <a:schemeClr val="accent1"/>
                </a:solidFill>
                <a:latin typeface="Calibri" pitchFamily="34" charset="0"/>
                <a:ea typeface="Calibri" pitchFamily="34" charset="-122"/>
                <a:cs typeface="Calibri" pitchFamily="34" charset="-120"/>
              </a:rPr>
              <a:t>i++  →  write x = x + 1</a:t>
            </a:r>
            <a:endParaRPr lang="en-US" sz="1100" dirty="0"/>
          </a:p>
        </p:txBody>
      </p:sp>
      <p:sp>
        <p:nvSpPr>
          <p:cNvPr id="24" name="status No repair needed"/>
          <p:cNvSpPr/>
          <p:nvPr/>
        </p:nvSpPr>
        <p:spPr>
          <a:xfrm>
            <a:off x="457200" y="2788920"/>
            <a:ext cx="1965960" cy="1554480"/>
          </a:xfrm>
          <a:prstGeom prst="roundRect">
            <a:avLst>
              <a:gd name="adj" fmla="val 5882"/>
            </a:avLst>
          </a:prstGeom>
          <a:solidFill>
            <a:srgbClr val="F1F5F9"/>
          </a:solidFill>
          <a:ln w="12700">
            <a:solidFill>
              <a:srgbClr val="F1F5F9"/>
            </a:solidFill>
            <a:prstDash val="solid"/>
          </a:ln>
        </p:spPr>
      </p:sp>
      <p:sp>
        <p:nvSpPr>
          <p:cNvPr id="25" name="tone 4"/>
          <p:cNvSpPr/>
          <p:nvPr/>
        </p:nvSpPr>
        <p:spPr>
          <a:xfrm>
            <a:off x="594360" y="2980944"/>
            <a:ext cx="146304" cy="146304"/>
          </a:xfrm>
          <a:prstGeom prst="ellipse">
            <a:avLst/>
          </a:prstGeom>
          <a:solidFill>
            <a:srgbClr val="15803D"/>
          </a:solidFill>
          <a:ln w="12700">
            <a:solidFill>
              <a:srgbClr val="15803D"/>
            </a:solidFill>
            <a:prstDash val="solid"/>
          </a:ln>
        </p:spPr>
      </p:sp>
      <p:sp>
        <p:nvSpPr>
          <p:cNvPr id="26" name="Text 23"/>
          <p:cNvSpPr txBox="1"/>
          <p:nvPr/>
        </p:nvSpPr>
        <p:spPr>
          <a:xfrm>
            <a:off x="804672" y="2907792"/>
            <a:ext cx="1554480" cy="320040"/>
          </a:xfrm>
          <a:prstGeom prst="rect">
            <a:avLst/>
          </a:prstGeom>
          <a:noFill/>
          <a:ln/>
        </p:spPr>
        <p:txBody>
          <a:bodyPr wrap="square" lIns="0" tIns="0" rIns="0" bIns="0" rtlCol="0" anchor="t"/>
          <a:lstStyle/>
          <a:p>
            <a:pPr indent="0" marL="0">
              <a:buNone/>
            </a:pPr>
            <a:r>
              <a:rPr lang="en-US" sz="1250" b="1" dirty="0">
                <a:solidFill>
                  <a:schemeClr val="tx1"/>
                </a:solidFill>
                <a:latin typeface="Calibri" pitchFamily="34" charset="0"/>
                <a:ea typeface="Calibri" pitchFamily="34" charset="-122"/>
                <a:cs typeface="Calibri" pitchFamily="34" charset="-120"/>
              </a:rPr>
              <a:t>No repair needed</a:t>
            </a:r>
            <a:endParaRPr lang="en-US" sz="1250" dirty="0"/>
          </a:p>
        </p:txBody>
      </p:sp>
      <p:sp>
        <p:nvSpPr>
          <p:cNvPr id="27" name="Text 24"/>
          <p:cNvSpPr txBox="1"/>
          <p:nvPr/>
        </p:nvSpPr>
        <p:spPr>
          <a:xfrm>
            <a:off x="621792" y="3291840"/>
            <a:ext cx="1691640" cy="566928"/>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the program is valid</a:t>
            </a:r>
            <a:endParaRPr lang="en-US" sz="1100" dirty="0"/>
          </a:p>
        </p:txBody>
      </p:sp>
      <p:sp>
        <p:nvSpPr>
          <p:cNvPr id="28" name="Text 25"/>
          <p:cNvSpPr txBox="1"/>
          <p:nvPr/>
        </p:nvSpPr>
        <p:spPr>
          <a:xfrm>
            <a:off x="621792" y="3886200"/>
            <a:ext cx="1691640" cy="384048"/>
          </a:xfrm>
          <a:prstGeom prst="rect">
            <a:avLst/>
          </a:prstGeom>
          <a:noFill/>
          <a:ln/>
        </p:spPr>
        <p:txBody>
          <a:bodyPr wrap="square" lIns="0" tIns="0" rIns="0" bIns="0" rtlCol="0" anchor="t"/>
          <a:lstStyle/>
          <a:p>
            <a:pPr indent="0" marL="0">
              <a:buNone/>
            </a:pPr>
            <a:r>
              <a:rPr lang="en-US" sz="1100" i="1" dirty="0">
                <a:solidFill>
                  <a:schemeClr val="accent1"/>
                </a:solidFill>
                <a:latin typeface="Calibri" pitchFamily="34" charset="0"/>
                <a:ea typeface="Calibri" pitchFamily="34" charset="-122"/>
                <a:cs typeface="Calibri" pitchFamily="34" charset="-120"/>
              </a:rPr>
              <a:t>valid sample</a:t>
            </a:r>
            <a:endParaRPr lang="en-US" sz="1100" dirty="0"/>
          </a:p>
        </p:txBody>
      </p:sp>
      <p:sp>
        <p:nvSpPr>
          <p:cNvPr id="29" name="status No safe repair"/>
          <p:cNvSpPr/>
          <p:nvPr/>
        </p:nvSpPr>
        <p:spPr>
          <a:xfrm>
            <a:off x="2560320" y="2788920"/>
            <a:ext cx="1965960" cy="1554480"/>
          </a:xfrm>
          <a:prstGeom prst="roundRect">
            <a:avLst>
              <a:gd name="adj" fmla="val 5882"/>
            </a:avLst>
          </a:prstGeom>
          <a:solidFill>
            <a:srgbClr val="F1F5F9"/>
          </a:solidFill>
          <a:ln w="12700">
            <a:solidFill>
              <a:srgbClr val="F1F5F9"/>
            </a:solidFill>
            <a:prstDash val="solid"/>
          </a:ln>
        </p:spPr>
      </p:sp>
      <p:sp>
        <p:nvSpPr>
          <p:cNvPr id="30" name="tone 5"/>
          <p:cNvSpPr/>
          <p:nvPr/>
        </p:nvSpPr>
        <p:spPr>
          <a:xfrm>
            <a:off x="2697480" y="2980944"/>
            <a:ext cx="146304" cy="146304"/>
          </a:xfrm>
          <a:prstGeom prst="ellipse">
            <a:avLst/>
          </a:prstGeom>
          <a:solidFill>
            <a:srgbClr val="B91C1C"/>
          </a:solidFill>
          <a:ln w="12700">
            <a:solidFill>
              <a:srgbClr val="B91C1C"/>
            </a:solidFill>
            <a:prstDash val="solid"/>
          </a:ln>
        </p:spPr>
      </p:sp>
      <p:sp>
        <p:nvSpPr>
          <p:cNvPr id="31" name="Text 28"/>
          <p:cNvSpPr txBox="1"/>
          <p:nvPr/>
        </p:nvSpPr>
        <p:spPr>
          <a:xfrm>
            <a:off x="2907792" y="2907792"/>
            <a:ext cx="1554480" cy="320040"/>
          </a:xfrm>
          <a:prstGeom prst="rect">
            <a:avLst/>
          </a:prstGeom>
          <a:noFill/>
          <a:ln/>
        </p:spPr>
        <p:txBody>
          <a:bodyPr wrap="square" lIns="0" tIns="0" rIns="0" bIns="0" rtlCol="0" anchor="t"/>
          <a:lstStyle/>
          <a:p>
            <a:pPr indent="0" marL="0">
              <a:buNone/>
            </a:pPr>
            <a:r>
              <a:rPr lang="en-US" sz="1250" b="1" dirty="0">
                <a:solidFill>
                  <a:schemeClr val="tx1"/>
                </a:solidFill>
                <a:latin typeface="Calibri" pitchFamily="34" charset="0"/>
                <a:ea typeface="Calibri" pitchFamily="34" charset="-122"/>
                <a:cs typeface="Calibri" pitchFamily="34" charset="-120"/>
              </a:rPr>
              <a:t>No safe repair</a:t>
            </a:r>
            <a:endParaRPr lang="en-US" sz="1250" dirty="0"/>
          </a:p>
        </p:txBody>
      </p:sp>
      <p:sp>
        <p:nvSpPr>
          <p:cNvPr id="32" name="Text 29"/>
          <p:cNvSpPr txBox="1"/>
          <p:nvPr/>
        </p:nvSpPr>
        <p:spPr>
          <a:xfrm>
            <a:off x="2724912" y="3291840"/>
            <a:ext cx="1691640" cy="566928"/>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no bounded edit works</a:t>
            </a:r>
            <a:endParaRPr lang="en-US" sz="1100" dirty="0"/>
          </a:p>
        </p:txBody>
      </p:sp>
      <p:sp>
        <p:nvSpPr>
          <p:cNvPr id="33" name="Text 30"/>
          <p:cNvSpPr txBox="1"/>
          <p:nvPr/>
        </p:nvSpPr>
        <p:spPr>
          <a:xfrm>
            <a:off x="2724912" y="3886200"/>
            <a:ext cx="1691640" cy="384048"/>
          </a:xfrm>
          <a:prstGeom prst="rect">
            <a:avLst/>
          </a:prstGeom>
          <a:noFill/>
          <a:ln/>
        </p:spPr>
        <p:txBody>
          <a:bodyPr wrap="square" lIns="0" tIns="0" rIns="0" bIns="0" rtlCol="0" anchor="t"/>
          <a:lstStyle/>
          <a:p>
            <a:pPr indent="0" marL="0">
              <a:buNone/>
            </a:pPr>
            <a:r>
              <a:rPr lang="en-US" sz="1100" i="1" dirty="0">
                <a:solidFill>
                  <a:schemeClr val="accent1"/>
                </a:solidFill>
                <a:latin typeface="Calibri" pitchFamily="34" charset="0"/>
                <a:ea typeface="Calibri" pitchFamily="34" charset="-122"/>
                <a:cs typeface="Calibri" pitchFamily="34" charset="-120"/>
              </a:rPr>
              <a:t>class A { public: … }</a:t>
            </a:r>
            <a:endParaRPr lang="en-US" sz="1100" dirty="0"/>
          </a:p>
        </p:txBody>
      </p:sp>
      <p:sp>
        <p:nvSpPr>
          <p:cNvPr id="34" name="status Budget exhausted"/>
          <p:cNvSpPr/>
          <p:nvPr/>
        </p:nvSpPr>
        <p:spPr>
          <a:xfrm>
            <a:off x="4663440" y="2788920"/>
            <a:ext cx="1965960" cy="1554480"/>
          </a:xfrm>
          <a:prstGeom prst="roundRect">
            <a:avLst>
              <a:gd name="adj" fmla="val 5882"/>
            </a:avLst>
          </a:prstGeom>
          <a:solidFill>
            <a:srgbClr val="F1F5F9"/>
          </a:solidFill>
          <a:ln w="12700">
            <a:solidFill>
              <a:srgbClr val="F1F5F9"/>
            </a:solidFill>
            <a:prstDash val="solid"/>
          </a:ln>
        </p:spPr>
      </p:sp>
      <p:sp>
        <p:nvSpPr>
          <p:cNvPr id="35" name="tone 6"/>
          <p:cNvSpPr/>
          <p:nvPr/>
        </p:nvSpPr>
        <p:spPr>
          <a:xfrm>
            <a:off x="4800600" y="2980944"/>
            <a:ext cx="146304" cy="146304"/>
          </a:xfrm>
          <a:prstGeom prst="ellipse">
            <a:avLst/>
          </a:prstGeom>
          <a:solidFill>
            <a:srgbClr val="B91C1C"/>
          </a:solidFill>
          <a:ln w="12700">
            <a:solidFill>
              <a:srgbClr val="B91C1C"/>
            </a:solidFill>
            <a:prstDash val="solid"/>
          </a:ln>
        </p:spPr>
      </p:sp>
      <p:sp>
        <p:nvSpPr>
          <p:cNvPr id="36" name="Text 33"/>
          <p:cNvSpPr txBox="1"/>
          <p:nvPr/>
        </p:nvSpPr>
        <p:spPr>
          <a:xfrm>
            <a:off x="5010912" y="2907792"/>
            <a:ext cx="1554480" cy="320040"/>
          </a:xfrm>
          <a:prstGeom prst="rect">
            <a:avLst/>
          </a:prstGeom>
          <a:noFill/>
          <a:ln/>
        </p:spPr>
        <p:txBody>
          <a:bodyPr wrap="square" lIns="0" tIns="0" rIns="0" bIns="0" rtlCol="0" anchor="t"/>
          <a:lstStyle/>
          <a:p>
            <a:pPr indent="0" marL="0">
              <a:buNone/>
            </a:pPr>
            <a:r>
              <a:rPr lang="en-US" sz="1250" b="1" dirty="0">
                <a:solidFill>
                  <a:schemeClr val="tx1"/>
                </a:solidFill>
                <a:latin typeface="Calibri" pitchFamily="34" charset="0"/>
                <a:ea typeface="Calibri" pitchFamily="34" charset="-122"/>
                <a:cs typeface="Calibri" pitchFamily="34" charset="-120"/>
              </a:rPr>
              <a:t>Budget exhausted</a:t>
            </a:r>
            <a:endParaRPr lang="en-US" sz="1250" dirty="0"/>
          </a:p>
        </p:txBody>
      </p:sp>
      <p:sp>
        <p:nvSpPr>
          <p:cNvPr id="37" name="Text 34"/>
          <p:cNvSpPr txBox="1"/>
          <p:nvPr/>
        </p:nvSpPr>
        <p:spPr>
          <a:xfrm>
            <a:off x="4828032" y="3291840"/>
            <a:ext cx="1691640" cy="566928"/>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the search limit was hit (30,000 parses / 4 s)</a:t>
            </a:r>
            <a:endParaRPr lang="en-US" sz="1100" dirty="0"/>
          </a:p>
        </p:txBody>
      </p:sp>
      <p:sp>
        <p:nvSpPr>
          <p:cNvPr id="38" name="Text 35"/>
          <p:cNvSpPr txBox="1"/>
          <p:nvPr/>
        </p:nvSpPr>
        <p:spPr>
          <a:xfrm>
            <a:off x="4828032" y="3886200"/>
            <a:ext cx="1691640" cy="384048"/>
          </a:xfrm>
          <a:prstGeom prst="rect">
            <a:avLst/>
          </a:prstGeom>
          <a:noFill/>
          <a:ln/>
        </p:spPr>
        <p:txBody>
          <a:bodyPr wrap="square" lIns="0" tIns="0" rIns="0" bIns="0" rtlCol="0" anchor="t"/>
          <a:lstStyle/>
          <a:p>
            <a:pPr indent="0" marL="0">
              <a:buNone/>
            </a:pPr>
            <a:r>
              <a:rPr lang="en-US" sz="1100" i="1" dirty="0">
                <a:solidFill>
                  <a:schemeClr val="accent1"/>
                </a:solidFill>
                <a:latin typeface="Calibri" pitchFamily="34" charset="0"/>
                <a:ea typeface="Calibri" pitchFamily="34" charset="-122"/>
                <a:cs typeface="Calibri" pitchFamily="34" charset="-120"/>
              </a:rPr>
              <a:t>never on the benchmark</a:t>
            </a:r>
            <a:endParaRPr lang="en-US" sz="1100" dirty="0"/>
          </a:p>
        </p:txBody>
      </p:sp>
      <p:sp>
        <p:nvSpPr>
          <p:cNvPr id="39" name="Text 36"/>
          <p:cNvSpPr txBox="1"/>
          <p:nvPr/>
        </p:nvSpPr>
        <p:spPr>
          <a:xfrm>
            <a:off x="6766560" y="2880360"/>
            <a:ext cx="1920240" cy="146304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τ chosen on dev: most coverage with dev risk ≤ 10% (dev coverage 45.6%).</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Live demo</a:t>
            </a:r>
            <a:endParaRPr lang="en-US" sz="2800" dirty="0"/>
          </a:p>
        </p:txBody>
      </p:sp>
      <p:sp>
        <p:nvSpPr>
          <p:cNvPr id="4" name="Workbench after Full analysis frame"/>
          <p:cNvSpPr/>
          <p:nvPr/>
        </p:nvSpPr>
        <p:spPr>
          <a:xfrm>
            <a:off x="420624" y="1060704"/>
            <a:ext cx="5010912" cy="3430829"/>
          </a:xfrm>
          <a:prstGeom prst="roundRect">
            <a:avLst>
              <a:gd name="adj" fmla="val 2132"/>
            </a:avLst>
          </a:prstGeom>
          <a:solidFill>
            <a:srgbClr val="F1F5F9"/>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5" name="Workbench after Full analysis" descr="Workbench after Full analysis">    </p:cNvPr>
          <p:cNvPicPr>
            <a:picLocks noChangeAspect="1"/>
          </p:cNvPicPr>
          <p:nvPr/>
        </p:nvPicPr>
        <p:blipFill>
          <a:blip r:embed="rId1"/>
          <a:stretch>
            <a:fillRect/>
          </a:stretch>
        </p:blipFill>
        <p:spPr>
          <a:xfrm>
            <a:off x="457200" y="1097280"/>
            <a:ext cx="4937760" cy="3357677"/>
          </a:xfrm>
          <a:prstGeom prst="rect">
            <a:avLst/>
          </a:prstGeom>
        </p:spPr>
      </p:pic>
      <p:sp>
        <p:nvSpPr>
          <p:cNvPr id="6" name="Text 2"/>
          <p:cNvSpPr txBox="1"/>
          <p:nvPr/>
        </p:nvSpPr>
        <p:spPr>
          <a:xfrm>
            <a:off x="5715000" y="1143000"/>
            <a:ext cx="2971800" cy="274320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Missing semicolon: lexer → parser → full analysis</a:t>
            </a:r>
            <a:endParaRPr lang="en-US" sz="1300" dirty="0"/>
          </a:p>
          <a:p>
            <a:pPr marL="342900" indent="-342900">
              <a:spcAft>
                <a:spcPts val="6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Grammar &amp; parsing: LR state 47</a:t>
            </a:r>
            <a:endParaRPr lang="en-US" sz="1300" dirty="0"/>
          </a:p>
          <a:p>
            <a:pPr marL="342900" indent="-342900">
              <a:spcAft>
                <a:spcPts val="6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Evidence breakdown → Accept repair</a:t>
            </a:r>
            <a:endParaRPr lang="en-US" sz="1300" dirty="0"/>
          </a:p>
          <a:p>
            <a:pPr marL="342900" indent="-342900">
              <a:spcAft>
                <a:spcPts val="6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Ambiguous operator · Missing name · i++</a:t>
            </a:r>
            <a:endParaRPr lang="en-US" sz="1300" dirty="0"/>
          </a:p>
          <a:p>
            <a:pPr marL="342900" indent="-342900">
              <a:spcAft>
                <a:spcPts val="6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Two errors → Hypothesis explorer</a:t>
            </a:r>
            <a:endParaRPr lang="en-US" sz="1300" dirty="0"/>
          </a:p>
          <a:p>
            <a:pPr marL="342900" indent="-342900">
              <a:spcAft>
                <a:spcPts val="6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Evaluation page</a:t>
            </a:r>
            <a:endParaRPr lang="en-US" sz="1300" dirty="0"/>
          </a:p>
          <a:p>
            <a:pPr marL="342900" indent="-342900">
              <a:spcAft>
                <a:spcPts val="6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Your own input</a:t>
            </a:r>
            <a:endParaRPr lang="en-US" sz="1300" dirty="0"/>
          </a:p>
        </p:txBody>
      </p:sp>
      <p:sp>
        <p:nvSpPr>
          <p:cNvPr id="7" name="Text 3"/>
          <p:cNvSpPr txBox="1"/>
          <p:nvPr/>
        </p:nvSpPr>
        <p:spPr>
          <a:xfrm>
            <a:off x="5715000" y="3931920"/>
            <a:ext cx="2971800" cy="54864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Check first: badge says “Compiler 1.0.0”. Never show screenshots as live output.</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How we measured it</a:t>
            </a:r>
            <a:endParaRPr lang="en-US" sz="2800" dirty="0"/>
          </a:p>
        </p:txBody>
      </p:sp>
      <p:sp>
        <p:nvSpPr>
          <p:cNvPr id="4" name="stat 0"/>
          <p:cNvSpPr/>
          <p:nvPr/>
        </p:nvSpPr>
        <p:spPr>
          <a:xfrm>
            <a:off x="457200" y="1097280"/>
            <a:ext cx="1965960" cy="1417320"/>
          </a:xfrm>
          <a:prstGeom prst="roundRect">
            <a:avLst>
              <a:gd name="adj" fmla="val 6452"/>
            </a:avLst>
          </a:prstGeom>
          <a:solidFill>
            <a:srgbClr val="F1F5F9"/>
          </a:solidFill>
          <a:ln w="12700">
            <a:solidFill>
              <a:srgbClr val="F1F5F9"/>
            </a:solidFill>
            <a:prstDash val="solid"/>
          </a:ln>
        </p:spPr>
      </p:sp>
      <p:sp>
        <p:nvSpPr>
          <p:cNvPr id="5" name="Text 2"/>
          <p:cNvSpPr txBox="1"/>
          <p:nvPr/>
        </p:nvSpPr>
        <p:spPr>
          <a:xfrm>
            <a:off x="594360" y="1188720"/>
            <a:ext cx="1737360" cy="64008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900</a:t>
            </a:r>
            <a:endParaRPr lang="en-US" sz="3400" dirty="0"/>
          </a:p>
        </p:txBody>
      </p:sp>
      <p:sp>
        <p:nvSpPr>
          <p:cNvPr id="6" name="Text 3"/>
          <p:cNvSpPr txBox="1"/>
          <p:nvPr/>
        </p:nvSpPr>
        <p:spPr>
          <a:xfrm>
            <a:off x="594360" y="1828800"/>
            <a:ext cx="1737360" cy="6400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seeded synthetic cases from 30 programs</a:t>
            </a:r>
            <a:endParaRPr lang="en-US" sz="1200" dirty="0"/>
          </a:p>
        </p:txBody>
      </p:sp>
      <p:sp>
        <p:nvSpPr>
          <p:cNvPr id="7" name="stat 1"/>
          <p:cNvSpPr/>
          <p:nvPr/>
        </p:nvSpPr>
        <p:spPr>
          <a:xfrm>
            <a:off x="2560320" y="1097280"/>
            <a:ext cx="1965960" cy="1417320"/>
          </a:xfrm>
          <a:prstGeom prst="roundRect">
            <a:avLst>
              <a:gd name="adj" fmla="val 6452"/>
            </a:avLst>
          </a:prstGeom>
          <a:solidFill>
            <a:srgbClr val="F1F5F9"/>
          </a:solidFill>
          <a:ln w="12700">
            <a:solidFill>
              <a:srgbClr val="F1F5F9"/>
            </a:solidFill>
            <a:prstDash val="solid"/>
          </a:ln>
        </p:spPr>
      </p:sp>
      <p:sp>
        <p:nvSpPr>
          <p:cNvPr id="8" name="Text 5"/>
          <p:cNvSpPr txBox="1"/>
          <p:nvPr/>
        </p:nvSpPr>
        <p:spPr>
          <a:xfrm>
            <a:off x="2697480" y="1188720"/>
            <a:ext cx="1737360" cy="64008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360</a:t>
            </a:r>
            <a:endParaRPr lang="en-US" sz="3400" dirty="0"/>
          </a:p>
        </p:txBody>
      </p:sp>
      <p:sp>
        <p:nvSpPr>
          <p:cNvPr id="9" name="Text 6"/>
          <p:cNvSpPr txBox="1"/>
          <p:nvPr/>
        </p:nvSpPr>
        <p:spPr>
          <a:xfrm>
            <a:off x="2697480" y="1828800"/>
            <a:ext cx="1737360" cy="6400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dev cases (12 programs): all tuning</a:t>
            </a:r>
            <a:endParaRPr lang="en-US" sz="1200" dirty="0"/>
          </a:p>
        </p:txBody>
      </p:sp>
      <p:sp>
        <p:nvSpPr>
          <p:cNvPr id="10" name="stat 2"/>
          <p:cNvSpPr/>
          <p:nvPr/>
        </p:nvSpPr>
        <p:spPr>
          <a:xfrm>
            <a:off x="4663440" y="1097280"/>
            <a:ext cx="1965960" cy="1417320"/>
          </a:xfrm>
          <a:prstGeom prst="roundRect">
            <a:avLst>
              <a:gd name="adj" fmla="val 6452"/>
            </a:avLst>
          </a:prstGeom>
          <a:solidFill>
            <a:srgbClr val="F1F5F9"/>
          </a:solidFill>
          <a:ln w="12700">
            <a:solidFill>
              <a:srgbClr val="F1F5F9"/>
            </a:solidFill>
            <a:prstDash val="solid"/>
          </a:ln>
        </p:spPr>
      </p:sp>
      <p:sp>
        <p:nvSpPr>
          <p:cNvPr id="11" name="Text 8"/>
          <p:cNvSpPr txBox="1"/>
          <p:nvPr/>
        </p:nvSpPr>
        <p:spPr>
          <a:xfrm>
            <a:off x="4800600" y="1188720"/>
            <a:ext cx="1737360" cy="64008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540</a:t>
            </a:r>
            <a:endParaRPr lang="en-US" sz="3400" dirty="0"/>
          </a:p>
        </p:txBody>
      </p:sp>
      <p:sp>
        <p:nvSpPr>
          <p:cNvPr id="12" name="Text 9"/>
          <p:cNvSpPr txBox="1"/>
          <p:nvPr/>
        </p:nvSpPr>
        <p:spPr>
          <a:xfrm>
            <a:off x="4800600" y="1828800"/>
            <a:ext cx="1737360" cy="6400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test cases (18 programs): held out</a:t>
            </a:r>
            <a:endParaRPr lang="en-US" sz="1200" dirty="0"/>
          </a:p>
        </p:txBody>
      </p:sp>
      <p:sp>
        <p:nvSpPr>
          <p:cNvPr id="13" name="stat 3"/>
          <p:cNvSpPr/>
          <p:nvPr/>
        </p:nvSpPr>
        <p:spPr>
          <a:xfrm>
            <a:off x="6766560" y="1097280"/>
            <a:ext cx="1965960" cy="1417320"/>
          </a:xfrm>
          <a:prstGeom prst="roundRect">
            <a:avLst>
              <a:gd name="adj" fmla="val 6452"/>
            </a:avLst>
          </a:prstGeom>
          <a:solidFill>
            <a:srgbClr val="F1F5F9"/>
          </a:solidFill>
          <a:ln w="12700">
            <a:solidFill>
              <a:srgbClr val="F1F5F9"/>
            </a:solidFill>
            <a:prstDash val="solid"/>
          </a:ln>
        </p:spPr>
      </p:sp>
      <p:sp>
        <p:nvSpPr>
          <p:cNvPr id="14" name="Text 11"/>
          <p:cNvSpPr txBox="1"/>
          <p:nvPr/>
        </p:nvSpPr>
        <p:spPr>
          <a:xfrm>
            <a:off x="6903720" y="1188720"/>
            <a:ext cx="1737360" cy="64008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9</a:t>
            </a:r>
            <a:endParaRPr lang="en-US" sz="3400" dirty="0"/>
          </a:p>
        </p:txBody>
      </p:sp>
      <p:sp>
        <p:nvSpPr>
          <p:cNvPr id="15" name="Text 12"/>
          <p:cNvSpPr txBox="1"/>
          <p:nvPr/>
        </p:nvSpPr>
        <p:spPr>
          <a:xfrm>
            <a:off x="6903720" y="1828800"/>
            <a:ext cx="1737360" cy="6400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systems: baselines, CPCT+, ablations</a:t>
            </a:r>
            <a:endParaRPr lang="en-US" sz="1200" dirty="0"/>
          </a:p>
        </p:txBody>
      </p:sp>
      <p:sp>
        <p:nvSpPr>
          <p:cNvPr id="16" name="Text 13"/>
          <p:cNvSpPr txBox="1"/>
          <p:nvPr/>
        </p:nvSpPr>
        <p:spPr>
          <a:xfrm>
            <a:off x="457200" y="2743200"/>
            <a:ext cx="5852160" cy="17373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Split by program, not by case, so near-duplicate mutations cannot leak into the test set.</a:t>
            </a:r>
            <a:endParaRPr lang="en-US" sz="1300" dirty="0"/>
          </a:p>
          <a:p>
            <a:pPr marL="342900" indent="-3429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Weights and τ fixed on dev; model frozen before the first test run.</a:t>
            </a:r>
            <a:endParaRPr lang="en-US" sz="1300" dirty="0"/>
          </a:p>
          <a:p>
            <a:pPr marL="342900" indent="-3429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Systems: raw parser, panic mode, least-cost, CPCT+ (grmtools), and ablations without layout, stability, grouping or abstention.</a:t>
            </a:r>
            <a:endParaRPr lang="en-US" sz="1300" dirty="0"/>
          </a:p>
          <a:p>
            <a:pPr marL="342900" indent="-3429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Wilson 95% intervals; paired bootstrap (2000 resamples) for differences.</a:t>
            </a:r>
            <a:endParaRPr lang="en-US" sz="1300" dirty="0"/>
          </a:p>
        </p:txBody>
      </p:sp>
      <p:sp>
        <p:nvSpPr>
          <p:cNvPr id="17" name="caveat card"/>
          <p:cNvSpPr/>
          <p:nvPr/>
        </p:nvSpPr>
        <p:spPr>
          <a:xfrm>
            <a:off x="6492240" y="2743200"/>
            <a:ext cx="2194560" cy="1645920"/>
          </a:xfrm>
          <a:prstGeom prst="roundRect">
            <a:avLst>
              <a:gd name="adj" fmla="val 5556"/>
            </a:avLst>
          </a:prstGeom>
          <a:solidFill>
            <a:srgbClr val="FEF3C7"/>
          </a:solidFill>
          <a:ln w="12700">
            <a:solidFill>
              <a:srgbClr val="FEF3C7"/>
            </a:solidFill>
            <a:prstDash val="solid"/>
          </a:ln>
        </p:spPr>
      </p:sp>
      <p:sp>
        <p:nvSpPr>
          <p:cNvPr id="18" name="caveat circle"/>
          <p:cNvSpPr/>
          <p:nvPr/>
        </p:nvSpPr>
        <p:spPr>
          <a:xfrm>
            <a:off x="6629400" y="2880360"/>
            <a:ext cx="411480" cy="411480"/>
          </a:xfrm>
          <a:prstGeom prst="ellipse">
            <a:avLst/>
          </a:prstGeom>
          <a:solidFill>
            <a:srgbClr val="B45309"/>
          </a:solidFill>
          <a:ln w="12700">
            <a:solidFill>
              <a:srgbClr val="B45309"/>
            </a:solidFill>
            <a:prstDash val="solid"/>
          </a:ln>
        </p:spPr>
      </p:sp>
      <p:pic>
        <p:nvPicPr>
          <p:cNvPr id="19" name="caveat icon" descr="preencoded.png">    </p:cNvPr>
          <p:cNvPicPr>
            <a:picLocks noChangeAspect="1"/>
          </p:cNvPicPr>
          <p:nvPr/>
        </p:nvPicPr>
        <p:blipFill>
          <a:blip r:embed="rId1"/>
          <a:stretch>
            <a:fillRect/>
          </a:stretch>
        </p:blipFill>
        <p:spPr>
          <a:xfrm>
            <a:off x="6719926" y="2970886"/>
            <a:ext cx="230429" cy="230429"/>
          </a:xfrm>
          <a:prstGeom prst="rect">
            <a:avLst/>
          </a:prstGeom>
        </p:spPr>
      </p:pic>
      <p:sp>
        <p:nvSpPr>
          <p:cNvPr id="20" name="Text 16"/>
          <p:cNvSpPr txBox="1"/>
          <p:nvPr/>
        </p:nvSpPr>
        <p:spPr>
          <a:xfrm>
            <a:off x="6629400" y="3383280"/>
            <a:ext cx="1965960" cy="91440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Synthetic single-token mutations, not real student code.</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Results on 540 held-out cases</a:t>
            </a:r>
            <a:endParaRPr lang="en-US" sz="2800" dirty="0"/>
          </a:p>
        </p:txBody>
      </p:sp>
      <p:graphicFrame>
        <p:nvGraphicFramePr>
          <p:cNvPr id="4" name="top-1 chart" descr=""/>
          <p:cNvGraphicFramePr/>
          <p:nvPr/>
        </p:nvGraphicFramePr>
        <p:xfrm>
          <a:off x="457200" y="1005840"/>
          <a:ext cx="416052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wrong-confident chart" descr=""/>
          <p:cNvGraphicFramePr/>
          <p:nvPr/>
        </p:nvGraphicFramePr>
        <p:xfrm>
          <a:off x="4800600" y="1005840"/>
          <a:ext cx="3886200" cy="2834640"/>
        </p:xfrm>
        <a:graphic xmlns:a="http://schemas.openxmlformats.org/drawingml/2006/main">
          <a:graphicData uri="http://schemas.openxmlformats.org/drawingml/2006/chart">
            <c:chart xmlns:c="http://schemas.openxmlformats.org/drawingml/2006/chart" r:id="rId2"/>
          </a:graphicData>
        </a:graphic>
      </p:graphicFrame>
      <p:sp>
        <p:nvSpPr>
          <p:cNvPr id="6" name="Text 1"/>
          <p:cNvSpPr txBox="1"/>
          <p:nvPr/>
        </p:nvSpPr>
        <p:spPr>
          <a:xfrm>
            <a:off x="457200" y="3977640"/>
            <a:ext cx="8229600" cy="32004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+16.3 pts</a:t>
            </a:r>
            <a:pPr indent="0" marL="0">
              <a:buNone/>
            </a:pPr>
            <a:r>
              <a:rPr lang="en-US" sz="1200" dirty="0">
                <a:solidFill>
                  <a:schemeClr val="tx2"/>
                </a:solidFill>
                <a:latin typeface="Calibri" pitchFamily="34" charset="0"/>
                <a:ea typeface="Calibri" pitchFamily="34" charset="-122"/>
                <a:cs typeface="Calibri" pitchFamily="34" charset="-120"/>
              </a:rPr>
              <a:t> vs least-cost, CI [13.1, 19.4]  ·  IntelliFix 71.5% [67.5, 75.1]  ·  </a:t>
            </a:r>
            <a:pPr indent="0" marL="0">
              <a:buNone/>
            </a:pPr>
            <a:r>
              <a:rPr lang="en-US" sz="1200" b="1" dirty="0">
                <a:solidFill>
                  <a:schemeClr val="tx2"/>
                </a:solidFill>
                <a:latin typeface="Calibri" pitchFamily="34" charset="0"/>
                <a:ea typeface="Calibri" pitchFamily="34" charset="-122"/>
                <a:cs typeface="Calibri" pitchFamily="34" charset="-120"/>
              </a:rPr>
              <a:t>coverage 50.7%, selective accuracy 88.0%</a:t>
            </a:r>
            <a:endParaRPr lang="en-US" sz="1200" dirty="0"/>
          </a:p>
        </p:txBody>
      </p:sp>
      <p:sp>
        <p:nvSpPr>
          <p:cNvPr id="7" name="Text 2"/>
          <p:cNvSpPr txBox="1"/>
          <p:nvPr/>
        </p:nvSpPr>
        <p:spPr>
          <a:xfrm>
            <a:off x="457200" y="4315968"/>
            <a:ext cx="8229600" cy="274320"/>
          </a:xfrm>
          <a:prstGeom prst="rect">
            <a:avLst/>
          </a:prstGeom>
          <a:noFill/>
          <a:ln/>
        </p:spPr>
        <p:txBody>
          <a:bodyPr wrap="square" lIns="0" tIns="0" rIns="0" bIns="0" rtlCol="0" anchor="t"/>
          <a:lstStyle/>
          <a:p>
            <a:pPr indent="0" marL="0">
              <a:buNone/>
            </a:pPr>
            <a:r>
              <a:rPr lang="en-US" sz="1100" dirty="0">
                <a:solidFill>
                  <a:schemeClr val="accent6"/>
                </a:solidFill>
                <a:latin typeface="Calibri" pitchFamily="34" charset="0"/>
                <a:ea typeface="Calibri" pitchFamily="34" charset="-122"/>
                <a:cs typeface="Calibri" pitchFamily="34" charset="-120"/>
              </a:rPr>
              <a:t>CPCT+ varies between runs (ties broken arbitrarily); 540 synthetic test cases.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What did not work, and our limits</a:t>
            </a:r>
            <a:endParaRPr lang="en-US" sz="2800" dirty="0"/>
          </a:p>
        </p:txBody>
      </p:sp>
      <p:sp>
        <p:nvSpPr>
          <p:cNvPr id="4" name="Did not work (reported, not hidden) circle"/>
          <p:cNvSpPr/>
          <p:nvPr/>
        </p:nvSpPr>
        <p:spPr>
          <a:xfrm>
            <a:off x="457200" y="1097280"/>
            <a:ext cx="411480" cy="411480"/>
          </a:xfrm>
          <a:prstGeom prst="ellipse">
            <a:avLst/>
          </a:prstGeom>
          <a:solidFill>
            <a:srgbClr val="B45309"/>
          </a:solidFill>
          <a:ln w="12700">
            <a:solidFill>
              <a:srgbClr val="B45309"/>
            </a:solidFill>
            <a:prstDash val="solid"/>
          </a:ln>
        </p:spPr>
      </p:sp>
      <p:pic>
        <p:nvPicPr>
          <p:cNvPr id="5" name="Did not work (reported, not hidden) icon" descr="preencoded.png">    </p:cNvPr>
          <p:cNvPicPr>
            <a:picLocks noChangeAspect="1"/>
          </p:cNvPicPr>
          <p:nvPr/>
        </p:nvPicPr>
        <p:blipFill>
          <a:blip r:embed="rId1"/>
          <a:stretch>
            <a:fillRect/>
          </a:stretch>
        </p:blipFill>
        <p:spPr>
          <a:xfrm>
            <a:off x="547726" y="1187806"/>
            <a:ext cx="230429" cy="230429"/>
          </a:xfrm>
          <a:prstGeom prst="rect">
            <a:avLst/>
          </a:prstGeom>
        </p:spPr>
      </p:pic>
      <p:sp>
        <p:nvSpPr>
          <p:cNvPr id="6" name="Text 2"/>
          <p:cNvSpPr txBox="1"/>
          <p:nvPr/>
        </p:nvSpPr>
        <p:spPr>
          <a:xfrm>
            <a:off x="1005840" y="1143000"/>
            <a:ext cx="329184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Did not work (reported, not hidden)</a:t>
            </a:r>
            <a:endParaRPr lang="en-US" sz="1600" dirty="0"/>
          </a:p>
        </p:txBody>
      </p:sp>
      <p:sp>
        <p:nvSpPr>
          <p:cNvPr id="7" name="Did not work (reported, not hidden) 0"/>
          <p:cNvSpPr/>
          <p:nvPr/>
        </p:nvSpPr>
        <p:spPr>
          <a:xfrm>
            <a:off x="457200" y="1691640"/>
            <a:ext cx="3931920" cy="621792"/>
          </a:xfrm>
          <a:prstGeom prst="roundRect">
            <a:avLst>
              <a:gd name="adj" fmla="val 14706"/>
            </a:avLst>
          </a:prstGeom>
          <a:solidFill>
            <a:srgbClr val="F1F5F9"/>
          </a:solidFill>
          <a:ln w="12700">
            <a:solidFill>
              <a:srgbClr val="F1F5F9"/>
            </a:solidFill>
            <a:prstDash val="solid"/>
          </a:ln>
        </p:spPr>
      </p:sp>
      <p:sp>
        <p:nvSpPr>
          <p:cNvPr id="8" name="Text 4"/>
          <p:cNvSpPr txBox="1"/>
          <p:nvPr/>
        </p:nvSpPr>
        <p:spPr>
          <a:xfrm>
            <a:off x="594360" y="1746504"/>
            <a:ext cx="365760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Stability evidence: +0.2 pts, CI [-0.4, 0.9]</a:t>
            </a:r>
            <a:endParaRPr lang="en-US" sz="1300" dirty="0"/>
          </a:p>
        </p:txBody>
      </p:sp>
      <p:sp>
        <p:nvSpPr>
          <p:cNvPr id="9" name="Text 5"/>
          <p:cNvSpPr txBox="1"/>
          <p:nvPr/>
        </p:nvSpPr>
        <p:spPr>
          <a:xfrm>
            <a:off x="594360" y="2020824"/>
            <a:ext cx="3657600" cy="2743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no measurable effect</a:t>
            </a:r>
            <a:endParaRPr lang="en-US" sz="1150" dirty="0"/>
          </a:p>
        </p:txBody>
      </p:sp>
      <p:sp>
        <p:nvSpPr>
          <p:cNvPr id="10" name="Did not work (reported, not hidden) 1"/>
          <p:cNvSpPr/>
          <p:nvPr/>
        </p:nvSpPr>
        <p:spPr>
          <a:xfrm>
            <a:off x="457200" y="2404872"/>
            <a:ext cx="3931920" cy="621792"/>
          </a:xfrm>
          <a:prstGeom prst="roundRect">
            <a:avLst>
              <a:gd name="adj" fmla="val 14706"/>
            </a:avLst>
          </a:prstGeom>
          <a:solidFill>
            <a:srgbClr val="F1F5F9"/>
          </a:solidFill>
          <a:ln w="12700">
            <a:solidFill>
              <a:srgbClr val="F1F5F9"/>
            </a:solidFill>
            <a:prstDash val="solid"/>
          </a:ln>
        </p:spPr>
      </p:sp>
      <p:sp>
        <p:nvSpPr>
          <p:cNvPr id="11" name="Text 7"/>
          <p:cNvSpPr txBox="1"/>
          <p:nvPr/>
        </p:nvSpPr>
        <p:spPr>
          <a:xfrm>
            <a:off x="594360" y="2459736"/>
            <a:ext cx="365760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AST grouping: coverage 50.7% vs 48.9%</a:t>
            </a:r>
            <a:endParaRPr lang="en-US" sz="1300" dirty="0"/>
          </a:p>
        </p:txBody>
      </p:sp>
      <p:sp>
        <p:nvSpPr>
          <p:cNvPr id="12" name="Text 8"/>
          <p:cNvSpPr txBox="1"/>
          <p:nvPr/>
        </p:nvSpPr>
        <p:spPr>
          <a:xfrm>
            <a:off x="594360" y="2734056"/>
            <a:ext cx="3657600" cy="2743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small effect</a:t>
            </a:r>
            <a:endParaRPr lang="en-US" sz="1150" dirty="0"/>
          </a:p>
        </p:txBody>
      </p:sp>
      <p:sp>
        <p:nvSpPr>
          <p:cNvPr id="13" name="Did not work (reported, not hidden) 2"/>
          <p:cNvSpPr/>
          <p:nvPr/>
        </p:nvSpPr>
        <p:spPr>
          <a:xfrm>
            <a:off x="457200" y="3118104"/>
            <a:ext cx="3931920" cy="621792"/>
          </a:xfrm>
          <a:prstGeom prst="roundRect">
            <a:avLst>
              <a:gd name="adj" fmla="val 14706"/>
            </a:avLst>
          </a:prstGeom>
          <a:solidFill>
            <a:srgbClr val="F1F5F9"/>
          </a:solidFill>
          <a:ln w="12700">
            <a:solidFill>
              <a:srgbClr val="F1F5F9"/>
            </a:solidFill>
            <a:prstDash val="solid"/>
          </a:ln>
        </p:spPr>
      </p:sp>
      <p:sp>
        <p:nvSpPr>
          <p:cNvPr id="14" name="Text 10"/>
          <p:cNvSpPr txBox="1"/>
          <p:nvPr/>
        </p:nvSpPr>
        <p:spPr>
          <a:xfrm>
            <a:off x="594360" y="3172968"/>
            <a:ext cx="365760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Test risk 12.0% vs 10% target</a:t>
            </a:r>
            <a:endParaRPr lang="en-US" sz="1300" dirty="0"/>
          </a:p>
        </p:txBody>
      </p:sp>
      <p:sp>
        <p:nvSpPr>
          <p:cNvPr id="15" name="Text 11"/>
          <p:cNvSpPr txBox="1"/>
          <p:nvPr/>
        </p:nvSpPr>
        <p:spPr>
          <a:xfrm>
            <a:off x="594360" y="3447288"/>
            <a:ext cx="3657600" cy="2743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τ did not fully transfer</a:t>
            </a:r>
            <a:endParaRPr lang="en-US" sz="1150" dirty="0"/>
          </a:p>
        </p:txBody>
      </p:sp>
      <p:sp>
        <p:nvSpPr>
          <p:cNvPr id="16" name="Did not work (reported, not hidden) 3"/>
          <p:cNvSpPr/>
          <p:nvPr/>
        </p:nvSpPr>
        <p:spPr>
          <a:xfrm>
            <a:off x="457200" y="3831336"/>
            <a:ext cx="3931920" cy="621792"/>
          </a:xfrm>
          <a:prstGeom prst="roundRect">
            <a:avLst>
              <a:gd name="adj" fmla="val 14706"/>
            </a:avLst>
          </a:prstGeom>
          <a:solidFill>
            <a:srgbClr val="F1F5F9"/>
          </a:solidFill>
          <a:ln w="12700">
            <a:solidFill>
              <a:srgbClr val="F1F5F9"/>
            </a:solidFill>
            <a:prstDash val="solid"/>
          </a:ln>
        </p:spPr>
      </p:sp>
      <p:sp>
        <p:nvSpPr>
          <p:cNvPr id="17" name="Text 13"/>
          <p:cNvSpPr txBox="1"/>
          <p:nvPr/>
        </p:nvSpPr>
        <p:spPr>
          <a:xfrm>
            <a:off x="594360" y="3886200"/>
            <a:ext cx="365760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whlie (i &lt; 3) {  →  insert ';'</a:t>
            </a:r>
            <a:endParaRPr lang="en-US" sz="1300" dirty="0"/>
          </a:p>
        </p:txBody>
      </p:sp>
      <p:sp>
        <p:nvSpPr>
          <p:cNvPr id="18" name="Text 14"/>
          <p:cNvSpPr txBox="1"/>
          <p:nvPr/>
        </p:nvSpPr>
        <p:spPr>
          <a:xfrm>
            <a:off x="594360" y="4160520"/>
            <a:ext cx="3657600" cy="2743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confident, parser-valid, wrong: becomes a call</a:t>
            </a:r>
            <a:endParaRPr lang="en-US" sz="1150" dirty="0"/>
          </a:p>
        </p:txBody>
      </p:sp>
      <p:sp>
        <p:nvSpPr>
          <p:cNvPr id="19" name="Limits circle"/>
          <p:cNvSpPr/>
          <p:nvPr/>
        </p:nvSpPr>
        <p:spPr>
          <a:xfrm>
            <a:off x="4754880" y="1097280"/>
            <a:ext cx="411480" cy="411480"/>
          </a:xfrm>
          <a:prstGeom prst="ellipse">
            <a:avLst/>
          </a:prstGeom>
          <a:solidFill>
            <a:srgbClr val="64748B"/>
          </a:solidFill>
          <a:ln w="12700">
            <a:solidFill>
              <a:srgbClr val="64748B"/>
            </a:solidFill>
            <a:prstDash val="solid"/>
          </a:ln>
        </p:spPr>
      </p:sp>
      <p:pic>
        <p:nvPicPr>
          <p:cNvPr id="20" name="Limits icon" descr="preencoded.png">    </p:cNvPr>
          <p:cNvPicPr>
            <a:picLocks noChangeAspect="1"/>
          </p:cNvPicPr>
          <p:nvPr/>
        </p:nvPicPr>
        <p:blipFill>
          <a:blip r:embed="rId2"/>
          <a:stretch>
            <a:fillRect/>
          </a:stretch>
        </p:blipFill>
        <p:spPr>
          <a:xfrm>
            <a:off x="4845406" y="1187806"/>
            <a:ext cx="230429" cy="230429"/>
          </a:xfrm>
          <a:prstGeom prst="rect">
            <a:avLst/>
          </a:prstGeom>
        </p:spPr>
      </p:pic>
      <p:sp>
        <p:nvSpPr>
          <p:cNvPr id="21" name="Text 16"/>
          <p:cNvSpPr txBox="1"/>
          <p:nvPr/>
        </p:nvSpPr>
        <p:spPr>
          <a:xfrm>
            <a:off x="5303520" y="1143000"/>
            <a:ext cx="329184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Limits</a:t>
            </a:r>
            <a:endParaRPr lang="en-US" sz="1600" dirty="0"/>
          </a:p>
        </p:txBody>
      </p:sp>
      <p:sp>
        <p:nvSpPr>
          <p:cNvPr id="22" name="Limits 0"/>
          <p:cNvSpPr/>
          <p:nvPr/>
        </p:nvSpPr>
        <p:spPr>
          <a:xfrm>
            <a:off x="4754880" y="1691640"/>
            <a:ext cx="3931920" cy="621792"/>
          </a:xfrm>
          <a:prstGeom prst="roundRect">
            <a:avLst>
              <a:gd name="adj" fmla="val 14706"/>
            </a:avLst>
          </a:prstGeom>
          <a:solidFill>
            <a:srgbClr val="F1F5F9"/>
          </a:solidFill>
          <a:ln w="12700">
            <a:solidFill>
              <a:srgbClr val="F1F5F9"/>
            </a:solidFill>
            <a:prstDash val="solid"/>
          </a:ln>
        </p:spPr>
      </p:sp>
      <p:sp>
        <p:nvSpPr>
          <p:cNvPr id="23" name="Text 18"/>
          <p:cNvSpPr txBox="1"/>
          <p:nvPr/>
        </p:nvSpPr>
        <p:spPr>
          <a:xfrm>
            <a:off x="4892040" y="1746504"/>
            <a:ext cx="365760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Synthetic errors</a:t>
            </a:r>
            <a:endParaRPr lang="en-US" sz="1300" dirty="0"/>
          </a:p>
        </p:txBody>
      </p:sp>
      <p:sp>
        <p:nvSpPr>
          <p:cNvPr id="24" name="Text 19"/>
          <p:cNvSpPr txBox="1"/>
          <p:nvPr/>
        </p:nvSpPr>
        <p:spPr>
          <a:xfrm>
            <a:off x="4892040" y="2020824"/>
            <a:ext cx="3657600" cy="2743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no claim about real student code</a:t>
            </a:r>
            <a:endParaRPr lang="en-US" sz="1150" dirty="0"/>
          </a:p>
        </p:txBody>
      </p:sp>
      <p:sp>
        <p:nvSpPr>
          <p:cNvPr id="25" name="Limits 1"/>
          <p:cNvSpPr/>
          <p:nvPr/>
        </p:nvSpPr>
        <p:spPr>
          <a:xfrm>
            <a:off x="4754880" y="2404872"/>
            <a:ext cx="3931920" cy="621792"/>
          </a:xfrm>
          <a:prstGeom prst="roundRect">
            <a:avLst>
              <a:gd name="adj" fmla="val 14706"/>
            </a:avLst>
          </a:prstGeom>
          <a:solidFill>
            <a:srgbClr val="F1F5F9"/>
          </a:solidFill>
          <a:ln w="12700">
            <a:solidFill>
              <a:srgbClr val="F1F5F9"/>
            </a:solidFill>
            <a:prstDash val="solid"/>
          </a:ln>
        </p:spPr>
      </p:sp>
      <p:sp>
        <p:nvSpPr>
          <p:cNvPr id="26" name="Text 21"/>
          <p:cNvSpPr txBox="1"/>
          <p:nvPr/>
        </p:nvSpPr>
        <p:spPr>
          <a:xfrm>
            <a:off x="4892040" y="2459736"/>
            <a:ext cx="365760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One author, 30 programs</a:t>
            </a:r>
            <a:endParaRPr lang="en-US" sz="1300" dirty="0"/>
          </a:p>
        </p:txBody>
      </p:sp>
      <p:sp>
        <p:nvSpPr>
          <p:cNvPr id="27" name="Text 22"/>
          <p:cNvSpPr txBox="1"/>
          <p:nvPr/>
        </p:nvSpPr>
        <p:spPr>
          <a:xfrm>
            <a:off x="4892040" y="2734056"/>
            <a:ext cx="3657600" cy="2743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consistent indentation flatters layout evidence</a:t>
            </a:r>
            <a:endParaRPr lang="en-US" sz="1150" dirty="0"/>
          </a:p>
        </p:txBody>
      </p:sp>
      <p:sp>
        <p:nvSpPr>
          <p:cNvPr id="28" name="Limits 2"/>
          <p:cNvSpPr/>
          <p:nvPr/>
        </p:nvSpPr>
        <p:spPr>
          <a:xfrm>
            <a:off x="4754880" y="3118104"/>
            <a:ext cx="3931920" cy="621792"/>
          </a:xfrm>
          <a:prstGeom prst="roundRect">
            <a:avLst>
              <a:gd name="adj" fmla="val 14706"/>
            </a:avLst>
          </a:prstGeom>
          <a:solidFill>
            <a:srgbClr val="F1F5F9"/>
          </a:solidFill>
          <a:ln w="12700">
            <a:solidFill>
              <a:srgbClr val="F1F5F9"/>
            </a:solidFill>
            <a:prstDash val="solid"/>
          </a:ln>
        </p:spPr>
      </p:sp>
      <p:sp>
        <p:nvSpPr>
          <p:cNvPr id="29" name="Text 24"/>
          <p:cNvSpPr txBox="1"/>
          <p:nvPr/>
        </p:nvSpPr>
        <p:spPr>
          <a:xfrm>
            <a:off x="4892040" y="3172968"/>
            <a:ext cx="365760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MiniC subset, syntax only</a:t>
            </a:r>
            <a:endParaRPr lang="en-US" sz="1300" dirty="0"/>
          </a:p>
        </p:txBody>
      </p:sp>
      <p:sp>
        <p:nvSpPr>
          <p:cNvPr id="30" name="Text 25"/>
          <p:cNvSpPr txBox="1"/>
          <p:nvPr/>
        </p:nvSpPr>
        <p:spPr>
          <a:xfrm>
            <a:off x="4892040" y="3447288"/>
            <a:ext cx="3657600" cy="2743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no types; a valid fix can change meaning</a:t>
            </a:r>
            <a:endParaRPr lang="en-US" sz="1150" dirty="0"/>
          </a:p>
        </p:txBody>
      </p:sp>
      <p:sp>
        <p:nvSpPr>
          <p:cNvPr id="31" name="Limits 3"/>
          <p:cNvSpPr/>
          <p:nvPr/>
        </p:nvSpPr>
        <p:spPr>
          <a:xfrm>
            <a:off x="4754880" y="3831336"/>
            <a:ext cx="3931920" cy="621792"/>
          </a:xfrm>
          <a:prstGeom prst="roundRect">
            <a:avLst>
              <a:gd name="adj" fmla="val 14706"/>
            </a:avLst>
          </a:prstGeom>
          <a:solidFill>
            <a:srgbClr val="F1F5F9"/>
          </a:solidFill>
          <a:ln w="12700">
            <a:solidFill>
              <a:srgbClr val="F1F5F9"/>
            </a:solidFill>
            <a:prstDash val="solid"/>
          </a:ln>
        </p:spPr>
      </p:sp>
      <p:sp>
        <p:nvSpPr>
          <p:cNvPr id="32" name="Text 27"/>
          <p:cNvSpPr txBox="1"/>
          <p:nvPr/>
        </p:nvSpPr>
        <p:spPr>
          <a:xfrm>
            <a:off x="4892040" y="3886200"/>
            <a:ext cx="365760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Margin is not a probability</a:t>
            </a:r>
            <a:endParaRPr lang="en-US" sz="1300" dirty="0"/>
          </a:p>
        </p:txBody>
      </p:sp>
      <p:sp>
        <p:nvSpPr>
          <p:cNvPr id="33" name="Text 28"/>
          <p:cNvSpPr txBox="1"/>
          <p:nvPr/>
        </p:nvSpPr>
        <p:spPr>
          <a:xfrm>
            <a:off x="4892040" y="4160520"/>
            <a:ext cx="3657600" cy="2743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no calibration claimed</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Contribution</a:t>
            </a:r>
            <a:endParaRPr lang="en-US" sz="2800" dirty="0"/>
          </a:p>
        </p:txBody>
      </p:sp>
      <p:graphicFrame>
        <p:nvGraphicFramePr>
          <p:cNvPr id="15" name="contribution table"/>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3291840"/>
                <a:gridCol w="3017520"/>
                <a:gridCol w="192024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Part of the pipeline</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Measured effect (test)</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Verdict</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r>
              <a:tr h="38404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Evidence ranking vs least-cost</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+16.3 pts top-1</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300" b="1" dirty="0">
                          <a:solidFill>
                            <a:srgbClr val="15803D"/>
                          </a:solidFill>
                          <a:latin typeface="Calibri" pitchFamily="34" charset="0"/>
                          <a:ea typeface="Calibri" pitchFamily="34" charset="-122"/>
                          <a:cs typeface="Calibri" pitchFamily="34" charset="-120"/>
                        </a:rPr>
                        <a:t>Supported</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8404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Layout-aware generation and evidence</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+8.9 pts top-1</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300" b="1" dirty="0">
                          <a:solidFill>
                            <a:srgbClr val="15803D"/>
                          </a:solidFill>
                          <a:latin typeface="Calibri" pitchFamily="34" charset="0"/>
                          <a:ea typeface="Calibri" pitchFamily="34" charset="-122"/>
                          <a:cs typeface="Calibri" pitchFamily="34" charset="-120"/>
                        </a:rPr>
                        <a:t>Supported</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8404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Confidence-aware abstention</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wrong-confident 6.1% vs 28.5%</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300" b="1" dirty="0">
                          <a:solidFill>
                            <a:srgbClr val="15803D"/>
                          </a:solidFill>
                          <a:latin typeface="Calibri" pitchFamily="34" charset="0"/>
                          <a:ea typeface="Calibri" pitchFamily="34" charset="-122"/>
                          <a:cs typeface="Calibri" pitchFamily="34" charset="-120"/>
                        </a:rPr>
                        <a:t>Supported, with caveat</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8404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AST equivalence classes</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coverage 50.7% vs 48.9%</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300" b="1" dirty="0">
                          <a:solidFill>
                            <a:srgbClr val="B45309"/>
                          </a:solidFill>
                          <a:latin typeface="Calibri" pitchFamily="34" charset="0"/>
                          <a:ea typeface="Calibri" pitchFamily="34" charset="-122"/>
                          <a:cs typeface="Calibri" pitchFamily="34" charset="-120"/>
                        </a:rPr>
                        <a:t>Weak</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8404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Follow-on stability evidence</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+0.2 pts (CI includes 0)</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Not supported</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5" name="claim card"/>
          <p:cNvSpPr/>
          <p:nvPr/>
        </p:nvSpPr>
        <p:spPr>
          <a:xfrm>
            <a:off x="457200" y="3520440"/>
            <a:ext cx="8229600" cy="777240"/>
          </a:xfrm>
          <a:prstGeom prst="roundRect">
            <a:avLst>
              <a:gd name="adj" fmla="val 11765"/>
            </a:avLst>
          </a:prstGeom>
          <a:solidFill>
            <a:srgbClr val="EEF2FF"/>
          </a:solidFill>
          <a:ln w="12700">
            <a:solidFill>
              <a:srgbClr val="EEF2FF"/>
            </a:solidFill>
            <a:prstDash val="solid"/>
          </a:ln>
        </p:spPr>
      </p:sp>
      <p:sp>
        <p:nvSpPr>
          <p:cNvPr id="6" name="Text 2"/>
          <p:cNvSpPr txBox="1"/>
          <p:nvPr/>
        </p:nvSpPr>
        <p:spPr>
          <a:xfrm>
            <a:off x="640080" y="3639312"/>
            <a:ext cx="7863840" cy="68580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Claim: </a:t>
            </a:r>
            <a:pPr indent="0" marL="0">
              <a:buNone/>
            </a:pPr>
            <a:r>
              <a:rPr lang="en-US" sz="1400" dirty="0">
                <a:solidFill>
                  <a:schemeClr val="tx1"/>
                </a:solidFill>
                <a:latin typeface="Calibri" pitchFamily="34" charset="0"/>
                <a:ea typeface="Calibri" pitchFamily="34" charset="-122"/>
                <a:cs typeface="Calibri" pitchFamily="34" charset="-120"/>
              </a:rPr>
              <a:t>an integrated, inspectable, honestly evaluated pipeline on top of LAC-guided local LR repair. Not a new algorithm; no single technique is claimed as new.</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005840"/>
            <a:ext cx="4754880" cy="91440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Thank you</a:t>
            </a:r>
            <a:endParaRPr lang="en-US" sz="4800" dirty="0"/>
          </a:p>
        </p:txBody>
      </p:sp>
      <p:sp>
        <p:nvSpPr>
          <p:cNvPr id="3" name="Text 1"/>
          <p:cNvSpPr txBox="1"/>
          <p:nvPr/>
        </p:nvSpPr>
        <p:spPr>
          <a:xfrm>
            <a:off x="548640" y="1920240"/>
            <a:ext cx="4572000" cy="731520"/>
          </a:xfrm>
          <a:prstGeom prst="rect">
            <a:avLst/>
          </a:prstGeom>
          <a:noFill/>
          <a:ln/>
        </p:spPr>
        <p:txBody>
          <a:bodyPr wrap="square" lIns="0" tIns="0" rIns="0" bIns="0" rtlCol="0" anchor="t"/>
          <a:lstStyle/>
          <a:p>
            <a:pPr indent="0" marL="0">
              <a:buNone/>
            </a:pPr>
            <a:r>
              <a:rPr lang="en-US" sz="1800" dirty="0">
                <a:solidFill>
                  <a:srgbClr val="5EEAD4"/>
                </a:solidFill>
                <a:latin typeface="Cambria" pitchFamily="34" charset="0"/>
                <a:ea typeface="Cambria" pitchFamily="34" charset="-122"/>
                <a:cs typeface="Cambria" pitchFamily="34" charset="-120"/>
              </a:rPr>
              <a:t>Questions, and please try your own code in the workbench</a:t>
            </a:r>
            <a:endParaRPr lang="en-US" sz="1800" dirty="0"/>
          </a:p>
        </p:txBody>
      </p:sp>
      <p:sp>
        <p:nvSpPr>
          <p:cNvPr id="4" name="Text 2"/>
          <p:cNvSpPr txBox="1"/>
          <p:nvPr/>
        </p:nvSpPr>
        <p:spPr>
          <a:xfrm>
            <a:off x="548640" y="2880360"/>
            <a:ext cx="4572000" cy="868680"/>
          </a:xfrm>
          <a:prstGeom prst="rect">
            <a:avLst/>
          </a:prstGeom>
          <a:noFill/>
          <a:ln/>
        </p:spPr>
        <p:txBody>
          <a:bodyPr wrap="square" lIns="0" tIns="0" rIns="0" bIns="0" rtlCol="0" anchor="t"/>
          <a:lstStyle/>
          <a:p>
            <a:pPr indent="0" marL="0">
              <a:spcAft>
                <a:spcPts val="400"/>
              </a:spcAft>
              <a:buNone/>
            </a:pPr>
            <a:r>
              <a:rPr lang="en-US" sz="1400" dirty="0">
                <a:solidFill>
                  <a:schemeClr val="bg1"/>
                </a:solidFill>
                <a:latin typeface="Calibri" pitchFamily="34" charset="0"/>
                <a:ea typeface="Calibri" pitchFamily="34" charset="-122"/>
                <a:cs typeface="Calibri" pitchFamily="34" charset="-120"/>
              </a:rPr>
              <a:t>Goutam Jayasingh  ·  24BCE2417</a:t>
            </a:r>
            <a:endParaRPr lang="en-US" sz="1400" dirty="0"/>
          </a:p>
          <a:p>
            <a:pPr indent="0" marL="0">
              <a:spcAft>
                <a:spcPts val="400"/>
              </a:spcAft>
              <a:buNone/>
            </a:pPr>
            <a:r>
              <a:rPr lang="en-US" sz="1400" dirty="0">
                <a:solidFill>
                  <a:schemeClr val="bg1"/>
                </a:solidFill>
                <a:latin typeface="Calibri" pitchFamily="34" charset="0"/>
                <a:ea typeface="Calibri" pitchFamily="34" charset="-122"/>
                <a:cs typeface="Calibri" pitchFamily="34" charset="-120"/>
              </a:rPr>
              <a:t>S Charumeena  ·  24BCI0238</a:t>
            </a:r>
            <a:endParaRPr lang="en-US" sz="1400" dirty="0"/>
          </a:p>
          <a:p>
            <a:pPr indent="0" marL="0">
              <a:spcAft>
                <a:spcPts val="400"/>
              </a:spcAft>
              <a:buNone/>
            </a:pPr>
            <a:r>
              <a:rPr lang="en-US" sz="1400" dirty="0">
                <a:solidFill>
                  <a:schemeClr val="bg1"/>
                </a:solidFill>
                <a:latin typeface="Calibri" pitchFamily="34" charset="0"/>
                <a:ea typeface="Calibri" pitchFamily="34" charset="-122"/>
                <a:cs typeface="Calibri" pitchFamily="34" charset="-120"/>
              </a:rPr>
              <a:t>Raguraman Govindasamy  ·  24BDS0409</a:t>
            </a:r>
            <a:endParaRPr lang="en-US" sz="1400" dirty="0"/>
          </a:p>
        </p:txBody>
      </p:sp>
      <p:sp>
        <p:nvSpPr>
          <p:cNvPr id="5" name="Text 3"/>
          <p:cNvSpPr txBox="1"/>
          <p:nvPr/>
        </p:nvSpPr>
        <p:spPr>
          <a:xfrm>
            <a:off x="548640" y="4160520"/>
            <a:ext cx="4754880" cy="2743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Docs: parallax/docs/IntelliFix_*.md  ·  results: evaluation/results/</a:t>
            </a:r>
            <a:endParaRPr lang="en-US" sz="1100" dirty="0"/>
          </a:p>
        </p:txBody>
      </p:sp>
      <p:sp>
        <p:nvSpPr>
          <p:cNvPr id="6" name="Multiple plausible repairs panel frame"/>
          <p:cNvSpPr/>
          <p:nvPr/>
        </p:nvSpPr>
        <p:spPr>
          <a:xfrm>
            <a:off x="5815584" y="786384"/>
            <a:ext cx="2907792" cy="3474720"/>
          </a:xfrm>
          <a:prstGeom prst="roundRect">
            <a:avLst>
              <a:gd name="adj" fmla="val 2516"/>
            </a:avLst>
          </a:prstGeom>
          <a:solidFill>
            <a:srgbClr val="F1F5F9"/>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7" name="Multiple plausible repairs panel" descr="Multiple plausible repairs panel">    </p:cNvPr>
          <p:cNvPicPr>
            <a:picLocks noChangeAspect="1"/>
          </p:cNvPicPr>
          <p:nvPr/>
        </p:nvPicPr>
        <p:blipFill>
          <a:blip r:embed="rId1"/>
          <a:stretch>
            <a:fillRect/>
          </a:stretch>
        </p:blipFill>
        <p:spPr>
          <a:xfrm>
            <a:off x="5852160" y="822960"/>
            <a:ext cx="2834640" cy="3401568"/>
          </a:xfrm>
          <a:prstGeom prst="rect">
            <a:avLst/>
          </a:prstGeom>
        </p:spPr>
      </p:pic>
    </p:spTree>
  </p:cSld>
  <p:clrMapOvr>
    <a:masterClrMapping/>
  </p:clrMapOvr>
</p:sld>
</file>

<file path=ppt/theme/theme1.xml><?xml version="1.0" encoding="utf-8"?>
<a:theme xmlns:a="http://schemas.openxmlformats.org/drawingml/2006/main" name="IntelliFix">
  <a:themeElements>
    <a:clrScheme name="IntelliFix">
      <a:dk1>
        <a:srgbClr val="1E293B"/>
      </a:dk1>
      <a:lt1>
        <a:srgbClr val="FFFFFF"/>
      </a:lt1>
      <a:dk2>
        <a:srgbClr val="334155"/>
      </a:dk2>
      <a:lt2>
        <a:srgbClr val="F1F5F9"/>
      </a:lt2>
      <a:accent1>
        <a:srgbClr val="0F766E"/>
      </a:accent1>
      <a:accent2>
        <a:srgbClr val="4F46E5"/>
      </a:accent2>
      <a:accent3>
        <a:srgbClr val="B45309"/>
      </a:accent3>
      <a:accent4>
        <a:srgbClr val="B91C1C"/>
      </a:accent4>
      <a:accent5>
        <a:srgbClr val="15803D"/>
      </a:accent5>
      <a:accent6>
        <a:srgbClr val="64748B"/>
      </a:accent6>
      <a:hlink>
        <a:srgbClr val="4F46E5"/>
      </a:hlink>
      <a:folHlink>
        <a:srgbClr val="6D28D9"/>
      </a:folHlink>
    </a:clrScheme>
    <a:fontScheme name="IntelliFix">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IntelliFix: An Intelligent Compiler for Syntax Error Analysis, Detection, and Correction</dc:title>
  <dc:subject>BCSE307P course project presentation</dc:subject>
  <dc:creator>Goutam Jayasingh, S Charumeena, Raguraman Govindasamy</dc:creator>
  <cp:lastModifiedBy>Goutam Jayasingh, S Charumeena, Raguraman Govindasamy</cp:lastModifiedBy>
  <cp:revision>1</cp:revision>
  <dcterms:created xsi:type="dcterms:W3CDTF">2026-10-25T12:43:20Z</dcterms:created>
  <dcterms:modified xsi:type="dcterms:W3CDTF">2026-10-25T12:43:20Z</dcterms:modified>
</cp:coreProperties>
</file>