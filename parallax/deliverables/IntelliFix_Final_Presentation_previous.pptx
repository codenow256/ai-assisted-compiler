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pproach" id="{92595d75-76ff-c679-8518-b6d3bc823a48}">
          <p14:sldIdLst>
            <p14:sldId id="256"/>
            <p14:sldId id="257"/>
            <p14:sldId id="258"/>
            <p14:sldId id="259"/>
          </p14:sldIdLst>
        </p14:section>
        <p14:section name="How it works" id="{3cd6b940-23ae-8186-7d9e-dc73a2866c00}">
          <p14:sldIdLst>
            <p14:sldId id="260"/>
            <p14:sldId id="261"/>
            <p14:sldId id="262"/>
            <p14:sldId id="263"/>
            <p14:sldId id="264"/>
            <p14:sldId id="265"/>
          </p14:sldIdLst>
        </p14:section>
        <p14:section name="Evidence and honesty" id="{f13375d7-8332-1239-6aab-5eadd80981ab}">
          <p14:sldIdLst>
            <p14:sldId id="266"/>
            <p14:sldId id="267"/>
            <p14:sldId id="268"/>
          </p14:sldIdLst>
        </p14:section>
        <p14:section name="Live demo" id="{464deff0-1172-f9a4-f111-6a8a9f5cc814}">
          <p14:sldIdLst>
            <p14:sldId id="269"/>
          </p14:sldIdLst>
        </p14:section>
        <p14:section name="Conclusion" id="{2e96d394-b58a-b3c2-9858-a958bc5f528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What the parser said about the 60 candidates</a:t>
            </a:r>
          </a:p>
        </c:rich>
      </c:tx>
      <c:layout/>
      <c:overlay val="0"/>
    </c:title>
    <c:autoTitleDeleted val="0"/>
    <c:plotArea>
      <c:layout/>
      <c:barChart>
        <c:barDir val="bar"/>
        <c:grouping val="clustered"/>
        <c:varyColors val="0"/>
        <c:ser>
          <c:idx val="0"/>
          <c:order val="0"/>
          <c:tx>
            <c:strRef>
              <c:f>Sheet1!$B$1</c:f>
              <c:strCache>
                <c:ptCount val="1"/>
                <c:pt idx="0">
                  <c:v>candidates</c:v>
                </c:pt>
              </c:strCache>
            </c:strRef>
          </c:tx>
          <c:spPr>
            <a:solidFill>
              <a:srgbClr val="15803D"/>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valid</c:v>
                  </c:pt>
                  <c:pt idx="1">
                    <c:v>same-location</c:v>
                  </c:pt>
                  <c:pt idx="2">
                    <c:v>defers-error</c:v>
                  </c:pt>
                  <c:pt idx="3">
                    <c:v>earlier-error</c:v>
                  </c:pt>
                </c:lvl>
              </c:multiLvlStrCache>
            </c:multiLvlStrRef>
          </c:cat>
          <c:val>
            <c:numRef>
              <c:f>Sheet1!$B$2:$B$5</c:f>
              <c:numCache>
                <c:formatCode>General</c:formatCode>
                <c:ptCount val="4"/>
                <c:pt idx="0">
                  <c:v>3</c:v>
                </c:pt>
                <c:pt idx="1">
                  <c:v>29</c:v>
                </c:pt>
                <c:pt idx="2">
                  <c:v>14</c:v>
                </c:pt>
                <c:pt idx="3">
                  <c:v>14</c:v>
                </c:pt>
              </c:numCache>
            </c:numRef>
          </c:val>
        </c:ser>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Top-1 repair restores the original AST (540 test cases)</a:t>
            </a:r>
          </a:p>
        </c:rich>
      </c:tx>
      <c:layout/>
      <c:overlay val="0"/>
    </c:title>
    <c:autoTitleDeleted val="0"/>
    <c:plotArea>
      <c:layout/>
      <c:barChart>
        <c:barDir val="col"/>
        <c:grouping val="clustered"/>
        <c:varyColors val="0"/>
        <c:ser>
          <c:idx val="0"/>
          <c:order val="0"/>
          <c:tx>
            <c:strRef>
              <c:f>Sheet1!$B$1</c:f>
              <c:strCache>
                <c:ptCount val="1"/>
                <c:pt idx="0">
                  <c:v>top-1</c:v>
                </c:pt>
              </c:strCache>
            </c:strRef>
          </c:tx>
          <c:spPr>
            <a:solidFill>
              <a:srgbClr val="4F46E5"/>
            </a:solidFill>
            <a:effectLst/>
          </c:spPr>
          <c:invertIfNegative val="0"/>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4F46E5"/>
              </a:solidFill>
              <a:effectLst/>
            </c:spPr>
          </c:dPt>
          <c:dPt>
            <c:idx val="1"/>
            <c:invertIfNegative val="0"/>
            <c:bubble3D val="0"/>
            <c:spPr>
              <a:solidFill>
                <a:srgbClr val="94A3B8"/>
              </a:solidFill>
              <a:effectLst/>
            </c:spPr>
          </c:dPt>
          <c:dPt>
            <c:idx val="2"/>
            <c:invertIfNegative val="0"/>
            <c:bubble3D val="0"/>
            <c:spPr>
              <a:solidFill>
                <a:srgbClr val="94A3B8"/>
              </a:solidFill>
              <a:effectLst/>
            </c:spPr>
          </c:dPt>
          <c:cat>
            <c:multiLvlStrRef>
              <c:f>Sheet1!$A$2:$A$4</c:f>
              <c:multiLvlStrCache>
                <c:ptCount val="3"/>
                <c:lvl>
                  <c:pt idx="0">
                    <c:v>IntelliFix</c:v>
                  </c:pt>
                  <c:pt idx="1">
                    <c:v>least-cost</c:v>
                  </c:pt>
                  <c:pt idx="2">
                    <c:v>CPCT+ (run 1)</c:v>
                  </c:pt>
                </c:lvl>
              </c:multiLvlStrCache>
            </c:multiLvlStrRef>
          </c:cat>
          <c:val>
            <c:numRef>
              <c:f>Sheet1!$B$2:$B$4</c:f>
              <c:numCache>
                <c:formatCode>General</c:formatCode>
                <c:ptCount val="3"/>
                <c:pt idx="0">
                  <c:v>71.5</c:v>
                </c:pt>
                <c:pt idx="1">
                  <c:v>55.2</c:v>
                </c:pt>
                <c:pt idx="2">
                  <c:v>48</c:v>
                </c:pt>
              </c:numCache>
            </c:numRef>
          </c:val>
        </c:ser>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0.5 min · demo: Browser open on the Workspace, compiler badge green.]
Good morning. We are presenting IntelliFix: an intelligent compiler for syntax error analysis, detection and correction, for a small C-like teaching language called MiniC. I am Goutam Jayasingh, and with me are S Charumeena and Raguraman Govindasamy. We will show the problem, how the system works, a live demo on the real compiler, and how we measured it — including what did not work.
Technical detail: Native C++17 compiler (Flex + Bison), FastAPI backend, React interface (Workspace, AST Explorer, Research &amp; Method); everything shown comes from the real compiler.
Transition: Let us start with the problem every programmer has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Workspace → sample Missing semicolon → Analyze → step 2 Diagnosis (lexer → parser panel).]
In this program the semicolon is missing at the end of line 3, but the parser complains about line 4. An LR parser only notices a problem at the first token that cannot continue any valid program, so the detection point and the real mistake are different places. Second problem: many edits make the program parse. Replacing int on line 4 with a comma also gives valid code. A tool that silently picks one can be confidently wrong, and a beginner cannot tell.
Technical detail: Correct-prefix property of LR parsing; the error is detected at 4:3 (token int, LR state 47); the edit that restores the original is at 3:16.
Transition: So what exactly did we set out to build?
Likely questions:
- Why does the parser report line 4? Until it reads int, the input could still be a longer expression; only then does no valid continuation exist (correct-prefix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
Our objectives: a real MiniC front end with exact error positions; repair candidates that the real parser checks; ranking by evidence instead of edit cost alone; honest decisions that say when the tool is not sure; explanations a beginner can follow; and an evaluation with baselines and confidence intervals. MiniC has functions, arrays, if, while, for and the usual operators. It deliberately leaves out pointers, structs, strings and operators like plus-plus; IntelliFix recognises those C features and says so instead of inventing a repair. We do not do type checking or run programs.
Technical detail: 97 grammar rules, 168 LR states, %expect 0; C constructs are lexed as UNSUPPORTED tokens with advice.
Transition: Here is how the pieces fit together.
Likely questions:
- Why not full C? Typedef names make C's grammar context-sensitive and the preprocessor dominates; a subset keeps the repair research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Research &amp; Method → section 2 (how IntelliFix works).]
The browser sends your code to a FastAPI backend, which runs the native compiler, parallaxc, as a separate process for every request and passes its JSON back. The compiler runs eight stages: lex, parse, localise the first error, generate and validate candidates, rank and group them, follow later errors in hypothesis lanes, and decide. The interface only displays this output. If the compiler is not built, the site says so instead of showing anything fake.
Technical detail: Subprocess per request in a worker thread with size (64 KB), time and concurrency limits; HTTP 503 COMPILER_UNAVAILABLE when the binary is missing.
Transition: Charumeena will take you inside the compiler.
Likely questions:
- Why a subprocess instead of a library? Isolation and timeouts: a crash cannot take down the server, and one binary serves the CLI, the evaluation and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Workspace step 2 → Compiler internals → Parser state (state 47); All candidates → Rejected tab.]
The Flex lexer turns text into tokens with exact positions and reports bad characters as error tokens instead of crashing. The Bison parser uses LAC, lookahead correction, which makes the list of expected tokens at an error exact — here 15 tokens. The repair engine tries insert, delete and replace edits near the error using only those tokens, plus layout edits such as a semicolon at a line end. For this example it generated 60 candidates; the real parser accepted 3. Every accepted fix is written back as text with your own spacing, re-lexed and re-parsed.
Technical detail: Window of the error token and 3 before; acceptance = full parse or ≥ 3 tokens of progress; two-edit search only if no single edit works; round-trip validation.
Transition: When several fixes parse, how does IntelliFix decide — and what if it cannot?
Likely questions:
- What does LAC change? Without it, default reductions and LALR state merging can make the expected-token list wrong; candidates are generated from that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Workspace: sample Missing expression after + → Analyze → step 3 Fixes → answer the question.]
For int total = price plus semicolon, an expression is missing after the plus. The engine finds several fixes with similar evidence, so instead of guessing it asks: delete the plus, replace it, or type the missing expression yourself. It suggests price, a name declared earlier, but not total, which is still being declared. Your answer is checked by the real parser before you can apply it; applying re-analyzes the program, and Undo brings the original back. IntelliFix never invents a missing value.
Technical detail: Options are the decision's real top plans; placeholder edits become a fill-in box; suggestions come from lexer tokens (declared before the error, excluding the declaration in progress); validation via /api/parse.
Transition: The same evidence also lets you compare repairs side by side.
Likely questions:
- Where do the options come from? From the repair engine's top three structurally different plans; a fill-in is the user's own text. Nothing is generated by the interface.
- What if the user picks something wrong? The parser check shows whether it parses; name warnings may flag an undeclared name; Undo restores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Workspace step 3 Fixes → option cards → Why this score; Compiler internals → All candidates for the full evidence.]
Each accepted candidate gets a score from 13 named pieces of evidence. Inserting the semicolon costs minus one, makes the whole program parse, plus two, and lands exactly at a line break, plus 0.75: total 1.75. Replacing int with a comma costs more and overwrites a keyword you wrote: minus 0.25. The best leads by 2.0, above our threshold of 1.5, so it is recommended. The score only ranks; it is not a probability, and parsing does not prove the meaning is right.
Technical detail: Weights set on the development split and frozen before testing; candidates with the same canonical AST form one class; margin = best class − second class; τ = 1.5 chosen on dev.
Transition: Next, the structure itself: the AST.
Likely questions:
- How were the weights chosen? By hand on the 360-case development split only, then frozen; the test split was used once.
- Is the margin a confidence? No — a score difference used for abstention; no calibration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AST Explorer → click the Binary + node, then click a ; in the code; search for square.]
Our professor asked for an AST that beginners can understand, so every node explains itself. Click a node and you see what it represents, a plain-English sentence — here “the operator times multiplies its left and right values” — its role in its parent, what each child means, the exact source code it came from, highlighted in the editor, and what changed after a repair. You can search the tree and expand or collapse it. Everything comes from the compiler's real AST.
Technical detail: AST from Bison actions (arena, canonical form, FNV-1a hash); explanations for all 26 node kinds; source spans in UTF-8 byte offsets mapped to the editor.
Transition: What happens to the tree when the code is broken, or after a repair?
Likely questions:
- Is this a parse tree? No: the AST drops tokens with no meaning, such as parentheses and semicolons; the parser view shows the parse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 min · demo: Ambiguous operator sample → Analyze → AST Explorer → Before &amp; after.]
Code with a syntax error has no complete AST, and we do not fake one: the explorer shows the partial tree the parser built while recovering, with Error nodes where it skipped text, and clearly labelled. It can also show the real AST of the top-ranked repair. To compare structures, both programs are parsed again; here, plan 1 inserts plus and plan 2 inserts minus, and the comparison marks exactly one changed node: the Binary operator.
Technical detail: Structural diff aligns children by LCS over canonical subtrees; marks only where kind and span match; no diff is claimed when either side is invalid.
Transition: All of this is wrapped in explanations for beginners.
Likely questions:
- Why not show the AST of invalid code? There is none; the recovered tree is labelled partial because recovery may not match the programmer's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Workspace: int x = 1 (no ;) → Analyze → Show a hint ×3 → I'll try it → type ; → Check my fix.]
Every analysis starts with a plain-language answer. For a valid program it summarises what the program contains and says that valid syntax does not mean correct behaviour. For errors it says where the parser stopped, what MiniC expects there in words, and why the cause may be on an earlier line. When there are several errors it explains which report to trust first. Students can ask for hints step by step — where, then what is expected, then the possible fixes — and try their own fix; the real compiler checks it.
Technical detail: Explanations are pure functions over the compiler response; tested on all 88 professor-style inputs (102 unit tests); every result state has its own wording, including empty input, unsupported C and the nesting limit.
Transition: Raguraman will now show how we measured the system.
Likely questions:
- Are the explanations generated by AI? No; they are written rules over the real diagnostics, expected-token sets and repair plans, so they are deterministic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1.5 min · demo: Research &amp; Method → sections 3–4.]
We wrote 30 valid MiniC programs and generated 900 seeded mutations with one or two errors. We split by program: 360 cases for development and 540 held out for testing, so near-duplicates cannot leak. On the test set the top-ranked repair restored the original program's syntax tree in 71.5 percent of cases, against 55.2 percent for a least-cost repair over the same candidates, and about 48 percent for CPCT+. The first edit was at the exact mistake in 86.7 percent of cases. These are synthetic errors, not real student code.
Technical detail: Top-1 71.5% [67.5, 75.1]; paired difference vs least-cost +16.3 points [13.1, 19.4]; CPCT+ 47.4–49.1% over three runs (non-deterministic ties); Wilson intervals, paired bootstrap.
Transition: Just as important: what helped, and what did not.
Likely questions:
- Are you better than CPCT+? Only at one thing we measured — whether the first repair restores the original program. CPCT+ was designed for recovery, which we did not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demo: Research &amp; Method → section 5 (ablation) and 6 (limitations).]
Removing layout evidence drops accuracy from 71.5 to 62.6 percent, so layout matters. Abstention cuts wrong answers presented as confident from 28.5 to 6.1 percent of all cases, while still recommending in 50.7 percent; of those recommendations 88 percent were correct. But the stability evidence gave no measurable gain, grouping helped only a little, and our risk target was missed: 12 percent instead of 10. For the new question feature we only have a simulation: when IntelliFix abstains, the correct repair is among the offered options in 153 of 256 cases. Real usability is not yet measured.
Technical detail: Stability +0.2 points, CI [−0.4, 0.9]; grouping coverage 50.7% vs 48.9%; clarification bound from stored top-3 results (evaluation/experiments/clarification_bound.py), labelled as simulation.
Transition: How do we know it behaves on unexpected input?
Likely questions:
- Why report negative results? They show which parts actually work, and they keep the claims honest.
- Did the new interface change the numbers? No: the compiler and repair engine were not changed for the interface features, so the stored evaluation still describes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demo: —]
We have C++ unit tests, API tests, evaluation tests, frontend tests and real-browser end-to-end tests, all passing. A professor-style suite of 88 unfamiliar inputs and 800 random inputs checks that nothing crashes and every claim of validity is a real parse; it found and we fixed two real defects. Limits: synthetic errors, one author's programs, a C subset, syntax only, and two known confident but unintended repairs. Linux is fully tested; the Windows build passed its tests under Wine, but has not been run on a real Windows machine yet.
Technical detail: Test counts from the final run are on the slide; Windows: MinGW cross-build + Wine 68/68; MSVC and PowerShell scripts not executed.
Transition: Now let us show it live.
Likely questions:
- What breaks it? Errors needing three or more edits at one place, very distant causes, and valid-but-wrong fixes like whlie (…) { receiving a semicolon.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three (driver, narrator, checker) · about 6 min · demo: Follow the demo steps on the slide; invite the examiners to type their own code.]
We will run the real compiler now. First a missing semicolon, with the explanation and the recommended fix; then an ambiguous expression where IntelliFix asks us what we meant; then the AST explorer and a before-and-after comparison; and finally anything you would like to type. If the compiler badge ever says Compiler missing, that means the native compiler is not built on this laptop — we never show screenshots in place of live output.
Technical detail: Checker compares the screen with the expected outcome in the demo script and says so if they differ.
Transition: To finish, our contribution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 min · demo: Workspace cleared, ready for questions.]
Our contribution is not a new algorithm. It is an integrated, inspectable pipeline that adds layout evidence, interpretable ranking, structural grouping, abstention and interactive clarification to known LR repair techniques, with explanations and an AST explorer for beginners, and an honest evaluation. Next we want to test it with real student errors, run a user study of the question feature, learn the weights from real data, and verify the Windows build natively. Thank you — we are happy to take questions.
Technical detail: Supported: ranking +16.3, layout +8.9, abstention −22.4 points wrong-confident. Not supported: stability. Not measured: usability.
Transition: Questions.
Likely questions:
- What is new here? The combination and its measurement, plus the explanation layer; each ingredient is established and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9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ctr" indent="0" marL="0">
              <a:buNone/>
              <a:defRPr lang="en-US" sz="28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latin typeface="Calibri" pitchFamily="34" charset="0"/>
                <a:ea typeface="Calibri" pitchFamily="34" charset="-122"/>
                <a:cs typeface="Calibri" pitchFamily="34" charset="-120"/>
              </a:rPr>
              <a:t>IntelliFix · BCSE307P course project</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IntelliFix</a:t>
            </a:r>
            <a:endParaRPr lang="en-US" sz="4800" dirty="0"/>
          </a:p>
        </p:txBody>
      </p:sp>
      <p:sp>
        <p:nvSpPr>
          <p:cNvPr id="3" name="Text 1"/>
          <p:cNvSpPr txBox="1"/>
          <p:nvPr/>
        </p:nvSpPr>
        <p:spPr>
          <a:xfrm>
            <a:off x="548640" y="1874520"/>
            <a:ext cx="4480560" cy="685800"/>
          </a:xfrm>
          <a:prstGeom prst="rect">
            <a:avLst/>
          </a:prstGeom>
          <a:noFill/>
          <a:ln/>
        </p:spPr>
        <p:txBody>
          <a:bodyPr wrap="square" lIns="0" tIns="0" rIns="0" bIns="0" rtlCol="0" anchor="t"/>
          <a:lstStyle/>
          <a:p>
            <a:pPr indent="0" marL="0">
              <a:buNone/>
            </a:pPr>
            <a:r>
              <a:rPr lang="en-US" sz="1800" dirty="0">
                <a:solidFill>
                  <a:srgbClr val="5EEAD4"/>
                </a:solidFill>
                <a:latin typeface="Cambria" pitchFamily="34" charset="0"/>
                <a:ea typeface="Cambria" pitchFamily="34" charset="-122"/>
                <a:cs typeface="Cambria" pitchFamily="34" charset="-120"/>
              </a:rPr>
              <a:t>An Intelligent Compiler for Syntax Error Analysis, Detection, and Correction</a:t>
            </a:r>
            <a:endParaRPr lang="en-US" sz="1800" dirty="0"/>
          </a:p>
        </p:txBody>
      </p:sp>
      <p:sp>
        <p:nvSpPr>
          <p:cNvPr id="4" name="Text 2"/>
          <p:cNvSpPr txBox="1"/>
          <p:nvPr/>
        </p:nvSpPr>
        <p:spPr>
          <a:xfrm>
            <a:off x="548640" y="2788920"/>
            <a:ext cx="4480560" cy="86868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Goutam Jayasingh  ·  24BCE2417</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S Charumeena  ·  24BCI0238</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Raguraman Govindasamy  ·  24BDS0409</a:t>
            </a:r>
            <a:endParaRPr lang="en-US" sz="1400" dirty="0"/>
          </a:p>
        </p:txBody>
      </p:sp>
      <p:sp>
        <p:nvSpPr>
          <p:cNvPr id="5" name="Text 3"/>
          <p:cNvSpPr txBox="1"/>
          <p:nvPr/>
        </p:nvSpPr>
        <p:spPr>
          <a:xfrm>
            <a:off x="548640" y="4160520"/>
            <a:ext cx="448056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BCSE307P course project  ·  Guide: [guide name, to be added]</a:t>
            </a:r>
            <a:endParaRPr lang="en-US" sz="1100" dirty="0"/>
          </a:p>
        </p:txBody>
      </p:sp>
      <p:sp>
        <p:nvSpPr>
          <p:cNvPr id="6" name="Workspace screenshot (actual output) frame"/>
          <p:cNvSpPr/>
          <p:nvPr/>
        </p:nvSpPr>
        <p:spPr>
          <a:xfrm>
            <a:off x="5358384" y="923544"/>
            <a:ext cx="3364992" cy="4100170"/>
          </a:xfrm>
          <a:prstGeom prst="roundRect">
            <a:avLst>
              <a:gd name="adj" fmla="val 2174"/>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Workspace screenshot (actual output)" descr="Workspace screenshot (actual output)">    </p:cNvPr>
          <p:cNvPicPr>
            <a:picLocks noChangeAspect="1"/>
          </p:cNvPicPr>
          <p:nvPr/>
        </p:nvPicPr>
        <p:blipFill>
          <a:blip r:embed="rId1"/>
          <a:stretch>
            <a:fillRect/>
          </a:stretch>
        </p:blipFill>
        <p:spPr>
          <a:xfrm>
            <a:off x="5394960" y="960120"/>
            <a:ext cx="3291840" cy="40270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Detected on line 4, made on line 3</a:t>
            </a:r>
            <a:endParaRPr lang="en-US" sz="2800" dirty="0"/>
          </a:p>
        </p:txBody>
      </p:sp>
      <p:sp>
        <p:nvSpPr>
          <p:cNvPr id="4" name="code card"/>
          <p:cNvSpPr/>
          <p:nvPr/>
        </p:nvSpPr>
        <p:spPr>
          <a:xfrm>
            <a:off x="457200" y="1097280"/>
            <a:ext cx="4480560" cy="3429000"/>
          </a:xfrm>
          <a:prstGeom prst="roundRect">
            <a:avLst>
              <a:gd name="adj" fmla="val 2667"/>
            </a:avLst>
          </a:prstGeom>
          <a:solidFill>
            <a:srgbClr val="F8FAFC"/>
          </a:solidFill>
          <a:ln w="12700">
            <a:solidFill>
              <a:srgbClr val="F8FAFC"/>
            </a:solidFill>
            <a:prstDash val="solid"/>
          </a:ln>
        </p:spPr>
      </p:sp>
      <p:sp>
        <p:nvSpPr>
          <p:cNvPr id="5" name="Text 2"/>
          <p:cNvSpPr txBox="1"/>
          <p:nvPr/>
        </p:nvSpPr>
        <p:spPr>
          <a:xfrm>
            <a:off x="685800" y="1280160"/>
            <a:ext cx="4114800" cy="3108960"/>
          </a:xfrm>
          <a:prstGeom prst="rect">
            <a:avLst/>
          </a:prstGeom>
          <a:noFill/>
          <a:ln/>
        </p:spPr>
        <p:txBody>
          <a:bodyPr wrap="square" lIns="0" tIns="0" rIns="0" bIns="0" rtlCol="0" anchor="t"/>
          <a:lstStyle/>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2  int main() {</a:t>
            </a:r>
            <a:endParaRPr lang="en-US" sz="1500" dirty="0"/>
          </a:p>
          <a:p>
            <a:pPr indent="0" marL="0">
              <a:lnSpc>
                <a:spcPct val="110000"/>
              </a:lnSpc>
              <a:buNone/>
            </a:pPr>
            <a:r>
              <a:rPr lang="en-US" sz="1500" b="1" dirty="0">
                <a:solidFill>
                  <a:srgbClr val="0F766E"/>
                </a:solidFill>
                <a:latin typeface="Courier New" pitchFamily="34" charset="0"/>
                <a:ea typeface="Courier New" pitchFamily="34" charset="-122"/>
                <a:cs typeface="Courier New" pitchFamily="34" charset="-120"/>
              </a:rPr>
              <a:t> 3    int total = 0</a:t>
            </a:r>
            <a:endParaRPr lang="en-US" sz="1500" dirty="0"/>
          </a:p>
          <a:p>
            <a:pPr indent="0" marL="0">
              <a:lnSpc>
                <a:spcPct val="110000"/>
              </a:lnSpc>
              <a:buNone/>
            </a:pPr>
            <a:r>
              <a:rPr lang="en-US" sz="1500" b="1" dirty="0">
                <a:solidFill>
                  <a:srgbClr val="B91C1C"/>
                </a:solidFill>
                <a:latin typeface="Courier New" pitchFamily="34" charset="0"/>
                <a:ea typeface="Courier New" pitchFamily="34" charset="-122"/>
                <a:cs typeface="Courier New" pitchFamily="34" charset="-120"/>
              </a:rPr>
              <a:t> 4    int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5    while (i &lt;= 10)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6      total = total + i;</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7      i =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8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9    return total;</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10  }</a:t>
            </a:r>
            <a:endParaRPr lang="en-US" sz="1500" dirty="0"/>
          </a:p>
        </p:txBody>
      </p:sp>
      <p:sp>
        <p:nvSpPr>
          <p:cNvPr id="6" name="problem card 1"/>
          <p:cNvSpPr/>
          <p:nvPr/>
        </p:nvSpPr>
        <p:spPr>
          <a:xfrm>
            <a:off x="5166360" y="1097280"/>
            <a:ext cx="3520440" cy="1024128"/>
          </a:xfrm>
          <a:prstGeom prst="roundRect">
            <a:avLst>
              <a:gd name="adj" fmla="val 8929"/>
            </a:avLst>
          </a:prstGeom>
          <a:solidFill>
            <a:srgbClr val="F1F5F9"/>
          </a:solidFill>
          <a:ln w="12700">
            <a:solidFill>
              <a:srgbClr val="F1F5F9"/>
            </a:solidFill>
            <a:prstDash val="solid"/>
          </a:ln>
        </p:spPr>
      </p:sp>
      <p:sp>
        <p:nvSpPr>
          <p:cNvPr id="7" name="problem 1 circle"/>
          <p:cNvSpPr/>
          <p:nvPr/>
        </p:nvSpPr>
        <p:spPr>
          <a:xfrm>
            <a:off x="5321808" y="1353312"/>
            <a:ext cx="502920" cy="502920"/>
          </a:xfrm>
          <a:prstGeom prst="ellipse">
            <a:avLst/>
          </a:prstGeom>
          <a:solidFill>
            <a:srgbClr val="0F766E"/>
          </a:solidFill>
          <a:ln w="12700">
            <a:solidFill>
              <a:srgbClr val="0F766E"/>
            </a:solidFill>
            <a:prstDash val="solid"/>
          </a:ln>
        </p:spPr>
      </p:sp>
      <p:pic>
        <p:nvPicPr>
          <p:cNvPr id="8" name="problem 1 icon" descr="preencoded.png">    </p:cNvPr>
          <p:cNvPicPr>
            <a:picLocks noChangeAspect="1"/>
          </p:cNvPicPr>
          <p:nvPr/>
        </p:nvPicPr>
        <p:blipFill>
          <a:blip r:embed="rId1"/>
          <a:stretch>
            <a:fillRect/>
          </a:stretch>
        </p:blipFill>
        <p:spPr>
          <a:xfrm>
            <a:off x="5432450" y="1463954"/>
            <a:ext cx="281635" cy="281635"/>
          </a:xfrm>
          <a:prstGeom prst="rect">
            <a:avLst/>
          </a:prstGeom>
        </p:spPr>
      </p:pic>
      <p:sp>
        <p:nvSpPr>
          <p:cNvPr id="9" name="Text 5"/>
          <p:cNvSpPr txBox="1"/>
          <p:nvPr/>
        </p:nvSpPr>
        <p:spPr>
          <a:xfrm>
            <a:off x="5989320" y="1225296"/>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Mistake: end of line 3</a:t>
            </a:r>
            <a:endParaRPr lang="en-US" sz="1500" dirty="0"/>
          </a:p>
        </p:txBody>
      </p:sp>
      <p:sp>
        <p:nvSpPr>
          <p:cNvPr id="10" name="Text 6"/>
          <p:cNvSpPr txBox="1"/>
          <p:nvPr/>
        </p:nvSpPr>
        <p:spPr>
          <a:xfrm>
            <a:off x="5989320" y="1554480"/>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the ';' after  int total = 0  is missing</a:t>
            </a:r>
            <a:endParaRPr lang="en-US" sz="1200" dirty="0"/>
          </a:p>
        </p:txBody>
      </p:sp>
      <p:sp>
        <p:nvSpPr>
          <p:cNvPr id="11" name="problem card 2"/>
          <p:cNvSpPr/>
          <p:nvPr/>
        </p:nvSpPr>
        <p:spPr>
          <a:xfrm>
            <a:off x="5166360" y="2267712"/>
            <a:ext cx="3520440" cy="1024128"/>
          </a:xfrm>
          <a:prstGeom prst="roundRect">
            <a:avLst>
              <a:gd name="adj" fmla="val 8929"/>
            </a:avLst>
          </a:prstGeom>
          <a:solidFill>
            <a:srgbClr val="F1F5F9"/>
          </a:solidFill>
          <a:ln w="12700">
            <a:solidFill>
              <a:srgbClr val="F1F5F9"/>
            </a:solidFill>
            <a:prstDash val="solid"/>
          </a:ln>
        </p:spPr>
      </p:sp>
      <p:sp>
        <p:nvSpPr>
          <p:cNvPr id="12" name="problem 2 circle"/>
          <p:cNvSpPr/>
          <p:nvPr/>
        </p:nvSpPr>
        <p:spPr>
          <a:xfrm>
            <a:off x="5321808" y="2523744"/>
            <a:ext cx="502920" cy="502920"/>
          </a:xfrm>
          <a:prstGeom prst="ellipse">
            <a:avLst/>
          </a:prstGeom>
          <a:solidFill>
            <a:srgbClr val="B91C1C"/>
          </a:solidFill>
          <a:ln w="12700">
            <a:solidFill>
              <a:srgbClr val="B91C1C"/>
            </a:solidFill>
            <a:prstDash val="solid"/>
          </a:ln>
        </p:spPr>
      </p:sp>
      <p:pic>
        <p:nvPicPr>
          <p:cNvPr id="13" name="problem 2 icon" descr="preencoded.png">    </p:cNvPr>
          <p:cNvPicPr>
            <a:picLocks noChangeAspect="1"/>
          </p:cNvPicPr>
          <p:nvPr/>
        </p:nvPicPr>
        <p:blipFill>
          <a:blip r:embed="rId2"/>
          <a:stretch>
            <a:fillRect/>
          </a:stretch>
        </p:blipFill>
        <p:spPr>
          <a:xfrm>
            <a:off x="5432450" y="2634386"/>
            <a:ext cx="281635" cy="281635"/>
          </a:xfrm>
          <a:prstGeom prst="rect">
            <a:avLst/>
          </a:prstGeom>
        </p:spPr>
      </p:pic>
      <p:sp>
        <p:nvSpPr>
          <p:cNvPr id="14" name="Text 9"/>
          <p:cNvSpPr txBox="1"/>
          <p:nvPr/>
        </p:nvSpPr>
        <p:spPr>
          <a:xfrm>
            <a:off x="5989320" y="2395728"/>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Detected: 4:3</a:t>
            </a:r>
            <a:endParaRPr lang="en-US" sz="1500" dirty="0"/>
          </a:p>
        </p:txBody>
      </p:sp>
      <p:sp>
        <p:nvSpPr>
          <p:cNvPr id="15" name="Text 10"/>
          <p:cNvSpPr txBox="1"/>
          <p:nvPr/>
        </p:nvSpPr>
        <p:spPr>
          <a:xfrm>
            <a:off x="5989320" y="2724912"/>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unexpected type-keyword 'int' — the parser can only notice here</a:t>
            </a:r>
            <a:endParaRPr lang="en-US" sz="1200" dirty="0"/>
          </a:p>
        </p:txBody>
      </p:sp>
      <p:sp>
        <p:nvSpPr>
          <p:cNvPr id="16" name="problem card 3"/>
          <p:cNvSpPr/>
          <p:nvPr/>
        </p:nvSpPr>
        <p:spPr>
          <a:xfrm>
            <a:off x="5166360" y="3438144"/>
            <a:ext cx="3520440" cy="1024128"/>
          </a:xfrm>
          <a:prstGeom prst="roundRect">
            <a:avLst>
              <a:gd name="adj" fmla="val 8929"/>
            </a:avLst>
          </a:prstGeom>
          <a:solidFill>
            <a:srgbClr val="F1F5F9"/>
          </a:solidFill>
          <a:ln w="12700">
            <a:solidFill>
              <a:srgbClr val="F1F5F9"/>
            </a:solidFill>
            <a:prstDash val="solid"/>
          </a:ln>
        </p:spPr>
      </p:sp>
      <p:sp>
        <p:nvSpPr>
          <p:cNvPr id="17" name="problem 3 circle"/>
          <p:cNvSpPr/>
          <p:nvPr/>
        </p:nvSpPr>
        <p:spPr>
          <a:xfrm>
            <a:off x="5321808" y="3694176"/>
            <a:ext cx="502920" cy="502920"/>
          </a:xfrm>
          <a:prstGeom prst="ellipse">
            <a:avLst/>
          </a:prstGeom>
          <a:solidFill>
            <a:srgbClr val="B45309"/>
          </a:solidFill>
          <a:ln w="12700">
            <a:solidFill>
              <a:srgbClr val="B45309"/>
            </a:solidFill>
            <a:prstDash val="solid"/>
          </a:ln>
        </p:spPr>
      </p:sp>
      <p:pic>
        <p:nvPicPr>
          <p:cNvPr id="18" name="problem 3 icon" descr="preencoded.png">    </p:cNvPr>
          <p:cNvPicPr>
            <a:picLocks noChangeAspect="1"/>
          </p:cNvPicPr>
          <p:nvPr/>
        </p:nvPicPr>
        <p:blipFill>
          <a:blip r:embed="rId3"/>
          <a:stretch>
            <a:fillRect/>
          </a:stretch>
        </p:blipFill>
        <p:spPr>
          <a:xfrm>
            <a:off x="5432450" y="3804818"/>
            <a:ext cx="281635" cy="281635"/>
          </a:xfrm>
          <a:prstGeom prst="rect">
            <a:avLst/>
          </a:prstGeom>
        </p:spPr>
      </p:pic>
      <p:sp>
        <p:nvSpPr>
          <p:cNvPr id="19" name="Text 13"/>
          <p:cNvSpPr txBox="1"/>
          <p:nvPr/>
        </p:nvSpPr>
        <p:spPr>
          <a:xfrm>
            <a:off x="5989320" y="3566160"/>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Also valid: a different fix</a:t>
            </a:r>
            <a:endParaRPr lang="en-US" sz="1500" dirty="0"/>
          </a:p>
        </p:txBody>
      </p:sp>
      <p:sp>
        <p:nvSpPr>
          <p:cNvPr id="20" name="Text 14"/>
          <p:cNvSpPr txBox="1"/>
          <p:nvPr/>
        </p:nvSpPr>
        <p:spPr>
          <a:xfrm>
            <a:off x="5989320" y="3895344"/>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int total = 0, i = 1;  parses too. Which one did you mean?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Objectives and scope</a:t>
            </a:r>
            <a:endParaRPr lang="en-US" sz="2800" dirty="0"/>
          </a:p>
        </p:txBody>
      </p:sp>
      <p:sp>
        <p:nvSpPr>
          <p:cNvPr id="4" name="objective 0"/>
          <p:cNvSpPr/>
          <p:nvPr/>
        </p:nvSpPr>
        <p:spPr>
          <a:xfrm>
            <a:off x="457200" y="1097280"/>
            <a:ext cx="2560320" cy="987552"/>
          </a:xfrm>
          <a:prstGeom prst="roundRect">
            <a:avLst>
              <a:gd name="adj" fmla="val 9259"/>
            </a:avLst>
          </a:prstGeom>
          <a:solidFill>
            <a:srgbClr val="F1F5F9"/>
          </a:solidFill>
          <a:ln w="12700">
            <a:solidFill>
              <a:srgbClr val="F1F5F9"/>
            </a:solidFill>
            <a:prstDash val="solid"/>
          </a:ln>
        </p:spPr>
      </p:sp>
      <p:sp>
        <p:nvSpPr>
          <p:cNvPr id="5" name="objective 0 circle"/>
          <p:cNvSpPr/>
          <p:nvPr/>
        </p:nvSpPr>
        <p:spPr>
          <a:xfrm>
            <a:off x="594360" y="1344168"/>
            <a:ext cx="457200" cy="457200"/>
          </a:xfrm>
          <a:prstGeom prst="ellipse">
            <a:avLst/>
          </a:prstGeom>
          <a:solidFill>
            <a:srgbClr val="0F766E"/>
          </a:solidFill>
          <a:ln w="12700">
            <a:solidFill>
              <a:srgbClr val="0F766E"/>
            </a:solidFill>
            <a:prstDash val="solid"/>
          </a:ln>
        </p:spPr>
      </p:sp>
      <p:pic>
        <p:nvPicPr>
          <p:cNvPr id="6" name="objective 0 icon" descr="preencoded.png">    </p:cNvPr>
          <p:cNvPicPr>
            <a:picLocks noChangeAspect="1"/>
          </p:cNvPicPr>
          <p:nvPr/>
        </p:nvPicPr>
        <p:blipFill>
          <a:blip r:embed="rId1"/>
          <a:stretch>
            <a:fillRect/>
          </a:stretch>
        </p:blipFill>
        <p:spPr>
          <a:xfrm>
            <a:off x="694944" y="1444752"/>
            <a:ext cx="256032" cy="256032"/>
          </a:xfrm>
          <a:prstGeom prst="rect">
            <a:avLst/>
          </a:prstGeom>
        </p:spPr>
      </p:pic>
      <p:sp>
        <p:nvSpPr>
          <p:cNvPr id="7" name="Text 3"/>
          <p:cNvSpPr txBox="1"/>
          <p:nvPr/>
        </p:nvSpPr>
        <p:spPr>
          <a:xfrm>
            <a:off x="1170432" y="1207008"/>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Exact errors</a:t>
            </a:r>
            <a:endParaRPr lang="en-US" sz="1350" dirty="0"/>
          </a:p>
        </p:txBody>
      </p:sp>
      <p:sp>
        <p:nvSpPr>
          <p:cNvPr id="8" name="Text 4"/>
          <p:cNvSpPr txBox="1"/>
          <p:nvPr/>
        </p:nvSpPr>
        <p:spPr>
          <a:xfrm>
            <a:off x="1170432" y="1508760"/>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Flex + Bison front end; exact positions and expected tokens</a:t>
            </a:r>
            <a:endParaRPr lang="en-US" sz="1100" dirty="0"/>
          </a:p>
        </p:txBody>
      </p:sp>
      <p:sp>
        <p:nvSpPr>
          <p:cNvPr id="9" name="objective 1"/>
          <p:cNvSpPr/>
          <p:nvPr/>
        </p:nvSpPr>
        <p:spPr>
          <a:xfrm>
            <a:off x="3154680" y="1097280"/>
            <a:ext cx="2560320" cy="987552"/>
          </a:xfrm>
          <a:prstGeom prst="roundRect">
            <a:avLst>
              <a:gd name="adj" fmla="val 9259"/>
            </a:avLst>
          </a:prstGeom>
          <a:solidFill>
            <a:srgbClr val="F1F5F9"/>
          </a:solidFill>
          <a:ln w="12700">
            <a:solidFill>
              <a:srgbClr val="F1F5F9"/>
            </a:solidFill>
            <a:prstDash val="solid"/>
          </a:ln>
        </p:spPr>
      </p:sp>
      <p:sp>
        <p:nvSpPr>
          <p:cNvPr id="10" name="objective 1 circle"/>
          <p:cNvSpPr/>
          <p:nvPr/>
        </p:nvSpPr>
        <p:spPr>
          <a:xfrm>
            <a:off x="3291840" y="1344168"/>
            <a:ext cx="457200" cy="457200"/>
          </a:xfrm>
          <a:prstGeom prst="ellipse">
            <a:avLst/>
          </a:prstGeom>
          <a:solidFill>
            <a:srgbClr val="0F766E"/>
          </a:solidFill>
          <a:ln w="12700">
            <a:solidFill>
              <a:srgbClr val="0F766E"/>
            </a:solidFill>
            <a:prstDash val="solid"/>
          </a:ln>
        </p:spPr>
      </p:sp>
      <p:pic>
        <p:nvPicPr>
          <p:cNvPr id="11" name="objective 1 icon" descr="preencoded.png">    </p:cNvPr>
          <p:cNvPicPr>
            <a:picLocks noChangeAspect="1"/>
          </p:cNvPicPr>
          <p:nvPr/>
        </p:nvPicPr>
        <p:blipFill>
          <a:blip r:embed="rId2"/>
          <a:stretch>
            <a:fillRect/>
          </a:stretch>
        </p:blipFill>
        <p:spPr>
          <a:xfrm>
            <a:off x="3392424" y="1444752"/>
            <a:ext cx="256032" cy="256032"/>
          </a:xfrm>
          <a:prstGeom prst="rect">
            <a:avLst/>
          </a:prstGeom>
        </p:spPr>
      </p:pic>
      <p:sp>
        <p:nvSpPr>
          <p:cNvPr id="12" name="Text 7"/>
          <p:cNvSpPr txBox="1"/>
          <p:nvPr/>
        </p:nvSpPr>
        <p:spPr>
          <a:xfrm>
            <a:off x="3867912" y="1207008"/>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Checked repairs</a:t>
            </a:r>
            <a:endParaRPr lang="en-US" sz="1350" dirty="0"/>
          </a:p>
        </p:txBody>
      </p:sp>
      <p:sp>
        <p:nvSpPr>
          <p:cNvPr id="13" name="Text 8"/>
          <p:cNvSpPr txBox="1"/>
          <p:nvPr/>
        </p:nvSpPr>
        <p:spPr>
          <a:xfrm>
            <a:off x="3867912" y="1508760"/>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every candidate validated by the real parser</a:t>
            </a:r>
            <a:endParaRPr lang="en-US" sz="1100" dirty="0"/>
          </a:p>
        </p:txBody>
      </p:sp>
      <p:sp>
        <p:nvSpPr>
          <p:cNvPr id="14" name="objective 2"/>
          <p:cNvSpPr/>
          <p:nvPr/>
        </p:nvSpPr>
        <p:spPr>
          <a:xfrm>
            <a:off x="457200" y="2212848"/>
            <a:ext cx="2560320" cy="987552"/>
          </a:xfrm>
          <a:prstGeom prst="roundRect">
            <a:avLst>
              <a:gd name="adj" fmla="val 9259"/>
            </a:avLst>
          </a:prstGeom>
          <a:solidFill>
            <a:srgbClr val="F1F5F9"/>
          </a:solidFill>
          <a:ln w="12700">
            <a:solidFill>
              <a:srgbClr val="F1F5F9"/>
            </a:solidFill>
            <a:prstDash val="solid"/>
          </a:ln>
        </p:spPr>
      </p:sp>
      <p:sp>
        <p:nvSpPr>
          <p:cNvPr id="15" name="objective 2 circle"/>
          <p:cNvSpPr/>
          <p:nvPr/>
        </p:nvSpPr>
        <p:spPr>
          <a:xfrm>
            <a:off x="594360" y="2459736"/>
            <a:ext cx="457200" cy="457200"/>
          </a:xfrm>
          <a:prstGeom prst="ellipse">
            <a:avLst/>
          </a:prstGeom>
          <a:solidFill>
            <a:srgbClr val="0F766E"/>
          </a:solidFill>
          <a:ln w="12700">
            <a:solidFill>
              <a:srgbClr val="0F766E"/>
            </a:solidFill>
            <a:prstDash val="solid"/>
          </a:ln>
        </p:spPr>
      </p:sp>
      <p:pic>
        <p:nvPicPr>
          <p:cNvPr id="16" name="objective 2 icon" descr="preencoded.png">    </p:cNvPr>
          <p:cNvPicPr>
            <a:picLocks noChangeAspect="1"/>
          </p:cNvPicPr>
          <p:nvPr/>
        </p:nvPicPr>
        <p:blipFill>
          <a:blip r:embed="rId3"/>
          <a:stretch>
            <a:fillRect/>
          </a:stretch>
        </p:blipFill>
        <p:spPr>
          <a:xfrm>
            <a:off x="694944" y="2560320"/>
            <a:ext cx="256032" cy="256032"/>
          </a:xfrm>
          <a:prstGeom prst="rect">
            <a:avLst/>
          </a:prstGeom>
        </p:spPr>
      </p:pic>
      <p:sp>
        <p:nvSpPr>
          <p:cNvPr id="17" name="Text 11"/>
          <p:cNvSpPr txBox="1"/>
          <p:nvPr/>
        </p:nvSpPr>
        <p:spPr>
          <a:xfrm>
            <a:off x="1170432" y="2322576"/>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Evidence, not cost</a:t>
            </a:r>
            <a:endParaRPr lang="en-US" sz="1350" dirty="0"/>
          </a:p>
        </p:txBody>
      </p:sp>
      <p:sp>
        <p:nvSpPr>
          <p:cNvPr id="18" name="Text 12"/>
          <p:cNvSpPr txBox="1"/>
          <p:nvPr/>
        </p:nvSpPr>
        <p:spPr>
          <a:xfrm>
            <a:off x="1170432" y="2624328"/>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13 named features; equivalent fixes grouped</a:t>
            </a:r>
            <a:endParaRPr lang="en-US" sz="1100" dirty="0"/>
          </a:p>
        </p:txBody>
      </p:sp>
      <p:sp>
        <p:nvSpPr>
          <p:cNvPr id="19" name="objective 3"/>
          <p:cNvSpPr/>
          <p:nvPr/>
        </p:nvSpPr>
        <p:spPr>
          <a:xfrm>
            <a:off x="3154680" y="2212848"/>
            <a:ext cx="2560320" cy="987552"/>
          </a:xfrm>
          <a:prstGeom prst="roundRect">
            <a:avLst>
              <a:gd name="adj" fmla="val 9259"/>
            </a:avLst>
          </a:prstGeom>
          <a:solidFill>
            <a:srgbClr val="F1F5F9"/>
          </a:solidFill>
          <a:ln w="12700">
            <a:solidFill>
              <a:srgbClr val="F1F5F9"/>
            </a:solidFill>
            <a:prstDash val="solid"/>
          </a:ln>
        </p:spPr>
      </p:sp>
      <p:sp>
        <p:nvSpPr>
          <p:cNvPr id="20" name="objective 3 circle"/>
          <p:cNvSpPr/>
          <p:nvPr/>
        </p:nvSpPr>
        <p:spPr>
          <a:xfrm>
            <a:off x="3291840" y="2459736"/>
            <a:ext cx="457200" cy="457200"/>
          </a:xfrm>
          <a:prstGeom prst="ellipse">
            <a:avLst/>
          </a:prstGeom>
          <a:solidFill>
            <a:srgbClr val="0F766E"/>
          </a:solidFill>
          <a:ln w="12700">
            <a:solidFill>
              <a:srgbClr val="0F766E"/>
            </a:solidFill>
            <a:prstDash val="solid"/>
          </a:ln>
        </p:spPr>
      </p:sp>
      <p:pic>
        <p:nvPicPr>
          <p:cNvPr id="21" name="objective 3 icon" descr="preencoded.png">    </p:cNvPr>
          <p:cNvPicPr>
            <a:picLocks noChangeAspect="1"/>
          </p:cNvPicPr>
          <p:nvPr/>
        </p:nvPicPr>
        <p:blipFill>
          <a:blip r:embed="rId4"/>
          <a:stretch>
            <a:fillRect/>
          </a:stretch>
        </p:blipFill>
        <p:spPr>
          <a:xfrm>
            <a:off x="3392424" y="2560320"/>
            <a:ext cx="256032" cy="256032"/>
          </a:xfrm>
          <a:prstGeom prst="rect">
            <a:avLst/>
          </a:prstGeom>
        </p:spPr>
      </p:pic>
      <p:sp>
        <p:nvSpPr>
          <p:cNvPr id="22" name="Text 15"/>
          <p:cNvSpPr txBox="1"/>
          <p:nvPr/>
        </p:nvSpPr>
        <p:spPr>
          <a:xfrm>
            <a:off x="3867912" y="2322576"/>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Honest decisions</a:t>
            </a:r>
            <a:endParaRPr lang="en-US" sz="1350" dirty="0"/>
          </a:p>
        </p:txBody>
      </p:sp>
      <p:sp>
        <p:nvSpPr>
          <p:cNvPr id="23" name="Text 16"/>
          <p:cNvSpPr txBox="1"/>
          <p:nvPr/>
        </p:nvSpPr>
        <p:spPr>
          <a:xfrm>
            <a:off x="3867912" y="2624328"/>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recommend, ask, or explain why not</a:t>
            </a:r>
            <a:endParaRPr lang="en-US" sz="1100" dirty="0"/>
          </a:p>
        </p:txBody>
      </p:sp>
      <p:sp>
        <p:nvSpPr>
          <p:cNvPr id="24" name="objective 4"/>
          <p:cNvSpPr/>
          <p:nvPr/>
        </p:nvSpPr>
        <p:spPr>
          <a:xfrm>
            <a:off x="457200" y="3328416"/>
            <a:ext cx="2560320" cy="987552"/>
          </a:xfrm>
          <a:prstGeom prst="roundRect">
            <a:avLst>
              <a:gd name="adj" fmla="val 9259"/>
            </a:avLst>
          </a:prstGeom>
          <a:solidFill>
            <a:srgbClr val="F1F5F9"/>
          </a:solidFill>
          <a:ln w="12700">
            <a:solidFill>
              <a:srgbClr val="F1F5F9"/>
            </a:solidFill>
            <a:prstDash val="solid"/>
          </a:ln>
        </p:spPr>
      </p:sp>
      <p:sp>
        <p:nvSpPr>
          <p:cNvPr id="25" name="objective 4 circle"/>
          <p:cNvSpPr/>
          <p:nvPr/>
        </p:nvSpPr>
        <p:spPr>
          <a:xfrm>
            <a:off x="594360" y="3575304"/>
            <a:ext cx="457200" cy="457200"/>
          </a:xfrm>
          <a:prstGeom prst="ellipse">
            <a:avLst/>
          </a:prstGeom>
          <a:solidFill>
            <a:srgbClr val="0F766E"/>
          </a:solidFill>
          <a:ln w="12700">
            <a:solidFill>
              <a:srgbClr val="0F766E"/>
            </a:solidFill>
            <a:prstDash val="solid"/>
          </a:ln>
        </p:spPr>
      </p:sp>
      <p:pic>
        <p:nvPicPr>
          <p:cNvPr id="26" name="objective 4 icon" descr="preencoded.png">    </p:cNvPr>
          <p:cNvPicPr>
            <a:picLocks noChangeAspect="1"/>
          </p:cNvPicPr>
          <p:nvPr/>
        </p:nvPicPr>
        <p:blipFill>
          <a:blip r:embed="rId5"/>
          <a:stretch>
            <a:fillRect/>
          </a:stretch>
        </p:blipFill>
        <p:spPr>
          <a:xfrm>
            <a:off x="694944" y="3675888"/>
            <a:ext cx="256032" cy="256032"/>
          </a:xfrm>
          <a:prstGeom prst="rect">
            <a:avLst/>
          </a:prstGeom>
        </p:spPr>
      </p:pic>
      <p:sp>
        <p:nvSpPr>
          <p:cNvPr id="27" name="Text 19"/>
          <p:cNvSpPr txBox="1"/>
          <p:nvPr/>
        </p:nvSpPr>
        <p:spPr>
          <a:xfrm>
            <a:off x="1170432" y="3438144"/>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For beginners</a:t>
            </a:r>
            <a:endParaRPr lang="en-US" sz="1350" dirty="0"/>
          </a:p>
        </p:txBody>
      </p:sp>
      <p:sp>
        <p:nvSpPr>
          <p:cNvPr id="28" name="Text 20"/>
          <p:cNvSpPr txBox="1"/>
          <p:nvPr/>
        </p:nvSpPr>
        <p:spPr>
          <a:xfrm>
            <a:off x="1170432" y="3739896"/>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plain explanations, hints, explained AST</a:t>
            </a:r>
            <a:endParaRPr lang="en-US" sz="1100" dirty="0"/>
          </a:p>
        </p:txBody>
      </p:sp>
      <p:sp>
        <p:nvSpPr>
          <p:cNvPr id="29" name="objective 5"/>
          <p:cNvSpPr/>
          <p:nvPr/>
        </p:nvSpPr>
        <p:spPr>
          <a:xfrm>
            <a:off x="3154680" y="3328416"/>
            <a:ext cx="2560320" cy="987552"/>
          </a:xfrm>
          <a:prstGeom prst="roundRect">
            <a:avLst>
              <a:gd name="adj" fmla="val 9259"/>
            </a:avLst>
          </a:prstGeom>
          <a:solidFill>
            <a:srgbClr val="F1F5F9"/>
          </a:solidFill>
          <a:ln w="12700">
            <a:solidFill>
              <a:srgbClr val="F1F5F9"/>
            </a:solidFill>
            <a:prstDash val="solid"/>
          </a:ln>
        </p:spPr>
      </p:sp>
      <p:sp>
        <p:nvSpPr>
          <p:cNvPr id="30" name="objective 5 circle"/>
          <p:cNvSpPr/>
          <p:nvPr/>
        </p:nvSpPr>
        <p:spPr>
          <a:xfrm>
            <a:off x="3291840" y="3575304"/>
            <a:ext cx="457200" cy="457200"/>
          </a:xfrm>
          <a:prstGeom prst="ellipse">
            <a:avLst/>
          </a:prstGeom>
          <a:solidFill>
            <a:srgbClr val="0F766E"/>
          </a:solidFill>
          <a:ln w="12700">
            <a:solidFill>
              <a:srgbClr val="0F766E"/>
            </a:solidFill>
            <a:prstDash val="solid"/>
          </a:ln>
        </p:spPr>
      </p:sp>
      <p:pic>
        <p:nvPicPr>
          <p:cNvPr id="31" name="objective 5 icon" descr="preencoded.png">    </p:cNvPr>
          <p:cNvPicPr>
            <a:picLocks noChangeAspect="1"/>
          </p:cNvPicPr>
          <p:nvPr/>
        </p:nvPicPr>
        <p:blipFill>
          <a:blip r:embed="rId6"/>
          <a:stretch>
            <a:fillRect/>
          </a:stretch>
        </p:blipFill>
        <p:spPr>
          <a:xfrm>
            <a:off x="3392424" y="3675888"/>
            <a:ext cx="256032" cy="256032"/>
          </a:xfrm>
          <a:prstGeom prst="rect">
            <a:avLst/>
          </a:prstGeom>
        </p:spPr>
      </p:pic>
      <p:sp>
        <p:nvSpPr>
          <p:cNvPr id="32" name="Text 23"/>
          <p:cNvSpPr txBox="1"/>
          <p:nvPr/>
        </p:nvSpPr>
        <p:spPr>
          <a:xfrm>
            <a:off x="3867912" y="3438144"/>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Measured</a:t>
            </a:r>
            <a:endParaRPr lang="en-US" sz="1350" dirty="0"/>
          </a:p>
        </p:txBody>
      </p:sp>
      <p:sp>
        <p:nvSpPr>
          <p:cNvPr id="33" name="Text 24"/>
          <p:cNvSpPr txBox="1"/>
          <p:nvPr/>
        </p:nvSpPr>
        <p:spPr>
          <a:xfrm>
            <a:off x="3867912" y="3739896"/>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held-out benchmark, baselines, ablations</a:t>
            </a:r>
            <a:endParaRPr lang="en-US" sz="1100" dirty="0"/>
          </a:p>
        </p:txBody>
      </p:sp>
      <p:sp>
        <p:nvSpPr>
          <p:cNvPr id="34" name="scope card"/>
          <p:cNvSpPr/>
          <p:nvPr/>
        </p:nvSpPr>
        <p:spPr>
          <a:xfrm>
            <a:off x="5989320" y="1097280"/>
            <a:ext cx="2697480" cy="3291840"/>
          </a:xfrm>
          <a:prstGeom prst="roundRect">
            <a:avLst>
              <a:gd name="adj" fmla="val 3390"/>
            </a:avLst>
          </a:prstGeom>
          <a:solidFill>
            <a:srgbClr val="F1F5F9"/>
          </a:solidFill>
          <a:ln w="12700">
            <a:solidFill>
              <a:srgbClr val="F1F5F9"/>
            </a:solidFill>
            <a:prstDash val="solid"/>
          </a:ln>
        </p:spPr>
      </p:sp>
      <p:sp>
        <p:nvSpPr>
          <p:cNvPr id="35" name="Text 26"/>
          <p:cNvSpPr txBox="1"/>
          <p:nvPr/>
        </p:nvSpPr>
        <p:spPr>
          <a:xfrm>
            <a:off x="6126480" y="1188720"/>
            <a:ext cx="24688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MiniC scope</a:t>
            </a:r>
            <a:endParaRPr lang="en-US" sz="1400" dirty="0"/>
          </a:p>
        </p:txBody>
      </p:sp>
      <p:sp>
        <p:nvSpPr>
          <p:cNvPr id="36" name="Text 27"/>
          <p:cNvSpPr txBox="1"/>
          <p:nvPr/>
        </p:nvSpPr>
        <p:spPr>
          <a:xfrm>
            <a:off x="6126480" y="1554480"/>
            <a:ext cx="2468880" cy="1280160"/>
          </a:xfrm>
          <a:prstGeom prst="rect">
            <a:avLst/>
          </a:prstGeom>
          <a:noFill/>
          <a:ln/>
        </p:spPr>
        <p:txBody>
          <a:bodyPr wrap="square" lIns="0" tIns="0" rIns="0" bIns="0" rtlCol="0" anchor="t"/>
          <a:lstStyle/>
          <a:p>
            <a:pPr indent="0" marL="0">
              <a:buNone/>
            </a:pPr>
            <a:r>
              <a:rPr lang="en-US" sz="1150" b="1" dirty="0">
                <a:solidFill>
                  <a:schemeClr val="accent5"/>
                </a:solidFill>
                <a:latin typeface="Calibri" pitchFamily="34" charset="0"/>
                <a:ea typeface="Calibri" pitchFamily="34" charset="-122"/>
                <a:cs typeface="Calibri" pitchFamily="34" charset="-120"/>
              </a:rPr>
              <a:t>In: </a:t>
            </a:r>
            <a:pPr indent="0" marL="0">
              <a:buNone/>
            </a:pPr>
            <a:r>
              <a:rPr lang="en-US" sz="1150" dirty="0">
                <a:solidFill>
                  <a:schemeClr val="tx1"/>
                </a:solidFill>
                <a:latin typeface="Calibri" pitchFamily="34" charset="0"/>
                <a:ea typeface="Calibri" pitchFamily="34" charset="-122"/>
                <a:cs typeface="Calibri" pitchFamily="34" charset="-120"/>
              </a:rPr>
              <a:t>int float char bool void, functions, 1-D arrays, if/else, while, for, return, break, continue, arithmetic / comparison / logical operators</a:t>
            </a:r>
            <a:endParaRPr lang="en-US" sz="1150" dirty="0"/>
          </a:p>
        </p:txBody>
      </p:sp>
      <p:sp>
        <p:nvSpPr>
          <p:cNvPr id="37" name="Text 28"/>
          <p:cNvSpPr txBox="1"/>
          <p:nvPr/>
        </p:nvSpPr>
        <p:spPr>
          <a:xfrm>
            <a:off x="6126480" y="2834640"/>
            <a:ext cx="2468880" cy="731520"/>
          </a:xfrm>
          <a:prstGeom prst="rect">
            <a:avLst/>
          </a:prstGeom>
          <a:noFill/>
          <a:ln/>
        </p:spPr>
        <p:txBody>
          <a:bodyPr wrap="square" lIns="0" tIns="0" rIns="0" bIns="0" rtlCol="0" anchor="t"/>
          <a:lstStyle/>
          <a:p>
            <a:pPr indent="0" marL="0">
              <a:buNone/>
            </a:pPr>
            <a:r>
              <a:rPr lang="en-US" sz="1150" b="1" dirty="0">
                <a:solidFill>
                  <a:schemeClr val="accent2"/>
                </a:solidFill>
                <a:latin typeface="Calibri" pitchFamily="34" charset="0"/>
                <a:ea typeface="Calibri" pitchFamily="34" charset="-122"/>
                <a:cs typeface="Calibri" pitchFamily="34" charset="-120"/>
              </a:rPr>
              <a:t>Recognised as C, not repaired: </a:t>
            </a:r>
            <a:pPr indent="0" marL="0">
              <a:buNone/>
            </a:pPr>
            <a:r>
              <a:rPr lang="en-US" sz="1150" dirty="0">
                <a:solidFill>
                  <a:schemeClr val="tx1"/>
                </a:solidFill>
                <a:latin typeface="Calibri" pitchFamily="34" charset="0"/>
                <a:ea typeface="Calibri" pitchFamily="34" charset="-122"/>
                <a:cs typeface="Calibri" pitchFamily="34" charset="-120"/>
              </a:rPr>
              <a:t>++ += ?: switch do struct pointers strings #include</a:t>
            </a:r>
            <a:endParaRPr lang="en-US" sz="1150" dirty="0"/>
          </a:p>
        </p:txBody>
      </p:sp>
      <p:sp>
        <p:nvSpPr>
          <p:cNvPr id="38" name="Text 29"/>
          <p:cNvSpPr txBox="1"/>
          <p:nvPr/>
        </p:nvSpPr>
        <p:spPr>
          <a:xfrm>
            <a:off x="6126480" y="3611880"/>
            <a:ext cx="2468880" cy="640080"/>
          </a:xfrm>
          <a:prstGeom prst="rect">
            <a:avLst/>
          </a:prstGeom>
          <a:noFill/>
          <a:ln/>
        </p:spPr>
        <p:txBody>
          <a:bodyPr wrap="square" lIns="0" tIns="0" rIns="0" bIns="0" rtlCol="0" anchor="t"/>
          <a:lstStyle/>
          <a:p>
            <a:pPr indent="0" marL="0">
              <a:buNone/>
            </a:pPr>
            <a:r>
              <a:rPr lang="en-US" sz="1150" b="1" dirty="0">
                <a:solidFill>
                  <a:schemeClr val="accent4"/>
                </a:solidFill>
                <a:latin typeface="Calibri" pitchFamily="34" charset="0"/>
                <a:ea typeface="Calibri" pitchFamily="34" charset="-122"/>
                <a:cs typeface="Calibri" pitchFamily="34" charset="-120"/>
              </a:rPr>
              <a:t>Out of scope: </a:t>
            </a:r>
            <a:pPr indent="0" marL="0">
              <a:buNone/>
            </a:pPr>
            <a:r>
              <a:rPr lang="en-US" sz="1150" dirty="0">
                <a:solidFill>
                  <a:schemeClr val="tx1"/>
                </a:solidFill>
                <a:latin typeface="Calibri" pitchFamily="34" charset="0"/>
                <a:ea typeface="Calibri" pitchFamily="34" charset="-122"/>
                <a:cs typeface="Calibri" pitchFamily="34" charset="-120"/>
              </a:rPr>
              <a:t>type checking, code generation, running programs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Architecture and workflow</a:t>
            </a:r>
            <a:endParaRPr lang="en-US" sz="2800" dirty="0"/>
          </a:p>
        </p:txBody>
      </p:sp>
      <p:pic>
        <p:nvPicPr>
          <p:cNvPr id="4" name="architecture" descr="System architecture">    </p:cNvPr>
          <p:cNvPicPr>
            <a:picLocks noChangeAspect="1"/>
          </p:cNvPicPr>
          <p:nvPr/>
        </p:nvPicPr>
        <p:blipFill>
          <a:blip r:embed="rId1"/>
          <a:stretch>
            <a:fillRect/>
          </a:stretch>
        </p:blipFill>
        <p:spPr>
          <a:xfrm>
            <a:off x="731520" y="1005840"/>
            <a:ext cx="7680960" cy="2304288"/>
          </a:xfrm>
          <a:prstGeom prst="rect">
            <a:avLst/>
          </a:prstGeom>
        </p:spPr>
      </p:pic>
      <p:pic>
        <p:nvPicPr>
          <p:cNvPr id="5" name="pipeline" descr="Processing pipeline">    </p:cNvPr>
          <p:cNvPicPr>
            <a:picLocks noChangeAspect="1"/>
          </p:cNvPicPr>
          <p:nvPr/>
        </p:nvPicPr>
        <p:blipFill>
          <a:blip r:embed="rId2"/>
          <a:stretch>
            <a:fillRect/>
          </a:stretch>
        </p:blipFill>
        <p:spPr>
          <a:xfrm>
            <a:off x="640080" y="3429000"/>
            <a:ext cx="7863840" cy="1196671"/>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Lexer, parser and candidate validation</a:t>
            </a:r>
            <a:endParaRPr lang="en-US" sz="2800" dirty="0"/>
          </a:p>
        </p:txBody>
      </p:sp>
      <p:sp>
        <p:nvSpPr>
          <p:cNvPr id="4" name="Text 1"/>
          <p:cNvSpPr txBox="1"/>
          <p:nvPr/>
        </p:nvSpPr>
        <p:spPr>
          <a:xfrm>
            <a:off x="457200" y="1051560"/>
            <a:ext cx="10058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97</a:t>
            </a:r>
            <a:endParaRPr lang="en-US" sz="3000" dirty="0"/>
          </a:p>
        </p:txBody>
      </p:sp>
      <p:sp>
        <p:nvSpPr>
          <p:cNvPr id="5" name="Text 2"/>
          <p:cNvSpPr txBox="1"/>
          <p:nvPr/>
        </p:nvSpPr>
        <p:spPr>
          <a:xfrm>
            <a:off x="1508760" y="1170432"/>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grammar rules, 168 LR states, 0 conflicts</a:t>
            </a:r>
            <a:endParaRPr lang="en-US" sz="1300" dirty="0"/>
          </a:p>
        </p:txBody>
      </p:sp>
      <p:sp>
        <p:nvSpPr>
          <p:cNvPr id="6" name="Text 3"/>
          <p:cNvSpPr txBox="1"/>
          <p:nvPr/>
        </p:nvSpPr>
        <p:spPr>
          <a:xfrm>
            <a:off x="457200" y="1801368"/>
            <a:ext cx="10058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15</a:t>
            </a:r>
            <a:endParaRPr lang="en-US" sz="3000" dirty="0"/>
          </a:p>
        </p:txBody>
      </p:sp>
      <p:sp>
        <p:nvSpPr>
          <p:cNvPr id="7" name="Text 4"/>
          <p:cNvSpPr txBox="1"/>
          <p:nvPr/>
        </p:nvSpPr>
        <p:spPr>
          <a:xfrm>
            <a:off x="1508760" y="1920240"/>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tokens expected at the error (exact, via LAC)</a:t>
            </a:r>
            <a:endParaRPr lang="en-US" sz="1300" dirty="0"/>
          </a:p>
        </p:txBody>
      </p:sp>
      <p:sp>
        <p:nvSpPr>
          <p:cNvPr id="8" name="Text 5"/>
          <p:cNvSpPr txBox="1"/>
          <p:nvPr/>
        </p:nvSpPr>
        <p:spPr>
          <a:xfrm>
            <a:off x="457200" y="2551176"/>
            <a:ext cx="100584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60</a:t>
            </a:r>
            <a:endParaRPr lang="en-US" sz="3000" dirty="0"/>
          </a:p>
        </p:txBody>
      </p:sp>
      <p:sp>
        <p:nvSpPr>
          <p:cNvPr id="9" name="Text 6"/>
          <p:cNvSpPr txBox="1"/>
          <p:nvPr/>
        </p:nvSpPr>
        <p:spPr>
          <a:xfrm>
            <a:off x="1508760" y="2670048"/>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candidate edits generated</a:t>
            </a:r>
            <a:endParaRPr lang="en-US" sz="1300" dirty="0"/>
          </a:p>
        </p:txBody>
      </p:sp>
      <p:sp>
        <p:nvSpPr>
          <p:cNvPr id="10" name="Text 7"/>
          <p:cNvSpPr txBox="1"/>
          <p:nvPr/>
        </p:nvSpPr>
        <p:spPr>
          <a:xfrm>
            <a:off x="457200" y="3300984"/>
            <a:ext cx="100584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3</a:t>
            </a:r>
            <a:endParaRPr lang="en-US" sz="3000" dirty="0"/>
          </a:p>
        </p:txBody>
      </p:sp>
      <p:sp>
        <p:nvSpPr>
          <p:cNvPr id="11" name="Text 8"/>
          <p:cNvSpPr txBox="1"/>
          <p:nvPr/>
        </p:nvSpPr>
        <p:spPr>
          <a:xfrm>
            <a:off x="1508760" y="3419856"/>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accepted by the real parser</a:t>
            </a:r>
            <a:endParaRPr lang="en-US" sz="1300" dirty="0"/>
          </a:p>
        </p:txBody>
      </p:sp>
      <p:sp>
        <p:nvSpPr>
          <p:cNvPr id="12" name="Text 9"/>
          <p:cNvSpPr txBox="1"/>
          <p:nvPr/>
        </p:nvSpPr>
        <p:spPr>
          <a:xfrm>
            <a:off x="457200" y="4069080"/>
            <a:ext cx="3566160" cy="548640"/>
          </a:xfrm>
          <a:prstGeom prst="rect">
            <a:avLst/>
          </a:prstGeom>
          <a:noFill/>
          <a:ln/>
        </p:spPr>
        <p:txBody>
          <a:bodyPr wrap="square" lIns="0" tIns="0" rIns="0" bIns="0" rtlCol="0" anchor="t"/>
          <a:lstStyle/>
          <a:p>
            <a:pPr indent="0" marL="0">
              <a:buNone/>
            </a:pPr>
            <a:r>
              <a:rPr lang="en-US" sz="1150" b="1" dirty="0">
                <a:solidFill>
                  <a:schemeClr val="tx2"/>
                </a:solidFill>
                <a:latin typeface="Calibri" pitchFamily="34" charset="0"/>
                <a:ea typeface="Calibri" pitchFamily="34" charset="-122"/>
                <a:cs typeface="Calibri" pitchFamily="34" charset="-120"/>
              </a:rPr>
              <a:t>Round trip: </a:t>
            </a:r>
            <a:pPr indent="0" marL="0">
              <a:buNone/>
            </a:pPr>
            <a:r>
              <a:rPr lang="en-US" sz="1150" dirty="0">
                <a:solidFill>
                  <a:schemeClr val="tx2"/>
                </a:solidFill>
                <a:latin typeface="Calibri" pitchFamily="34" charset="0"/>
                <a:ea typeface="Calibri" pitchFamily="34" charset="-122"/>
                <a:cs typeface="Calibri" pitchFamily="34" charset="-120"/>
              </a:rPr>
              <a:t>each accepted fix is written back with your spacing and comments, re-lexed and re-parsed.</a:t>
            </a:r>
            <a:endParaRPr lang="en-US" sz="1150" dirty="0"/>
          </a:p>
        </p:txBody>
      </p:sp>
      <p:graphicFrame>
        <p:nvGraphicFramePr>
          <p:cNvPr id="13" name="outcome chart" descr=""/>
          <p:cNvGraphicFramePr/>
          <p:nvPr/>
        </p:nvGraphicFramePr>
        <p:xfrm>
          <a:off x="4206240" y="1051560"/>
          <a:ext cx="448056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Interactive ambiguity resolution</a:t>
            </a:r>
            <a:endParaRPr lang="en-US" sz="2800" dirty="0"/>
          </a:p>
        </p:txBody>
      </p:sp>
      <p:sp>
        <p:nvSpPr>
          <p:cNvPr id="4" name="Clarification card (actual output) frame"/>
          <p:cNvSpPr/>
          <p:nvPr/>
        </p:nvSpPr>
        <p:spPr>
          <a:xfrm>
            <a:off x="420624" y="1014984"/>
            <a:ext cx="3073080" cy="3502152"/>
          </a:xfrm>
          <a:prstGeom prst="roundRect">
            <a:avLst>
              <a:gd name="adj" fmla="val 2380"/>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Clarification card (actual output)" descr="Clarification card (actual output)">    </p:cNvPr>
          <p:cNvPicPr>
            <a:picLocks noChangeAspect="1"/>
          </p:cNvPicPr>
          <p:nvPr/>
        </p:nvPicPr>
        <p:blipFill>
          <a:blip r:embed="rId1"/>
          <a:stretch>
            <a:fillRect/>
          </a:stretch>
        </p:blipFill>
        <p:spPr>
          <a:xfrm>
            <a:off x="457200" y="1051560"/>
            <a:ext cx="2999928" cy="3429000"/>
          </a:xfrm>
          <a:prstGeom prst="rect">
            <a:avLst/>
          </a:prstGeom>
        </p:spPr>
      </p:pic>
      <p:sp>
        <p:nvSpPr>
          <p:cNvPr id="6" name="Text 2"/>
          <p:cNvSpPr txBox="1"/>
          <p:nvPr/>
        </p:nvSpPr>
        <p:spPr>
          <a:xfrm>
            <a:off x="457200" y="4544568"/>
            <a:ext cx="31089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int total = price + ;</a:t>
            </a:r>
            <a:endParaRPr lang="en-US" sz="1050" dirty="0"/>
          </a:p>
        </p:txBody>
      </p:sp>
      <p:sp>
        <p:nvSpPr>
          <p:cNvPr id="7" name="Text 3"/>
          <p:cNvSpPr txBox="1"/>
          <p:nvPr/>
        </p:nvSpPr>
        <p:spPr>
          <a:xfrm>
            <a:off x="4023360" y="1097280"/>
            <a:ext cx="4663440" cy="32918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The engine finds several fixes with similar evidence (margin 0.50 &lt; τ 1.5), so it does not guess.</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It explains what is ambiguous and asks: is the + extra, or is something missing? Options are the real top plans, a fill-in, or your own line.</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It suggests price (declared earlier), not total (still being declared).</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Check with the parser: the real parser validates the answer before it can be applied.</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Then: inspect the tree (step 4), apply and verify by a real re-parse (step 5); Undo restores the original; you can also leave it unresolved.</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Explainable repair comparison</a:t>
            </a:r>
            <a:endParaRPr lang="en-US" sz="2800" dirty="0"/>
          </a:p>
        </p:txBody>
      </p:sp>
      <p:graphicFrame>
        <p:nvGraphicFramePr>
          <p:cNvPr id="8" name="evidence table"/>
          <p:cNvGraphicFramePr>
            <a:graphicFrameLocks noGrp="1"/>
          </p:cNvGraphicFramePr>
          <p:nvPr>
            <p:extLst>
              <p:ext uri="{D42A27DB-BD31-4B8C-83A1-F6EECF244321}">
                <p14:modId xmlns:p14="http://schemas.microsoft.com/office/powerpoint/2010/main" val="1579011935"/>
              </p:ext>
            </p:extLst>
          </p:nvPr>
        </p:nvGraphicFramePr>
        <p:xfrm>
          <a:off x="457200" y="1097280"/>
          <a:ext cx="5669280" cy="914400"/>
        </p:xfrm>
        <a:graphic>
          <a:graphicData uri="http://schemas.openxmlformats.org/drawingml/2006/table">
            <a:tbl>
              <a:tblPr/>
              <a:tblGrid>
                <a:gridCol w="2240280"/>
                <a:gridCol w="1143000"/>
                <a:gridCol w="1143000"/>
                <a:gridCol w="11430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insert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edit_cost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resolves_all_errors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deleted_content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line_end_semicolon</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name_warnings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4F46E5"/>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069080"/>
            <a:ext cx="5669280" cy="32004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Live compiler output for the missing-semicolon sample; 8 more features are 0 for all three.</a:t>
            </a:r>
            <a:endParaRPr lang="en-US" sz="1100" dirty="0"/>
          </a:p>
        </p:txBody>
      </p:sp>
      <p:sp>
        <p:nvSpPr>
          <p:cNvPr id="6" name="margin card"/>
          <p:cNvSpPr/>
          <p:nvPr/>
        </p:nvSpPr>
        <p:spPr>
          <a:xfrm>
            <a:off x="6400800" y="1097280"/>
            <a:ext cx="2286000" cy="3291840"/>
          </a:xfrm>
          <a:prstGeom prst="roundRect">
            <a:avLst>
              <a:gd name="adj" fmla="val 4000"/>
            </a:avLst>
          </a:prstGeom>
          <a:solidFill>
            <a:srgbClr val="F1F5F9"/>
          </a:solidFill>
          <a:ln w="12700">
            <a:solidFill>
              <a:srgbClr val="F1F5F9"/>
            </a:solidFill>
            <a:prstDash val="solid"/>
          </a:ln>
        </p:spPr>
      </p:sp>
      <p:sp>
        <p:nvSpPr>
          <p:cNvPr id="7" name="Text 3"/>
          <p:cNvSpPr txBox="1"/>
          <p:nvPr/>
        </p:nvSpPr>
        <p:spPr>
          <a:xfrm>
            <a:off x="6583680" y="1234440"/>
            <a:ext cx="192024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margin</a:t>
            </a:r>
            <a:endParaRPr lang="en-US" sz="1300" dirty="0"/>
          </a:p>
        </p:txBody>
      </p:sp>
      <p:sp>
        <p:nvSpPr>
          <p:cNvPr id="8" name="Text 4"/>
          <p:cNvSpPr txBox="1"/>
          <p:nvPr/>
        </p:nvSpPr>
        <p:spPr>
          <a:xfrm>
            <a:off x="6583680" y="1508760"/>
            <a:ext cx="19202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2.00</a:t>
            </a:r>
            <a:endParaRPr lang="en-US" sz="4000" dirty="0"/>
          </a:p>
        </p:txBody>
      </p:sp>
      <p:sp>
        <p:nvSpPr>
          <p:cNvPr id="9" name="Text 5"/>
          <p:cNvSpPr txBox="1"/>
          <p:nvPr/>
        </p:nvSpPr>
        <p:spPr>
          <a:xfrm>
            <a:off x="6583680" y="2240280"/>
            <a:ext cx="192024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 τ = 1.5 (chosen on dev)</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 Recommended</a:t>
            </a:r>
            <a:endParaRPr lang="en-US" sz="1300" dirty="0"/>
          </a:p>
        </p:txBody>
      </p:sp>
      <p:sp>
        <p:nvSpPr>
          <p:cNvPr id="10" name="Text 6"/>
          <p:cNvSpPr txBox="1"/>
          <p:nvPr/>
        </p:nvSpPr>
        <p:spPr>
          <a:xfrm>
            <a:off x="6583680" y="2926080"/>
            <a:ext cx="1965960" cy="1371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Step 3 (Fixes) shows every structurally different repair with its line change, cost, score and parser validity, and “Choose this fix”. The score ranks; it is not a probability.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 detailed AST explorer</a:t>
            </a:r>
            <a:endParaRPr lang="en-US" sz="2800" dirty="0"/>
          </a:p>
        </p:txBody>
      </p:sp>
      <p:sp>
        <p:nvSpPr>
          <p:cNvPr id="4" name="AST Explorer with an explained node (actual output) frame"/>
          <p:cNvSpPr/>
          <p:nvPr/>
        </p:nvSpPr>
        <p:spPr>
          <a:xfrm>
            <a:off x="420624" y="1014984"/>
            <a:ext cx="4078993" cy="3502152"/>
          </a:xfrm>
          <a:prstGeom prst="roundRect">
            <a:avLst>
              <a:gd name="adj" fmla="val 2089"/>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AST Explorer with an explained node (actual output)" descr="AST Explorer with an explained node (actual output)">    </p:cNvPr>
          <p:cNvPicPr>
            <a:picLocks noChangeAspect="1"/>
          </p:cNvPicPr>
          <p:nvPr/>
        </p:nvPicPr>
        <p:blipFill>
          <a:blip r:embed="rId1"/>
          <a:stretch>
            <a:fillRect/>
          </a:stretch>
        </p:blipFill>
        <p:spPr>
          <a:xfrm>
            <a:off x="457200" y="1051560"/>
            <a:ext cx="4005841" cy="3429000"/>
          </a:xfrm>
          <a:prstGeom prst="rect">
            <a:avLst/>
          </a:prstGeom>
        </p:spPr>
      </p:pic>
      <p:sp>
        <p:nvSpPr>
          <p:cNvPr id="6" name="Text 2"/>
          <p:cNvSpPr txBox="1"/>
          <p:nvPr/>
        </p:nvSpPr>
        <p:spPr>
          <a:xfrm>
            <a:off x="457200" y="4544568"/>
            <a:ext cx="512064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the Binary + node of total + square(i) * 2</a:t>
            </a:r>
            <a:endParaRPr lang="en-US" sz="1050" dirty="0"/>
          </a:p>
        </p:txBody>
      </p:sp>
      <p:sp>
        <p:nvSpPr>
          <p:cNvPr id="7" name="Text 3"/>
          <p:cNvSpPr txBox="1"/>
          <p:nvPr/>
        </p:nvSpPr>
        <p:spPr>
          <a:xfrm>
            <a:off x="5897880" y="1051560"/>
            <a:ext cx="27889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For every selected node</a:t>
            </a:r>
            <a:endParaRPr lang="en-US" sz="1500" dirty="0"/>
          </a:p>
        </p:txBody>
      </p:sp>
      <p:sp>
        <p:nvSpPr>
          <p:cNvPr id="8" name="Text 4"/>
          <p:cNvSpPr txBox="1"/>
          <p:nvPr/>
        </p:nvSpPr>
        <p:spPr>
          <a:xfrm>
            <a:off x="5897880" y="1417320"/>
            <a:ext cx="27889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Its meaning and category</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Its role in the parent and each child</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The source it covers (click code ↔ node)</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The tokens it absorbs (;  (  )  op)</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The grammar rule that built it</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An expression diagram with precedence</a:t>
            </a:r>
            <a:endParaRPr lang="en-US" sz="1300" dirty="0"/>
          </a:p>
        </p:txBody>
      </p:sp>
      <p:sp>
        <p:nvSpPr>
          <p:cNvPr id="9" name="Text 5"/>
          <p:cNvSpPr txBox="1"/>
          <p:nvPr/>
        </p:nvSpPr>
        <p:spPr>
          <a:xfrm>
            <a:off x="5897880" y="3657600"/>
            <a:ext cx="2788920" cy="7315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Plus: search, expand/collapse, before &amp; after, JSON. Grammar rules come from minic.y for all 26 node kinds.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Before and after a repair</a:t>
            </a:r>
            <a:endParaRPr lang="en-US" sz="2800" dirty="0"/>
          </a:p>
        </p:txBody>
      </p:sp>
      <p:sp>
        <p:nvSpPr>
          <p:cNvPr id="4" name="Partial tree for invalid code (actual output) frame"/>
          <p:cNvSpPr/>
          <p:nvPr/>
        </p:nvSpPr>
        <p:spPr>
          <a:xfrm>
            <a:off x="420624" y="1014984"/>
            <a:ext cx="4005072" cy="1044336"/>
          </a:xfrm>
          <a:prstGeom prst="roundRect">
            <a:avLst>
              <a:gd name="adj" fmla="val 7005"/>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Partial tree for invalid code (actual output)" descr="Partial tree for invalid code (actual output)">    </p:cNvPr>
          <p:cNvPicPr>
            <a:picLocks noChangeAspect="1"/>
          </p:cNvPicPr>
          <p:nvPr/>
        </p:nvPicPr>
        <p:blipFill>
          <a:blip r:embed="rId1"/>
          <a:stretch>
            <a:fillRect/>
          </a:stretch>
        </p:blipFill>
        <p:spPr>
          <a:xfrm>
            <a:off x="457200" y="1051560"/>
            <a:ext cx="3931920" cy="971184"/>
          </a:xfrm>
          <a:prstGeom prst="rect">
            <a:avLst/>
          </a:prstGeom>
        </p:spPr>
      </p:pic>
      <p:sp>
        <p:nvSpPr>
          <p:cNvPr id="6" name="Before and after comparison (actual output) frame"/>
          <p:cNvSpPr/>
          <p:nvPr/>
        </p:nvSpPr>
        <p:spPr>
          <a:xfrm>
            <a:off x="4718304" y="1014984"/>
            <a:ext cx="4005072" cy="1858244"/>
          </a:xfrm>
          <a:prstGeom prst="roundRect">
            <a:avLst>
              <a:gd name="adj" fmla="val 3937"/>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Before and after comparison (actual output)" descr="Before and after comparison (actual output)">    </p:cNvPr>
          <p:cNvPicPr>
            <a:picLocks noChangeAspect="1"/>
          </p:cNvPicPr>
          <p:nvPr/>
        </p:nvPicPr>
        <p:blipFill>
          <a:blip r:embed="rId2"/>
          <a:stretch>
            <a:fillRect/>
          </a:stretch>
        </p:blipFill>
        <p:spPr>
          <a:xfrm>
            <a:off x="4754880" y="1051560"/>
            <a:ext cx="3931920" cy="1785092"/>
          </a:xfrm>
          <a:prstGeom prst="rect">
            <a:avLst/>
          </a:prstGeom>
        </p:spPr>
      </p:pic>
      <p:sp>
        <p:nvSpPr>
          <p:cNvPr id="8" name="Text 3"/>
          <p:cNvSpPr txBox="1"/>
          <p:nvPr/>
        </p:nvSpPr>
        <p:spPr>
          <a:xfrm>
            <a:off x="457200" y="2086752"/>
            <a:ext cx="40233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Invalid code: a labelled partial tree with Error nodes, never a fake AST</a:t>
            </a:r>
            <a:endParaRPr lang="en-US" sz="1050" dirty="0"/>
          </a:p>
        </p:txBody>
      </p:sp>
      <p:sp>
        <p:nvSpPr>
          <p:cNvPr id="9" name="Text 4"/>
          <p:cNvSpPr txBox="1"/>
          <p:nvPr/>
        </p:nvSpPr>
        <p:spPr>
          <a:xfrm>
            <a:off x="4754880" y="2900660"/>
            <a:ext cx="40233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Option 1 (+) vs option 2 (−): exactly one changed node, from the compiler's diff</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Explanations and guided repair</a:t>
            </a:r>
            <a:endParaRPr lang="en-US" sz="2800" dirty="0"/>
          </a:p>
        </p:txBody>
      </p:sp>
      <p:sp>
        <p:nvSpPr>
          <p:cNvPr id="4" name="Hints and a checked student fix (actual output) frame"/>
          <p:cNvSpPr/>
          <p:nvPr/>
        </p:nvSpPr>
        <p:spPr>
          <a:xfrm>
            <a:off x="420624" y="1014984"/>
            <a:ext cx="2440732" cy="3502152"/>
          </a:xfrm>
          <a:prstGeom prst="roundRect">
            <a:avLst>
              <a:gd name="adj" fmla="val 2997"/>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Hints and a checked student fix (actual output)" descr="Hints and a checked student fix (actual output)">    </p:cNvPr>
          <p:cNvPicPr>
            <a:picLocks noChangeAspect="1"/>
          </p:cNvPicPr>
          <p:nvPr/>
        </p:nvPicPr>
        <p:blipFill>
          <a:blip r:embed="rId1"/>
          <a:stretch>
            <a:fillRect/>
          </a:stretch>
        </p:blipFill>
        <p:spPr>
          <a:xfrm>
            <a:off x="457200" y="1051560"/>
            <a:ext cx="2367580" cy="3429000"/>
          </a:xfrm>
          <a:prstGeom prst="rect">
            <a:avLst/>
          </a:prstGeom>
        </p:spPr>
      </p:pic>
      <p:sp>
        <p:nvSpPr>
          <p:cNvPr id="6" name="Text 2"/>
          <p:cNvSpPr txBox="1"/>
          <p:nvPr/>
        </p:nvSpPr>
        <p:spPr>
          <a:xfrm>
            <a:off x="457200" y="4544568"/>
            <a:ext cx="320040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the student's own fix, checked</a:t>
            </a:r>
            <a:endParaRPr lang="en-US" sz="1050" dirty="0"/>
          </a:p>
        </p:txBody>
      </p:sp>
      <p:sp>
        <p:nvSpPr>
          <p:cNvPr id="7" name="hint 0"/>
          <p:cNvSpPr/>
          <p:nvPr/>
        </p:nvSpPr>
        <p:spPr>
          <a:xfrm>
            <a:off x="3794760" y="1097280"/>
            <a:ext cx="411480" cy="411480"/>
          </a:xfrm>
          <a:prstGeom prst="ellipse">
            <a:avLst/>
          </a:prstGeom>
          <a:solidFill>
            <a:srgbClr val="0F766E"/>
          </a:solidFill>
          <a:ln w="12700">
            <a:solidFill>
              <a:srgbClr val="0F766E"/>
            </a:solidFill>
            <a:prstDash val="solid"/>
          </a:ln>
        </p:spPr>
      </p:sp>
      <p:sp>
        <p:nvSpPr>
          <p:cNvPr id="8" name="Text 4"/>
          <p:cNvSpPr txBox="1"/>
          <p:nvPr/>
        </p:nvSpPr>
        <p:spPr>
          <a:xfrm>
            <a:off x="3794760" y="1097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4343400" y="1124712"/>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Where: </a:t>
            </a:r>
            <a:pPr indent="0" marL="0">
              <a:buNone/>
            </a:pPr>
            <a:r>
              <a:rPr lang="en-US" sz="1300" dirty="0">
                <a:solidFill>
                  <a:schemeClr val="tx1"/>
                </a:solidFill>
                <a:latin typeface="Calibri" pitchFamily="34" charset="0"/>
                <a:ea typeface="Calibri" pitchFamily="34" charset="-122"/>
                <a:cs typeface="Calibri" pitchFamily="34" charset="-120"/>
              </a:rPr>
              <a:t>the line and token where the parser stopped</a:t>
            </a:r>
            <a:endParaRPr lang="en-US" sz="1300" dirty="0"/>
          </a:p>
        </p:txBody>
      </p:sp>
      <p:sp>
        <p:nvSpPr>
          <p:cNvPr id="10" name="hint 1"/>
          <p:cNvSpPr/>
          <p:nvPr/>
        </p:nvSpPr>
        <p:spPr>
          <a:xfrm>
            <a:off x="3794760" y="1719072"/>
            <a:ext cx="411480" cy="411480"/>
          </a:xfrm>
          <a:prstGeom prst="ellipse">
            <a:avLst/>
          </a:prstGeom>
          <a:solidFill>
            <a:srgbClr val="0F766E"/>
          </a:solidFill>
          <a:ln w="12700">
            <a:solidFill>
              <a:srgbClr val="0F766E"/>
            </a:solidFill>
            <a:prstDash val="solid"/>
          </a:ln>
        </p:spPr>
      </p:sp>
      <p:sp>
        <p:nvSpPr>
          <p:cNvPr id="11" name="Text 7"/>
          <p:cNvSpPr txBox="1"/>
          <p:nvPr/>
        </p:nvSpPr>
        <p:spPr>
          <a:xfrm>
            <a:off x="3794760" y="17190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Text 8"/>
          <p:cNvSpPr txBox="1"/>
          <p:nvPr/>
        </p:nvSpPr>
        <p:spPr>
          <a:xfrm>
            <a:off x="4343400" y="1746504"/>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What is expected: </a:t>
            </a:r>
            <a:pPr indent="0" marL="0">
              <a:buNone/>
            </a:pPr>
            <a:r>
              <a:rPr lang="en-US" sz="1300" dirty="0">
                <a:solidFill>
                  <a:schemeClr val="tx1"/>
                </a:solidFill>
                <a:latin typeface="Calibri" pitchFamily="34" charset="0"/>
                <a:ea typeface="Calibri" pitchFamily="34" charset="-122"/>
                <a:cs typeface="Calibri" pitchFamily="34" charset="-120"/>
              </a:rPr>
              <a:t>the expected tokens, in words</a:t>
            </a:r>
            <a:endParaRPr lang="en-US" sz="1300" dirty="0"/>
          </a:p>
        </p:txBody>
      </p:sp>
      <p:sp>
        <p:nvSpPr>
          <p:cNvPr id="13" name="hint 2"/>
          <p:cNvSpPr/>
          <p:nvPr/>
        </p:nvSpPr>
        <p:spPr>
          <a:xfrm>
            <a:off x="3794760" y="2340864"/>
            <a:ext cx="411480" cy="411480"/>
          </a:xfrm>
          <a:prstGeom prst="ellipse">
            <a:avLst/>
          </a:prstGeom>
          <a:solidFill>
            <a:srgbClr val="0F766E"/>
          </a:solidFill>
          <a:ln w="12700">
            <a:solidFill>
              <a:srgbClr val="0F766E"/>
            </a:solidFill>
            <a:prstDash val="solid"/>
          </a:ln>
        </p:spPr>
      </p:sp>
      <p:sp>
        <p:nvSpPr>
          <p:cNvPr id="14" name="Text 10"/>
          <p:cNvSpPr txBox="1"/>
          <p:nvPr/>
        </p:nvSpPr>
        <p:spPr>
          <a:xfrm>
            <a:off x="3794760" y="23408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1"/>
          <p:cNvSpPr txBox="1"/>
          <p:nvPr/>
        </p:nvSpPr>
        <p:spPr>
          <a:xfrm>
            <a:off x="4343400" y="2368296"/>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Options: </a:t>
            </a:r>
            <a:pPr indent="0" marL="0">
              <a:buNone/>
            </a:pPr>
            <a:r>
              <a:rPr lang="en-US" sz="1300" dirty="0">
                <a:solidFill>
                  <a:schemeClr val="tx1"/>
                </a:solidFill>
                <a:latin typeface="Calibri" pitchFamily="34" charset="0"/>
                <a:ea typeface="Calibri" pitchFamily="34" charset="-122"/>
                <a:cs typeface="Calibri" pitchFamily="34" charset="-120"/>
              </a:rPr>
              <a:t>the fixes the engine verified</a:t>
            </a:r>
            <a:endParaRPr lang="en-US" sz="1300" dirty="0"/>
          </a:p>
        </p:txBody>
      </p:sp>
      <p:sp>
        <p:nvSpPr>
          <p:cNvPr id="16" name="hint 3"/>
          <p:cNvSpPr/>
          <p:nvPr/>
        </p:nvSpPr>
        <p:spPr>
          <a:xfrm>
            <a:off x="3794760" y="2962656"/>
            <a:ext cx="411480" cy="411480"/>
          </a:xfrm>
          <a:prstGeom prst="ellipse">
            <a:avLst/>
          </a:prstGeom>
          <a:solidFill>
            <a:srgbClr val="15803D"/>
          </a:solidFill>
          <a:ln w="12700">
            <a:solidFill>
              <a:srgbClr val="15803D"/>
            </a:solidFill>
            <a:prstDash val="solid"/>
          </a:ln>
        </p:spPr>
      </p:sp>
      <p:sp>
        <p:nvSpPr>
          <p:cNvPr id="17" name="Text 13"/>
          <p:cNvSpPr txBox="1"/>
          <p:nvPr/>
        </p:nvSpPr>
        <p:spPr>
          <a:xfrm>
            <a:off x="3794760" y="29626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18" name="Text 14"/>
          <p:cNvSpPr txBox="1"/>
          <p:nvPr/>
        </p:nvSpPr>
        <p:spPr>
          <a:xfrm>
            <a:off x="4343400" y="2990088"/>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Check my fix: </a:t>
            </a:r>
            <a:pPr indent="0" marL="0">
              <a:buNone/>
            </a:pPr>
            <a:r>
              <a:rPr lang="en-US" sz="1300" dirty="0">
                <a:solidFill>
                  <a:schemeClr val="tx1"/>
                </a:solidFill>
                <a:latin typeface="Calibri" pitchFamily="34" charset="0"/>
                <a:ea typeface="Calibri" pitchFamily="34" charset="-122"/>
                <a:cs typeface="Calibri" pitchFamily="34" charset="-120"/>
              </a:rPr>
              <a:t>the real compiler checks the student's edit</a:t>
            </a:r>
            <a:endParaRPr lang="en-US" sz="1300" dirty="0"/>
          </a:p>
        </p:txBody>
      </p:sp>
      <p:sp>
        <p:nvSpPr>
          <p:cNvPr id="19" name="coverage card"/>
          <p:cNvSpPr/>
          <p:nvPr/>
        </p:nvSpPr>
        <p:spPr>
          <a:xfrm>
            <a:off x="3794760" y="3611880"/>
            <a:ext cx="4892040" cy="822960"/>
          </a:xfrm>
          <a:prstGeom prst="roundRect">
            <a:avLst>
              <a:gd name="adj" fmla="val 11111"/>
            </a:avLst>
          </a:prstGeom>
          <a:solidFill>
            <a:srgbClr val="F1F5F9"/>
          </a:solidFill>
          <a:ln w="12700">
            <a:solidFill>
              <a:srgbClr val="F1F5F9"/>
            </a:solidFill>
            <a:prstDash val="solid"/>
          </a:ln>
        </p:spPr>
      </p:sp>
      <p:sp>
        <p:nvSpPr>
          <p:cNvPr id="20" name="Text 16"/>
          <p:cNvSpPr txBox="1"/>
          <p:nvPr/>
        </p:nvSpPr>
        <p:spPr>
          <a:xfrm>
            <a:off x="3931920" y="3657600"/>
            <a:ext cx="4663440" cy="7315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Every result has its own explanation: valid code, empty input, missing tokens, cascades, ambiguity, missing names, invalid characters, unsupported C, nesting limit, no safe repair. Tested on all 88 professor-style inputs.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Method and verified results</a:t>
            </a:r>
            <a:endParaRPr lang="en-US" sz="2800" dirty="0"/>
          </a:p>
        </p:txBody>
      </p:sp>
      <p:sp>
        <p:nvSpPr>
          <p:cNvPr id="4" name="stat 0"/>
          <p:cNvSpPr/>
          <p:nvPr/>
        </p:nvSpPr>
        <p:spPr>
          <a:xfrm>
            <a:off x="457200" y="1051560"/>
            <a:ext cx="1691640" cy="1261872"/>
          </a:xfrm>
          <a:prstGeom prst="roundRect">
            <a:avLst>
              <a:gd name="adj" fmla="val 7246"/>
            </a:avLst>
          </a:prstGeom>
          <a:solidFill>
            <a:srgbClr val="F1F5F9"/>
          </a:solidFill>
          <a:ln w="12700">
            <a:solidFill>
              <a:srgbClr val="F1F5F9"/>
            </a:solidFill>
            <a:prstDash val="solid"/>
          </a:ln>
        </p:spPr>
      </p:sp>
      <p:sp>
        <p:nvSpPr>
          <p:cNvPr id="5" name="Text 2"/>
          <p:cNvSpPr txBox="1"/>
          <p:nvPr/>
        </p:nvSpPr>
        <p:spPr>
          <a:xfrm>
            <a:off x="566928" y="11430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900</a:t>
            </a:r>
            <a:endParaRPr lang="en-US" sz="2600" dirty="0"/>
          </a:p>
        </p:txBody>
      </p:sp>
      <p:sp>
        <p:nvSpPr>
          <p:cNvPr id="6" name="Text 3"/>
          <p:cNvSpPr txBox="1"/>
          <p:nvPr/>
        </p:nvSpPr>
        <p:spPr>
          <a:xfrm>
            <a:off x="566928" y="17099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seeded synthetic cases, 30 programs</a:t>
            </a:r>
            <a:endParaRPr lang="en-US" sz="1100" dirty="0"/>
          </a:p>
        </p:txBody>
      </p:sp>
      <p:sp>
        <p:nvSpPr>
          <p:cNvPr id="7" name="stat 1"/>
          <p:cNvSpPr/>
          <p:nvPr/>
        </p:nvSpPr>
        <p:spPr>
          <a:xfrm>
            <a:off x="2240280" y="1051560"/>
            <a:ext cx="1691640" cy="1261872"/>
          </a:xfrm>
          <a:prstGeom prst="roundRect">
            <a:avLst>
              <a:gd name="adj" fmla="val 7246"/>
            </a:avLst>
          </a:prstGeom>
          <a:solidFill>
            <a:srgbClr val="F1F5F9"/>
          </a:solidFill>
          <a:ln w="12700">
            <a:solidFill>
              <a:srgbClr val="F1F5F9"/>
            </a:solidFill>
            <a:prstDash val="solid"/>
          </a:ln>
        </p:spPr>
      </p:sp>
      <p:sp>
        <p:nvSpPr>
          <p:cNvPr id="8" name="Text 5"/>
          <p:cNvSpPr txBox="1"/>
          <p:nvPr/>
        </p:nvSpPr>
        <p:spPr>
          <a:xfrm>
            <a:off x="2350008" y="1143000"/>
            <a:ext cx="1508760" cy="54864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360 / 540</a:t>
            </a:r>
            <a:endParaRPr lang="en-US" sz="2000" dirty="0"/>
          </a:p>
        </p:txBody>
      </p:sp>
      <p:sp>
        <p:nvSpPr>
          <p:cNvPr id="9" name="Text 6"/>
          <p:cNvSpPr txBox="1"/>
          <p:nvPr/>
        </p:nvSpPr>
        <p:spPr>
          <a:xfrm>
            <a:off x="2350008" y="17099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dev / held-out test (split by program)</a:t>
            </a:r>
            <a:endParaRPr lang="en-US" sz="1100" dirty="0"/>
          </a:p>
        </p:txBody>
      </p:sp>
      <p:sp>
        <p:nvSpPr>
          <p:cNvPr id="10" name="stat 2"/>
          <p:cNvSpPr/>
          <p:nvPr/>
        </p:nvSpPr>
        <p:spPr>
          <a:xfrm>
            <a:off x="457200" y="2423160"/>
            <a:ext cx="1691640" cy="1261872"/>
          </a:xfrm>
          <a:prstGeom prst="roundRect">
            <a:avLst>
              <a:gd name="adj" fmla="val 7246"/>
            </a:avLst>
          </a:prstGeom>
          <a:solidFill>
            <a:srgbClr val="F1F5F9"/>
          </a:solidFill>
          <a:ln w="12700">
            <a:solidFill>
              <a:srgbClr val="F1F5F9"/>
            </a:solidFill>
            <a:prstDash val="solid"/>
          </a:ln>
        </p:spPr>
      </p:sp>
      <p:sp>
        <p:nvSpPr>
          <p:cNvPr id="11" name="Text 8"/>
          <p:cNvSpPr txBox="1"/>
          <p:nvPr/>
        </p:nvSpPr>
        <p:spPr>
          <a:xfrm>
            <a:off x="566928" y="25146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86.7%</a:t>
            </a:r>
            <a:endParaRPr lang="en-US" sz="2600" dirty="0"/>
          </a:p>
        </p:txBody>
      </p:sp>
      <p:sp>
        <p:nvSpPr>
          <p:cNvPr id="12" name="Text 9"/>
          <p:cNvSpPr txBox="1"/>
          <p:nvPr/>
        </p:nvSpPr>
        <p:spPr>
          <a:xfrm>
            <a:off x="566928" y="30815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first edit at the exact mistake</a:t>
            </a:r>
            <a:endParaRPr lang="en-US" sz="1100" dirty="0"/>
          </a:p>
        </p:txBody>
      </p:sp>
      <p:sp>
        <p:nvSpPr>
          <p:cNvPr id="13" name="stat 3"/>
          <p:cNvSpPr/>
          <p:nvPr/>
        </p:nvSpPr>
        <p:spPr>
          <a:xfrm>
            <a:off x="2240280" y="2423160"/>
            <a:ext cx="1691640" cy="1261872"/>
          </a:xfrm>
          <a:prstGeom prst="roundRect">
            <a:avLst>
              <a:gd name="adj" fmla="val 7246"/>
            </a:avLst>
          </a:prstGeom>
          <a:solidFill>
            <a:srgbClr val="F1F5F9"/>
          </a:solidFill>
          <a:ln w="12700">
            <a:solidFill>
              <a:srgbClr val="F1F5F9"/>
            </a:solidFill>
            <a:prstDash val="solid"/>
          </a:ln>
        </p:spPr>
      </p:sp>
      <p:sp>
        <p:nvSpPr>
          <p:cNvPr id="14" name="Text 11"/>
          <p:cNvSpPr txBox="1"/>
          <p:nvPr/>
        </p:nvSpPr>
        <p:spPr>
          <a:xfrm>
            <a:off x="2350008" y="25146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a:t>
            </a:r>
            <a:endParaRPr lang="en-US" sz="2600" dirty="0"/>
          </a:p>
        </p:txBody>
      </p:sp>
      <p:sp>
        <p:nvSpPr>
          <p:cNvPr id="15" name="Text 12"/>
          <p:cNvSpPr txBox="1"/>
          <p:nvPr/>
        </p:nvSpPr>
        <p:spPr>
          <a:xfrm>
            <a:off x="2350008" y="30815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systems incl. CPCT+ and ablations</a:t>
            </a:r>
            <a:endParaRPr lang="en-US" sz="1100" dirty="0"/>
          </a:p>
        </p:txBody>
      </p:sp>
      <p:sp>
        <p:nvSpPr>
          <p:cNvPr id="16" name="Text 13"/>
          <p:cNvSpPr txBox="1"/>
          <p:nvPr/>
        </p:nvSpPr>
        <p:spPr>
          <a:xfrm>
            <a:off x="457200" y="3840480"/>
            <a:ext cx="3474720" cy="54864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Synthetic mutations, not real student code. Wilson 95% intervals; paired bootstrap.</a:t>
            </a:r>
            <a:endParaRPr lang="en-US" sz="1100" dirty="0"/>
          </a:p>
        </p:txBody>
      </p:sp>
      <p:graphicFrame>
        <p:nvGraphicFramePr>
          <p:cNvPr id="17" name="top-1 chart" descr=""/>
          <p:cNvGraphicFramePr/>
          <p:nvPr/>
        </p:nvGraphicFramePr>
        <p:xfrm>
          <a:off x="4160520" y="1005840"/>
          <a:ext cx="4526280" cy="306324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160520" y="4114800"/>
            <a:ext cx="4526280" cy="4114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+16.3 points vs least-cost, 95% CI [13.1, 19.4] · CPCT+ 47.4–49.1% over three runs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Ablations and negative results</a:t>
            </a:r>
            <a:endParaRPr lang="en-US" sz="2800" dirty="0"/>
          </a:p>
        </p:txBody>
      </p:sp>
      <p:graphicFrame>
        <p:nvGraphicFramePr>
          <p:cNvPr id="13" name="ablation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4617720"/>
                <a:gridCol w="1691640"/>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Measured on the test split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Layout evidence</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71.5% vs 62.6% top-1 without it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15803D"/>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Abstention</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wrong-but-confident 6.1% vs 28.5%; coverage 50.7%; selective acc. 88.0%</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15803D"/>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Risk target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12.0% selective risk vs 10% set on dev</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Missed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AST grouping</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coverage 50.7% vs 48.9%</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Weak</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Stability evidence</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+0.2 points, CI [-0.4, 0.9]</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Not 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Clarification options</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correct repair offered in 153 of 256 abstained cases</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64748B"/>
                          </a:solidFill>
                          <a:latin typeface="Calibri" pitchFamily="34" charset="0"/>
                          <a:ea typeface="Calibri" pitchFamily="34" charset="-122"/>
                          <a:cs typeface="Calibri" pitchFamily="34" charset="-120"/>
                        </a:rPr>
                        <a:t>Simulation only</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150" b="1" dirty="0">
                <a:solidFill>
                  <a:schemeClr val="accent3"/>
                </a:solidFill>
                <a:latin typeface="Calibri" pitchFamily="34" charset="0"/>
                <a:ea typeface="Calibri" pitchFamily="34" charset="-122"/>
                <a:cs typeface="Calibri" pitchFamily="34" charset="-120"/>
              </a:rPr>
              <a:t>Usability and learning effects of the interactive features are not measured yet; a user study is proposed (docs/IntelliFix_Interactive_Features.md).</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Testing, limits and platforms</a:t>
            </a:r>
            <a:endParaRPr lang="en-US" sz="2800" dirty="0"/>
          </a:p>
        </p:txBody>
      </p:sp>
      <p:graphicFrame>
        <p:nvGraphicFramePr>
          <p:cNvPr id="14" name="tests table"/>
          <p:cNvGraphicFramePr>
            <a:graphicFrameLocks noGrp="1"/>
          </p:cNvGraphicFramePr>
          <p:nvPr>
            <p:extLst>
              <p:ext uri="{D42A27DB-BD31-4B8C-83A1-F6EECF244321}">
                <p14:modId xmlns:p14="http://schemas.microsoft.com/office/powerpoint/2010/main" val="1579011935"/>
              </p:ext>
            </p:extLst>
          </p:nvPr>
        </p:nvGraphicFramePr>
        <p:xfrm>
          <a:off x="457200" y="1051560"/>
          <a:ext cx="4206240" cy="914400"/>
        </p:xfrm>
        <a:graphic>
          <a:graphicData uri="http://schemas.openxmlformats.org/drawingml/2006/table">
            <a:tbl>
              <a:tblPr/>
              <a:tblGrid>
                <a:gridCol w="3108960"/>
                <a:gridCol w="10972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layer</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Compiler unit tests (C++)</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68 / 68</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Backend API tests (pytest)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33 / 33</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Evaluation tests (pytest)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161 / 161</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Frontend unit tests (Vitest)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219 / 219</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End-to-end (real browser)</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15 / 15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3520440"/>
            <a:ext cx="4206240" cy="82296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Plus 88 professor-style inputs, 800 seeded random inputs and 7 HTTP sequences: 0 crashes; 2 real defects found and fixed.</a:t>
            </a:r>
            <a:endParaRPr lang="en-US" sz="1150" dirty="0"/>
          </a:p>
        </p:txBody>
      </p:sp>
      <p:sp>
        <p:nvSpPr>
          <p:cNvPr id="6" name="limits card"/>
          <p:cNvSpPr/>
          <p:nvPr/>
        </p:nvSpPr>
        <p:spPr>
          <a:xfrm>
            <a:off x="4937760" y="1051560"/>
            <a:ext cx="3749040" cy="1691640"/>
          </a:xfrm>
          <a:prstGeom prst="roundRect">
            <a:avLst>
              <a:gd name="adj" fmla="val 5405"/>
            </a:avLst>
          </a:prstGeom>
          <a:solidFill>
            <a:srgbClr val="F1F5F9"/>
          </a:solidFill>
          <a:ln w="12700">
            <a:solidFill>
              <a:srgbClr val="F1F5F9"/>
            </a:solidFill>
            <a:prstDash val="solid"/>
          </a:ln>
        </p:spPr>
      </p:sp>
      <p:sp>
        <p:nvSpPr>
          <p:cNvPr id="7" name="Text 3"/>
          <p:cNvSpPr txBox="1"/>
          <p:nvPr/>
        </p:nvSpPr>
        <p:spPr>
          <a:xfrm>
            <a:off x="5074920" y="1115568"/>
            <a:ext cx="347472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Limits</a:t>
            </a:r>
            <a:endParaRPr lang="en-US" sz="1400" dirty="0"/>
          </a:p>
        </p:txBody>
      </p:sp>
      <p:sp>
        <p:nvSpPr>
          <p:cNvPr id="8" name="Text 4"/>
          <p:cNvSpPr txBox="1"/>
          <p:nvPr/>
        </p:nvSpPr>
        <p:spPr>
          <a:xfrm>
            <a:off x="5074920" y="1417320"/>
            <a:ext cx="3520440" cy="12801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synthetic errors; 30 programs by one author</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MiniC subset; syntax only, no types</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valid ≠ intended (e.g. whlie (…) { gets ;)</a:t>
            </a:r>
            <a:endParaRPr lang="en-US" sz="1150" dirty="0"/>
          </a:p>
        </p:txBody>
      </p:sp>
      <p:sp>
        <p:nvSpPr>
          <p:cNvPr id="9" name="platforms card"/>
          <p:cNvSpPr/>
          <p:nvPr/>
        </p:nvSpPr>
        <p:spPr>
          <a:xfrm>
            <a:off x="4937760" y="2880360"/>
            <a:ext cx="3749040" cy="1554480"/>
          </a:xfrm>
          <a:prstGeom prst="roundRect">
            <a:avLst>
              <a:gd name="adj" fmla="val 5882"/>
            </a:avLst>
          </a:prstGeom>
          <a:solidFill>
            <a:srgbClr val="F1F5F9"/>
          </a:solidFill>
          <a:ln w="12700">
            <a:solidFill>
              <a:srgbClr val="F1F5F9"/>
            </a:solidFill>
            <a:prstDash val="solid"/>
          </a:ln>
        </p:spPr>
      </p:sp>
      <p:sp>
        <p:nvSpPr>
          <p:cNvPr id="10" name="Text 6"/>
          <p:cNvSpPr txBox="1"/>
          <p:nvPr/>
        </p:nvSpPr>
        <p:spPr>
          <a:xfrm>
            <a:off x="5074920" y="2944368"/>
            <a:ext cx="347472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Platforms</a:t>
            </a:r>
            <a:endParaRPr lang="en-US" sz="1400" dirty="0"/>
          </a:p>
        </p:txBody>
      </p:sp>
      <p:sp>
        <p:nvSpPr>
          <p:cNvPr id="11" name="Text 7"/>
          <p:cNvSpPr txBox="1"/>
          <p:nvPr/>
        </p:nvSpPr>
        <p:spPr>
          <a:xfrm>
            <a:off x="5074920" y="3246120"/>
            <a:ext cx="3520440" cy="11430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Linux: all layers tested</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Windows: MinGW build passes 68/68 under Wine</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Not run yet: real Windows, MSVC, PowerShell scripts, macOS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Live demo</a:t>
            </a:r>
            <a:endParaRPr lang="en-US" sz="2800" dirty="0"/>
          </a:p>
        </p:txBody>
      </p:sp>
      <p:sp>
        <p:nvSpPr>
          <p:cNvPr id="4" name="Workspace step 4 during the demo (actual output) frame"/>
          <p:cNvSpPr/>
          <p:nvPr/>
        </p:nvSpPr>
        <p:spPr>
          <a:xfrm>
            <a:off x="420624" y="1014984"/>
            <a:ext cx="3153843" cy="3364992"/>
          </a:xfrm>
          <a:prstGeom prst="roundRect">
            <a:avLst>
              <a:gd name="adj" fmla="val 2319"/>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Workspace step 4 during the demo (actual output)" descr="Workspace step 4 during the demo (actual output)">    </p:cNvPr>
          <p:cNvPicPr>
            <a:picLocks noChangeAspect="1"/>
          </p:cNvPicPr>
          <p:nvPr/>
        </p:nvPicPr>
        <p:blipFill>
          <a:blip r:embed="rId1"/>
          <a:stretch>
            <a:fillRect/>
          </a:stretch>
        </p:blipFill>
        <p:spPr>
          <a:xfrm>
            <a:off x="457200" y="1051560"/>
            <a:ext cx="3080691" cy="3291840"/>
          </a:xfrm>
          <a:prstGeom prst="rect">
            <a:avLst/>
          </a:prstGeom>
        </p:spPr>
      </p:pic>
      <p:sp>
        <p:nvSpPr>
          <p:cNvPr id="6" name="Text 2"/>
          <p:cNvSpPr txBox="1"/>
          <p:nvPr/>
        </p:nvSpPr>
        <p:spPr>
          <a:xfrm>
            <a:off x="5715000" y="1097280"/>
            <a:ext cx="2971800" cy="3291840"/>
          </a:xfrm>
          <a:prstGeom prst="rect">
            <a:avLst/>
          </a:prstGeom>
          <a:noFill/>
          <a:ln/>
        </p:spPr>
        <p:txBody>
          <a:bodyPr wrap="square" lIns="0" tIns="0" rIns="0" bIns="0" rtlCol="0" anchor="t"/>
          <a:lstStyle/>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Missing semicolon: Analyze → Diagnosis → Fixes → Apply &amp; verify</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int total = price + ; → answer the question in step 3</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Step 4: partial tree → complete tree</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AST Explorer: click a node or the code</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Hints and Check my fix</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Your own input</a:t>
            </a:r>
            <a:endParaRPr lang="en-US" sz="1300" dirty="0"/>
          </a:p>
        </p:txBody>
      </p:sp>
      <p:sp>
        <p:nvSpPr>
          <p:cNvPr id="7" name="Text 3"/>
          <p:cNvSpPr txBox="1"/>
          <p:nvPr/>
        </p:nvSpPr>
        <p:spPr>
          <a:xfrm>
            <a:off x="5715000" y="3931920"/>
            <a:ext cx="2971800" cy="5486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Check first: the badge says “Compiler 1.0.0”. Never show screenshots as live output.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02920"/>
            <a:ext cx="8046720" cy="6400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Contribution and future work</a:t>
            </a:r>
            <a:endParaRPr lang="en-US" sz="3000" dirty="0"/>
          </a:p>
        </p:txBody>
      </p:sp>
      <p:sp>
        <p:nvSpPr>
          <p:cNvPr id="3" name="Text 1"/>
          <p:cNvSpPr txBox="1"/>
          <p:nvPr/>
        </p:nvSpPr>
        <p:spPr>
          <a:xfrm>
            <a:off x="548640" y="1325880"/>
            <a:ext cx="3931920" cy="32004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What we contribute</a:t>
            </a:r>
            <a:endParaRPr lang="en-US" sz="1500" dirty="0"/>
          </a:p>
        </p:txBody>
      </p:sp>
      <p:sp>
        <p:nvSpPr>
          <p:cNvPr id="4" name="Text 2"/>
          <p:cNvSpPr txBox="1"/>
          <p:nvPr/>
        </p:nvSpPr>
        <p:spPr>
          <a:xfrm>
            <a:off x="548640" y="1691640"/>
            <a:ext cx="393192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An integrated, inspectable repair pipeline on known LR techniques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Evidence ranking, layout, grouping, abstention — each measured</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Questions instead of guesses; hints; an explained AST</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An honest evaluation, including what did not work</a:t>
            </a:r>
            <a:endParaRPr lang="en-US" sz="1300" dirty="0"/>
          </a:p>
        </p:txBody>
      </p:sp>
      <p:sp>
        <p:nvSpPr>
          <p:cNvPr id="5" name="Text 3"/>
          <p:cNvSpPr txBox="1"/>
          <p:nvPr/>
        </p:nvSpPr>
        <p:spPr>
          <a:xfrm>
            <a:off x="4846320" y="1325880"/>
            <a:ext cx="3840480" cy="32004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Next steps</a:t>
            </a:r>
            <a:endParaRPr lang="en-US" sz="1500" dirty="0"/>
          </a:p>
        </p:txBody>
      </p:sp>
      <p:sp>
        <p:nvSpPr>
          <p:cNvPr id="6" name="Text 4"/>
          <p:cNvSpPr txBox="1"/>
          <p:nvPr/>
        </p:nvSpPr>
        <p:spPr>
          <a:xfrm>
            <a:off x="4846320" y="1691640"/>
            <a:ext cx="384048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Study with real, anonymised student errors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User study of the question feature (protocol written)</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Learned and calibrated evidence weights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Native Windows verification (MSVC, MSYS2)</a:t>
            </a:r>
            <a:endParaRPr lang="en-US" sz="1300" dirty="0"/>
          </a:p>
        </p:txBody>
      </p:sp>
      <p:sp>
        <p:nvSpPr>
          <p:cNvPr id="7" name="Text 5"/>
          <p:cNvSpPr txBox="1"/>
          <p:nvPr/>
        </p:nvSpPr>
        <p:spPr>
          <a:xfrm>
            <a:off x="548640" y="4069080"/>
            <a:ext cx="8046720" cy="365760"/>
          </a:xfrm>
          <a:prstGeom prst="rect">
            <a:avLst/>
          </a:prstGeom>
          <a:noFill/>
          <a:ln/>
        </p:spPr>
        <p:txBody>
          <a:bodyPr wrap="square" lIns="0" tIns="0" rIns="0" bIns="0" rtlCol="0" anchor="t"/>
          <a:lstStyle/>
          <a:p>
            <a:pPr indent="0" marL="0">
              <a:buNone/>
            </a:pPr>
            <a:r>
              <a:rPr lang="en-US" sz="1600" dirty="0">
                <a:solidFill>
                  <a:srgbClr val="5EEAD4"/>
                </a:solidFill>
                <a:latin typeface="Cambria" pitchFamily="34" charset="0"/>
                <a:ea typeface="Cambria" pitchFamily="34" charset="-122"/>
                <a:cs typeface="Cambria" pitchFamily="34" charset="-120"/>
              </a:rPr>
              <a:t>Thank you — questions, and please try your own code.</a:t>
            </a:r>
            <a:endParaRPr lang="en-US" sz="1600" dirty="0"/>
          </a:p>
        </p:txBody>
      </p:sp>
      <p:sp>
        <p:nvSpPr>
          <p:cNvPr id="8" name="Text 6"/>
          <p:cNvSpPr txBox="1"/>
          <p:nvPr/>
        </p:nvSpPr>
        <p:spPr>
          <a:xfrm>
            <a:off x="548640" y="4480560"/>
            <a:ext cx="804672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Goutam Jayasingh (24BCE2417)  ·  S Charumeena (24BCI0238)  ·  Raguraman Govindasamy (24BDS0409)</a:t>
            </a:r>
            <a:endParaRPr lang="en-US" sz="1100" dirty="0"/>
          </a:p>
        </p:txBody>
      </p:sp>
      <p:sp>
        <p:nvSpPr>
          <p:cNvPr id="10"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endParaRPr lang="en-US" sz="4800" dirty="0"/>
          </a:p>
        </p:txBody>
      </p:sp>
    </p:spTree>
  </p:cSld>
  <p:clrMapOvr>
    <a:masterClrMapping/>
  </p:clrMapOvr>
</p:sld>
</file>

<file path=ppt/theme/theme1.xml><?xml version="1.0" encoding="utf-8"?>
<a:theme xmlns:a="http://schemas.openxmlformats.org/drawingml/2006/main" name="IntelliFix">
  <a:themeElements>
    <a:clrScheme name="IntelliFix">
      <a:dk1>
        <a:srgbClr val="1E293B"/>
      </a:dk1>
      <a:lt1>
        <a:srgbClr val="FFFFFF"/>
      </a:lt1>
      <a:dk2>
        <a:srgbClr val="334155"/>
      </a:dk2>
      <a:lt2>
        <a:srgbClr val="F1F5F9"/>
      </a:lt2>
      <a:accent1>
        <a:srgbClr val="0F766E"/>
      </a:accent1>
      <a:accent2>
        <a:srgbClr val="4F46E5"/>
      </a:accent2>
      <a:accent3>
        <a:srgbClr val="B45309"/>
      </a:accent3>
      <a:accent4>
        <a:srgbClr val="B91C1C"/>
      </a:accent4>
      <a:accent5>
        <a:srgbClr val="15803D"/>
      </a:accent5>
      <a:accent6>
        <a:srgbClr val="64748B"/>
      </a:accent6>
      <a:hlink>
        <a:srgbClr val="4F46E5"/>
      </a:hlink>
      <a:folHlink>
        <a:srgbClr val="6D28D9"/>
      </a:folHlink>
    </a:clrScheme>
    <a:fontScheme name="IntelliF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IntelliFix: An Intelligent Compiler for Syntax Error Analysis, Detection, and Correction</dc:title>
  <dc:subject>BCSE307P course project presentation</dc:subject>
  <dc:creator>Goutam Jayasingh, S Charumeena, Raguraman Govindasamy</dc:creator>
  <cp:lastModifiedBy>Goutam Jayasingh, S Charumeena, Raguraman Govindasamy</cp:lastModifiedBy>
  <cp:revision>1</cp:revision>
  <dcterms:created xsi:type="dcterms:W3CDTF">2026-10-25T20:15:26Z</dcterms:created>
  <dcterms:modified xsi:type="dcterms:W3CDTF">2026-10-25T20:15:26Z</dcterms:modified>
</cp:coreProperties>
</file>